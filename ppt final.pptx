
<file path=[Content_Types].xml><?xml version="1.0" encoding="utf-8"?>
<Types xmlns="http://schemas.openxmlformats.org/package/2006/content-types">
  <Default Extension="xml" ContentType="application/vnd.openxmlformats-officedocument.presentationml.presentation.main+xml"/>
  <Default Extension="fntdata" ContentType="application/x-fontdata"/>
  <Default Extension="png" ContentType="image/png"/>
  <Default Extension="svg" ContentType="image/svg+xml"/>
  <Default Extension="rels" ContentType="application/vnd.openxmlformats-package.relationships+xml"/>
  <Override PartName="/ppt/notesMasters/notesMaster1.xml" ContentType="application/vnd.openxmlformats-officedocument.presentationml.notesMaster+xml"/>
  <Override PartName="/ppt/notesMasters/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2.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&#65279;<?xml version="1.0" encoding="utf-8"?><Relationships xmlns="http://schemas.openxmlformats.org/package/2006/relationships"><Relationship Type="http://schemas.openxmlformats.org/officeDocument/2006/relationships/officeDocument" Target="/ppt/presentation.xml" Id="Ra735abd5e5a54464" /><Relationship Type="http://schemas.openxmlformats.org/package/2006/relationships/metadata/core-properties" Target="/docProps/core.xml" Id="Rc7c51c02537c4d66" /><Relationship Type="http://schemas.openxmlformats.org/officeDocument/2006/relationships/extended-properties" Target="/docProps/app.xml" Id="R780afffd6fb648d4"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915da673bde94bd8"/>
  </p:sldMasterIdLst>
  <p:notesMasterIdLst>
    <p:notesMasterId r:id="R96c88c0350164ae9"/>
  </p:notesMasterIdLst>
  <p:sldIdLst>
    <p:sldId id="256" r:id="R0e5ec6b1bc2a4ffa"/>
    <p:sldId id="257" r:id="Rc51288d332794662"/>
    <p:sldId id="258" r:id="Ra3bac4b219414dd5"/>
    <p:sldId id="259" r:id="R6991918bbdbe4c21"/>
    <p:sldId id="260" r:id="Rc55f9e478db343a1"/>
    <p:sldId id="261" r:id="R8027bdb143114304"/>
    <p:sldId id="262" r:id="Rd1c978c6fb7546bb"/>
    <p:sldId id="263" r:id="R8a9364618aba43fc"/>
    <p:sldId id="264" r:id="R6c9703ad0a7a4af0"/>
    <p:sldId id="265" r:id="R890644893ff84ca5"/>
    <p:sldId id="266" r:id="R0dc03177c716442e"/>
    <p:sldId id="267" r:id="R7e3ad286f5e14020"/>
    <p:sldId id="268" r:id="R804f8e5463704db9"/>
    <p:sldId id="269" r:id="R170b05594b88403e"/>
    <p:sldId id="270" r:id="R48120995636445c3"/>
    <p:sldId id="271" r:id="Rfab15a76681a41ec"/>
    <p:sldId id="272" r:id="R1edc34529de9455b"/>
    <p:sldId id="273" r:id="R6f8dd29384294c4f"/>
    <p:sldId id="274" r:id="R127fa67107214cf2"/>
  </p:sldIdLst>
  <p:sldSz cx="14630400" cy="8229600"/>
  <p:notesSz cx="8229600" cy="14630400"/>
  <p:embeddedFontLst>
    <p:embeddedFont>
      <p:font typeface="Petrona"/>
      <p:regular r:id="rcId93a775c479df46ce"/>
    </p:embeddedFont>
    <p:embeddedFont>
      <p:font typeface="Petrona"/>
      <p:regular r:id="rcId3f9559dc68bb4882"/>
    </p:embeddedFont>
    <p:embeddedFont>
      <p:font typeface="Petrona"/>
      <p:regular r:id="rcId76cd6ab94a21488d"/>
    </p:embeddedFont>
    <p:embeddedFont>
      <p:font typeface="Petrona"/>
      <p:regular r:id="rcId1ac57379848e48dc"/>
    </p:embeddedFont>
    <p:embeddedFont>
      <p:font typeface="Inter"/>
      <p:regular r:id="rcId34ad9656c65e4fad"/>
    </p:embeddedFont>
    <p:embeddedFont>
      <p:font typeface="Inter"/>
      <p:regular r:id="rcId310a2ca4c37d44b3"/>
    </p:embeddedFont>
    <p:embeddedFont>
      <p:font typeface="Inter"/>
      <p:regular r:id="rcId7561cc31df694ab4"/>
    </p:embeddedFont>
    <p:embeddedFont>
      <p:font typeface="Inter"/>
      <p:regular r:id="rcId85cd8b69a0c24062"/>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font" Target="/ppt/fonts/font.fntdata" Id="rcId93a775c479df46ce" /><Relationship Type="http://schemas.openxmlformats.org/officeDocument/2006/relationships/font" Target="/ppt/fonts/font2.fntdata" Id="rcId3f9559dc68bb4882" /><Relationship Type="http://schemas.openxmlformats.org/officeDocument/2006/relationships/font" Target="/ppt/fonts/font3.fntdata" Id="rcId76cd6ab94a21488d" /><Relationship Type="http://schemas.openxmlformats.org/officeDocument/2006/relationships/font" Target="/ppt/fonts/font4.fntdata" Id="rcId1ac57379848e48dc" /><Relationship Type="http://schemas.openxmlformats.org/officeDocument/2006/relationships/font" Target="/ppt/fonts/font5.fntdata" Id="rcId34ad9656c65e4fad" /><Relationship Type="http://schemas.openxmlformats.org/officeDocument/2006/relationships/font" Target="/ppt/fonts/font6.fntdata" Id="rcId310a2ca4c37d44b3" /><Relationship Type="http://schemas.openxmlformats.org/officeDocument/2006/relationships/font" Target="/ppt/fonts/font7.fntdata" Id="rcId7561cc31df694ab4" /><Relationship Type="http://schemas.openxmlformats.org/officeDocument/2006/relationships/font" Target="/ppt/fonts/font8.fntdata" Id="rcId85cd8b69a0c24062" /><Relationship Type="http://schemas.openxmlformats.org/officeDocument/2006/relationships/notesMaster" Target="/ppt/notesMasters/notesMaster1.xml" Id="R96c88c0350164ae9" /><Relationship Type="http://schemas.openxmlformats.org/officeDocument/2006/relationships/presProps" Target="/ppt/presProps.xml" Id="Re3bcd4b229fa41ca" /><Relationship Type="http://schemas.openxmlformats.org/officeDocument/2006/relationships/viewProps" Target="/ppt/viewProps.xml" Id="R0b62b672ee504af9" /><Relationship Type="http://schemas.openxmlformats.org/officeDocument/2006/relationships/slideMaster" Target="/ppt/slideMasters/slideMaster1.xml" Id="R915da673bde94bd8" /><Relationship Type="http://schemas.openxmlformats.org/officeDocument/2006/relationships/theme" Target="/ppt/slideMasters/theme/theme2.xml" Id="R7a7af9154e1a49ad" /><Relationship Type="http://schemas.openxmlformats.org/officeDocument/2006/relationships/slide" Target="/ppt/slides/slide1.xml" Id="R0e5ec6b1bc2a4ffa" /><Relationship Type="http://schemas.openxmlformats.org/officeDocument/2006/relationships/slide" Target="/ppt/slides/slide2.xml" Id="Rc51288d332794662" /><Relationship Type="http://schemas.openxmlformats.org/officeDocument/2006/relationships/slide" Target="/ppt/slides/slide3.xml" Id="Ra3bac4b219414dd5" /><Relationship Type="http://schemas.openxmlformats.org/officeDocument/2006/relationships/slide" Target="/ppt/slides/slide4.xml" Id="R6991918bbdbe4c21" /><Relationship Type="http://schemas.openxmlformats.org/officeDocument/2006/relationships/slide" Target="/ppt/slides/slide5.xml" Id="Rc55f9e478db343a1" /><Relationship Type="http://schemas.openxmlformats.org/officeDocument/2006/relationships/slide" Target="/ppt/slides/slide6.xml" Id="R8027bdb143114304" /><Relationship Type="http://schemas.openxmlformats.org/officeDocument/2006/relationships/slide" Target="/ppt/slides/slide7.xml" Id="Rd1c978c6fb7546bb" /><Relationship Type="http://schemas.openxmlformats.org/officeDocument/2006/relationships/slide" Target="/ppt/slides/slide8.xml" Id="R8a9364618aba43fc" /><Relationship Type="http://schemas.openxmlformats.org/officeDocument/2006/relationships/slide" Target="/ppt/slides/slide9.xml" Id="R6c9703ad0a7a4af0" /><Relationship Type="http://schemas.openxmlformats.org/officeDocument/2006/relationships/slide" Target="/ppt/slides/slide10.xml" Id="R890644893ff84ca5" /><Relationship Type="http://schemas.openxmlformats.org/officeDocument/2006/relationships/slide" Target="/ppt/slides/slide11.xml" Id="R0dc03177c716442e" /><Relationship Type="http://schemas.openxmlformats.org/officeDocument/2006/relationships/slide" Target="/ppt/slides/slide12.xml" Id="R7e3ad286f5e14020" /><Relationship Type="http://schemas.openxmlformats.org/officeDocument/2006/relationships/slide" Target="/ppt/slides/slide13.xml" Id="R804f8e5463704db9" /><Relationship Type="http://schemas.openxmlformats.org/officeDocument/2006/relationships/slide" Target="/ppt/slides/slide14.xml" Id="R170b05594b88403e" /><Relationship Type="http://schemas.openxmlformats.org/officeDocument/2006/relationships/slide" Target="/ppt/slides/slide15.xml" Id="R48120995636445c3" /><Relationship Type="http://schemas.openxmlformats.org/officeDocument/2006/relationships/slide" Target="/ppt/slides/slide16.xml" Id="Rfab15a76681a41ec" /><Relationship Type="http://schemas.openxmlformats.org/officeDocument/2006/relationships/slide" Target="/ppt/slides/slide17.xml" Id="R1edc34529de9455b" /><Relationship Type="http://schemas.openxmlformats.org/officeDocument/2006/relationships/slide" Target="/ppt/slides/slide18.xml" Id="R6f8dd29384294c4f" /><Relationship Type="http://schemas.openxmlformats.org/officeDocument/2006/relationships/slide" Target="/ppt/slides/slide19.xml" Id="R127fa67107214cf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1.xml" Id="R93273e0aa6b34ada"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Masters/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notesSlides/_rels/notesSlide1.xml.rels>&#65279;<?xml version="1.0" encoding="utf-8"?><Relationships xmlns="http://schemas.openxmlformats.org/package/2006/relationships"><Relationship Type="http://schemas.openxmlformats.org/officeDocument/2006/relationships/slide" Target="/ppt/slides/slide1.xml" Id="R2b8fbcef066f4221" /><Relationship Type="http://schemas.openxmlformats.org/officeDocument/2006/relationships/notesMaster" Target="/ppt/notesMasters/notesMaster1.xml" Id="R93b2201e418c4dd2" /></Relationships>
</file>

<file path=ppt/notesSlides/_rels/notesSlide2.xml.rels>&#65279;<?xml version="1.0" encoding="utf-8"?><Relationships xmlns="http://schemas.openxmlformats.org/package/2006/relationships"><Relationship Type="http://schemas.openxmlformats.org/officeDocument/2006/relationships/slide" Target="/ppt/slides/slide2.xml" Id="R4140770f2e1340c1" /><Relationship Type="http://schemas.openxmlformats.org/officeDocument/2006/relationships/notesMaster" Target="/ppt/notesMasters/notesMaster1.xml" Id="R1109d1aa95824507" /></Relationships>
</file>

<file path=ppt/notesSlides/_rels/notesSlide3.xml.rels>&#65279;<?xml version="1.0" encoding="utf-8"?><Relationships xmlns="http://schemas.openxmlformats.org/package/2006/relationships"><Relationship Type="http://schemas.openxmlformats.org/officeDocument/2006/relationships/slide" Target="/ppt/slides/slide3.xml" Id="R4e3665515eb14ee4" /><Relationship Type="http://schemas.openxmlformats.org/officeDocument/2006/relationships/notesMaster" Target="/ppt/notesMasters/notesMaster1.xml" Id="Rad45cb5166be449d" /></Relationships>
</file>

<file path=ppt/notesSlides/_rels/notesSlide4.xml.rels>&#65279;<?xml version="1.0" encoding="utf-8"?><Relationships xmlns="http://schemas.openxmlformats.org/package/2006/relationships"><Relationship Type="http://schemas.openxmlformats.org/officeDocument/2006/relationships/slide" Target="/ppt/slides/slide4.xml" Id="R55b600da1d6a4376" /><Relationship Type="http://schemas.openxmlformats.org/officeDocument/2006/relationships/notesMaster" Target="/ppt/notesMasters/notesMaster1.xml" Id="R38016c7a5a064fff" /></Relationships>
</file>

<file path=ppt/notesSlides/_rels/notesSlide5.xml.rels>&#65279;<?xml version="1.0" encoding="utf-8"?><Relationships xmlns="http://schemas.openxmlformats.org/package/2006/relationships"><Relationship Type="http://schemas.openxmlformats.org/officeDocument/2006/relationships/slide" Target="/ppt/slides/slide5.xml" Id="Rac837974504740e2" /><Relationship Type="http://schemas.openxmlformats.org/officeDocument/2006/relationships/notesMaster" Target="/ppt/notesMasters/notesMaster1.xml" Id="R85bb51f5a2284b18" /></Relationships>
</file>

<file path=ppt/notesSlides/_rels/notesSlide6.xml.rels>&#65279;<?xml version="1.0" encoding="utf-8"?><Relationships xmlns="http://schemas.openxmlformats.org/package/2006/relationships"><Relationship Type="http://schemas.openxmlformats.org/officeDocument/2006/relationships/slide" Target="/ppt/slides/slide6.xml" Id="Re77176dcf07f4176" /><Relationship Type="http://schemas.openxmlformats.org/officeDocument/2006/relationships/notesMaster" Target="/ppt/notesMasters/notesMaster1.xml" Id="R185758167b3a4f03" /></Relationships>
</file>

<file path=ppt/notesSlides/_rels/notesSlide7.xml.rels>&#65279;<?xml version="1.0" encoding="utf-8"?><Relationships xmlns="http://schemas.openxmlformats.org/package/2006/relationships"><Relationship Type="http://schemas.openxmlformats.org/officeDocument/2006/relationships/slide" Target="/ppt/slides/slide7.xml" Id="Rcf30c7ef466244da" /><Relationship Type="http://schemas.openxmlformats.org/officeDocument/2006/relationships/notesMaster" Target="/ppt/notesMasters/notesMaster1.xml" Id="R3fc349e516a14d7b" /></Relationships>
</file>

<file path=ppt/notesSlides/_rels/notesSlide8.xml.rels>&#65279;<?xml version="1.0" encoding="utf-8"?><Relationships xmlns="http://schemas.openxmlformats.org/package/2006/relationships"><Relationship Type="http://schemas.openxmlformats.org/officeDocument/2006/relationships/slide" Target="/ppt/slides/slide8.xml" Id="R583ab4360d6f4397" /><Relationship Type="http://schemas.openxmlformats.org/officeDocument/2006/relationships/notesMaster" Target="/ppt/notesMasters/notesMaster1.xml" Id="R482844f0944a4ddf" /></Relationships>
</file>

<file path=ppt/notesSlides/_rels/notesSlide9.xml.rels>&#65279;<?xml version="1.0" encoding="utf-8"?><Relationships xmlns="http://schemas.openxmlformats.org/package/2006/relationships"><Relationship Type="http://schemas.openxmlformats.org/officeDocument/2006/relationships/slide" Target="/ppt/slides/slide9.xml" Id="Ra00e191e32a241b8" /><Relationship Type="http://schemas.openxmlformats.org/officeDocument/2006/relationships/notesMaster" Target="/ppt/notesMasters/notesMaster1.xml" Id="Ref5ad9aeea684f3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63a26a356414d61" /><Relationship Type="http://schemas.openxmlformats.org/officeDocument/2006/relationships/notesMaster" Target="/ppt/notesMasters/notesMaster1.xml" Id="Ra2a8227a918e4a8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0f091ad2494441a" /><Relationship Type="http://schemas.openxmlformats.org/officeDocument/2006/relationships/notesMaster" Target="/ppt/notesMasters/notesMaster1.xml" Id="R1a27a68c6d71497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7032ae1f0e44268" /><Relationship Type="http://schemas.openxmlformats.org/officeDocument/2006/relationships/notesMaster" Target="/ppt/notesMasters/notesMaster1.xml" Id="R537ddff5c94b493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551f78402c54985" /><Relationship Type="http://schemas.openxmlformats.org/officeDocument/2006/relationships/notesMaster" Target="/ppt/notesMasters/notesMaster1.xml" Id="Rdb6bb2617182401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19b1fb84efc4789" /><Relationship Type="http://schemas.openxmlformats.org/officeDocument/2006/relationships/notesMaster" Target="/ppt/notesMasters/notesMaster1.xml" Id="R9409bd93b60a460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0a9957d21ed4e1d" /><Relationship Type="http://schemas.openxmlformats.org/officeDocument/2006/relationships/notesMaster" Target="/ppt/notesMasters/notesMaster1.xml" Id="R376b80113f1a451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a6b83c09da2413d" /><Relationship Type="http://schemas.openxmlformats.org/officeDocument/2006/relationships/notesMaster" Target="/ppt/notesMasters/notesMaster1.xml" Id="R82aa9256279441a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ecda4e8f2c94c18" /><Relationship Type="http://schemas.openxmlformats.org/officeDocument/2006/relationships/notesMaster" Target="/ppt/notesMasters/notesMaster1.xml" Id="Re9162433784f464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9436d644e65459d" /><Relationship Type="http://schemas.openxmlformats.org/officeDocument/2006/relationships/notesMaster" Target="/ppt/notesMasters/notesMaster1.xml" Id="Rabe354e67a36458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78e85eafbde4d4d" /><Relationship Type="http://schemas.openxmlformats.org/officeDocument/2006/relationships/notesMaster" Target="/ppt/notesMasters/notesMaster1.xml" Id="R19a15af1087f42e0"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takeaway from this slide is that the Deep Hedging neural network approach reduces the overall P&amp;L variance and minimizes downside tail risk compared to other hedging methods.
The narrower P&amp;L distribution indicates the Deep Hedging model is able to control risk more effectively, generating a more consistent and predictable P&amp;L.
The reduction in large negative P&amp;L events shows the model is successful at avoiding high-cost, high-variance trades that can lead to significant losses.
This cost-aware risk control aligns with the goals of effective hedging, providing superior risk management compared to traditional approaches.
The callout box emphasizes that the Deep Hedging policy actively learns to avoid these high-risk, high-cost trades, further enhancing its risk control capabilities.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5f704bde8784875" /><Relationship Type="http://schemas.openxmlformats.org/officeDocument/2006/relationships/image" Target="/ppt/media/image.png" Id="R4a9ec6d9759f4118" /><Relationship Type="http://schemas.openxmlformats.org/officeDocument/2006/relationships/hyperlink" Target="https://gamma.app/?utm_source=made-with-gamma" TargetMode="External" Id="rcId873ca5f2eac44c10" /></Relationships>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pic>
        <p:nvPicPr>
          <p:cNvPr id="4" name="Image 0" descr="preencoded.png">
            <a:hlinkClick r:id="rcId873ca5f2eac44c10" tooltip=""/>
          </p:cNvPr>
          <p:cNvPicPr>
            <a:picLocks noChangeAspect="1"/>
          </p:cNvPicPr>
          <p:nvPr/>
        </p:nvPicPr>
        <p:blipFill>
          <a:blip r:embed="R4a9ec6d9759f4118"/>
          <a:stretch>
            <a:fillRect/>
          </a:stretch>
        </p:blipFill>
        <p:spPr>
          <a:xfrm>
            <a:off x="12839215" y="7749540"/>
            <a:ext cx="1722605" cy="411480"/>
          </a:xfrm>
          <a:prstGeom prst="rect">
            <a:avLst/>
          </a:prstGeom>
        </p:spPr>
      </p:pic>
    </p:spTree>
  </p:cSld>
  <p:clrMapOvr>
    <a:masterClrMapping/>
  </p:clrMapOvr>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0a7c0f4e7b44dce" /><Relationship Type="http://schemas.openxmlformats.org/officeDocument/2006/relationships/slideLayout" Target="/ppt/slideLayouts/slideLayout2.xml" Id="R04b8fbbf17fd4d9c" /></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0" r:id="R04b8fbbf17fd4d9c"/>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slides/_rels/slide1.xml.rels>&#65279;<?xml version="1.0" encoding="utf-8"?><Relationships xmlns="http://schemas.openxmlformats.org/package/2006/relationships"><Relationship Type="http://schemas.openxmlformats.org/officeDocument/2006/relationships/image" Target="/ppt/media/image2.png" Id="R09d20664c4854b6e" /><Relationship Type="http://schemas.openxmlformats.org/officeDocument/2006/relationships/image" Target="/ppt/media/image3.png" Id="Ra9c2cc77bf1e44f1" /><Relationship Type="http://schemas.openxmlformats.org/officeDocument/2006/relationships/image" Target="/ppt/media/image.svg" Id="Rea56fe1f2ebc44c2" /><Relationship Type="http://schemas.openxmlformats.org/officeDocument/2006/relationships/image" Target="/ppt/media/image2.svg" Id="Rffff17fa02e14ab1" /><Relationship Type="http://schemas.openxmlformats.org/officeDocument/2006/relationships/image" Target="/ppt/media/image3.svg" Id="R1e7649ab415c4e3b" /><Relationship Type="http://schemas.openxmlformats.org/officeDocument/2006/relationships/notesSlide" Target="/ppt/notesSlides/notesSlide1.xml" Id="Ra33663b5123247fa" /><Relationship Type="http://schemas.openxmlformats.org/officeDocument/2006/relationships/slideLayout" Target="/ppt/slideLayouts/slideLayout2.xml" Id="R8789e50a1c4c4736" /></Relationships>
</file>

<file path=ppt/slides/_rels/slide2.xml.rels>&#65279;<?xml version="1.0" encoding="utf-8"?><Relationships xmlns="http://schemas.openxmlformats.org/package/2006/relationships"><Relationship Type="http://schemas.openxmlformats.org/officeDocument/2006/relationships/image" Target="/ppt/media/image4.png" Id="R2afc74ad3e0b4fed" /><Relationship Type="http://schemas.openxmlformats.org/officeDocument/2006/relationships/notesSlide" Target="/ppt/notesSlides/notesSlide2.xml" Id="Rb61b75cc9b524182" /><Relationship Type="http://schemas.openxmlformats.org/officeDocument/2006/relationships/slideLayout" Target="/ppt/slideLayouts/slideLayout2.xml" Id="R14866ed6b35d4018" /></Relationships>
</file>

<file path=ppt/slides/_rels/slide3.xml.rels>&#65279;<?xml version="1.0" encoding="utf-8"?><Relationships xmlns="http://schemas.openxmlformats.org/package/2006/relationships"><Relationship Type="http://schemas.openxmlformats.org/officeDocument/2006/relationships/image" Target="/ppt/media/image3.png" Id="R6cbe845dfc44400c" /><Relationship Type="http://schemas.openxmlformats.org/officeDocument/2006/relationships/image" Target="/ppt/media/image4.svg" Id="R0fcbcf0710964862" /><Relationship Type="http://schemas.openxmlformats.org/officeDocument/2006/relationships/image" Target="/ppt/media/image5.png" Id="R0aca9bb116d145ff" /><Relationship Type="http://schemas.openxmlformats.org/officeDocument/2006/relationships/notesSlide" Target="/ppt/notesSlides/notesSlide3.xml" Id="Rcf171aae316e455d" /><Relationship Type="http://schemas.openxmlformats.org/officeDocument/2006/relationships/slideLayout" Target="/ppt/slideLayouts/slideLayout2.xml" Id="R4aea19585bfe49c1" /></Relationships>
</file>

<file path=ppt/slides/_rels/slide4.xml.rels>&#65279;<?xml version="1.0" encoding="utf-8"?><Relationships xmlns="http://schemas.openxmlformats.org/package/2006/relationships"><Relationship Type="http://schemas.openxmlformats.org/officeDocument/2006/relationships/image" Target="/ppt/media/image3.png" Id="R91309cc6552346c0" /><Relationship Type="http://schemas.openxmlformats.org/officeDocument/2006/relationships/image" Target="/ppt/media/image5.svg" Id="R0ba45a4f414540b8" /><Relationship Type="http://schemas.openxmlformats.org/officeDocument/2006/relationships/image" Target="/ppt/media/image6.svg" Id="R43b3601c8e98402c" /><Relationship Type="http://schemas.openxmlformats.org/officeDocument/2006/relationships/image" Target="/ppt/media/image7.svg" Id="Rc97199f7565b47f1" /><Relationship Type="http://schemas.openxmlformats.org/officeDocument/2006/relationships/image" Target="/ppt/media/image8.svg" Id="R0f317e3d58cf45f1" /><Relationship Type="http://schemas.openxmlformats.org/officeDocument/2006/relationships/image" Target="/ppt/media/image6.png" Id="R5998bf01fe1140db" /><Relationship Type="http://schemas.openxmlformats.org/officeDocument/2006/relationships/notesSlide" Target="/ppt/notesSlides/notesSlide4.xml" Id="R37f5fdbc063a4e9a" /><Relationship Type="http://schemas.openxmlformats.org/officeDocument/2006/relationships/slideLayout" Target="/ppt/slideLayouts/slideLayout2.xml" Id="R7443c2235acb41ee" /></Relationships>
</file>

<file path=ppt/slides/_rels/slide5.xml.rels>&#65279;<?xml version="1.0" encoding="utf-8"?><Relationships xmlns="http://schemas.openxmlformats.org/package/2006/relationships"><Relationship Type="http://schemas.openxmlformats.org/officeDocument/2006/relationships/image" Target="/ppt/media/image7.png" Id="R0646dd3553e64e3f" /><Relationship Type="http://schemas.openxmlformats.org/officeDocument/2006/relationships/image" Target="/ppt/media/image3.png" Id="Rd9d896077c32412c" /><Relationship Type="http://schemas.openxmlformats.org/officeDocument/2006/relationships/image" Target="/ppt/media/image9.svg" Id="Rb796364e5f06459e" /><Relationship Type="http://schemas.openxmlformats.org/officeDocument/2006/relationships/image" Target="/ppt/media/image10.svg" Id="R25cd0240f2ee4441" /><Relationship Type="http://schemas.openxmlformats.org/officeDocument/2006/relationships/image" Target="/ppt/media/image11.svg" Id="R810fa87015bf4b1e" /><Relationship Type="http://schemas.openxmlformats.org/officeDocument/2006/relationships/image" Target="/ppt/media/image12.svg" Id="R84605d8f5ded4f45" /><Relationship Type="http://schemas.openxmlformats.org/officeDocument/2006/relationships/notesSlide" Target="/ppt/notesSlides/notesSlide5.xml" Id="R8a37f4142f304c2d" /><Relationship Type="http://schemas.openxmlformats.org/officeDocument/2006/relationships/slideLayout" Target="/ppt/slideLayouts/slideLayout2.xml" Id="Rc8fb0d9a26964993" /></Relationships>
</file>

<file path=ppt/slides/_rels/slide6.xml.rels>&#65279;<?xml version="1.0" encoding="utf-8"?><Relationships xmlns="http://schemas.openxmlformats.org/package/2006/relationships"><Relationship Type="http://schemas.openxmlformats.org/officeDocument/2006/relationships/image" Target="/ppt/media/image8.png" Id="R75e00fd4c9a64de7" /><Relationship Type="http://schemas.openxmlformats.org/officeDocument/2006/relationships/image" Target="/ppt/media/image9.png" Id="R64b0e6176af3412c" /><Relationship Type="http://schemas.openxmlformats.org/officeDocument/2006/relationships/image" Target="/ppt/media/image10.png" Id="Raf1e2e15a53e4dab" /><Relationship Type="http://schemas.openxmlformats.org/officeDocument/2006/relationships/image" Target="/ppt/media/image11.png" Id="R37bc97e9063647dd" /><Relationship Type="http://schemas.openxmlformats.org/officeDocument/2006/relationships/notesSlide" Target="/ppt/notesSlides/notesSlide6.xml" Id="Rae8279575caf406e" /><Relationship Type="http://schemas.openxmlformats.org/officeDocument/2006/relationships/slideLayout" Target="/ppt/slideLayouts/slideLayout2.xml" Id="R0e0f0533aa81461c" /></Relationships>
</file>

<file path=ppt/slides/_rels/slide7.xml.rels>&#65279;<?xml version="1.0" encoding="utf-8"?><Relationships xmlns="http://schemas.openxmlformats.org/package/2006/relationships"><Relationship Type="http://schemas.openxmlformats.org/officeDocument/2006/relationships/image" Target="/ppt/media/image12.png" Id="R21ef5bf6a4944404" /><Relationship Type="http://schemas.openxmlformats.org/officeDocument/2006/relationships/image" Target="/ppt/media/image13.png" Id="Rcf768dde673148be" /><Relationship Type="http://schemas.openxmlformats.org/officeDocument/2006/relationships/notesSlide" Target="/ppt/notesSlides/notesSlide7.xml" Id="R6b46cf90ad9e49fc" /><Relationship Type="http://schemas.openxmlformats.org/officeDocument/2006/relationships/slideLayout" Target="/ppt/slideLayouts/slideLayout2.xml" Id="Ra47633b4918c4d06" /></Relationships>
</file>

<file path=ppt/slides/_rels/slide8.xml.rels>&#65279;<?xml version="1.0" encoding="utf-8"?><Relationships xmlns="http://schemas.openxmlformats.org/package/2006/relationships"><Relationship Type="http://schemas.openxmlformats.org/officeDocument/2006/relationships/image" Target="/ppt/media/image3.png" Id="Rc00ae31370624d74" /><Relationship Type="http://schemas.openxmlformats.org/officeDocument/2006/relationships/image" Target="/ppt/media/image13.svg" Id="R982936e37b3d4c0f" /><Relationship Type="http://schemas.openxmlformats.org/officeDocument/2006/relationships/image" Target="/ppt/media/image14.svg" Id="R4997518eff554a52" /><Relationship Type="http://schemas.openxmlformats.org/officeDocument/2006/relationships/image" Target="/ppt/media/image14.png" Id="R9f1ec67b497c4c1a" /><Relationship Type="http://schemas.openxmlformats.org/officeDocument/2006/relationships/image" Target="/ppt/media/image15.svg" Id="R22229cdac62a48b7" /><Relationship Type="http://schemas.openxmlformats.org/officeDocument/2006/relationships/image" Target="/ppt/media/image16.svg" Id="Rb6887fbf5a4a4b30" /><Relationship Type="http://schemas.openxmlformats.org/officeDocument/2006/relationships/notesSlide" Target="/ppt/notesSlides/notesSlide8.xml" Id="R63b8ace4a304443d" /><Relationship Type="http://schemas.openxmlformats.org/officeDocument/2006/relationships/slideLayout" Target="/ppt/slideLayouts/slideLayout2.xml" Id="Rafaa5aa160ef42b2" /></Relationships>
</file>

<file path=ppt/slides/_rels/slide9.xml.rels>&#65279;<?xml version="1.0" encoding="utf-8"?><Relationships xmlns="http://schemas.openxmlformats.org/package/2006/relationships"><Relationship Type="http://schemas.openxmlformats.org/officeDocument/2006/relationships/image" Target="/ppt/media/image15.png" Id="R60008db234064891" /><Relationship Type="http://schemas.openxmlformats.org/officeDocument/2006/relationships/image" Target="/ppt/media/image16.png" Id="R998d62753fe840a5" /><Relationship Type="http://schemas.openxmlformats.org/officeDocument/2006/relationships/image" Target="/ppt/media/image17.png" Id="R01a1b565efa847f8" /><Relationship Type="http://schemas.openxmlformats.org/officeDocument/2006/relationships/image" Target="/ppt/media/image18.png" Id="R8aa812840a9142e0" /><Relationship Type="http://schemas.openxmlformats.org/officeDocument/2006/relationships/notesSlide" Target="/ppt/notesSlides/notesSlide9.xml" Id="R7f97ebe8de404108" /><Relationship Type="http://schemas.openxmlformats.org/officeDocument/2006/relationships/slideLayout" Target="/ppt/slideLayouts/slideLayout2.xml" Id="R289ee2b77b8845b6" /></Relationships>
</file>

<file path=ppt/slides/_rels/slide10.xml.rels>&#65279;<?xml version="1.0" encoding="utf-8"?><Relationships xmlns="http://schemas.openxmlformats.org/package/2006/relationships"><Relationship Type="http://schemas.openxmlformats.org/officeDocument/2006/relationships/image" Target="/ppt/media/image19.png" Id="R0775298c5bf94270" /><Relationship Type="http://schemas.openxmlformats.org/officeDocument/2006/relationships/notesSlide" Target="/ppt/notesSlides/notesSlide10.xml" Id="R7db2afc127164300" /><Relationship Type="http://schemas.openxmlformats.org/officeDocument/2006/relationships/slideLayout" Target="/ppt/slideLayouts/slideLayout2.xml" Id="Re732d34cb5f24121" /></Relationships>
</file>

<file path=ppt/slides/_rels/slide11.xml.rels>&#65279;<?xml version="1.0" encoding="utf-8"?><Relationships xmlns="http://schemas.openxmlformats.org/package/2006/relationships"><Relationship Type="http://schemas.openxmlformats.org/officeDocument/2006/relationships/image" Target="/ppt/media/image3.png" Id="R94aec72d8d6145f0" /><Relationship Type="http://schemas.openxmlformats.org/officeDocument/2006/relationships/image" Target="/ppt/media/image4.svg" Id="R424af88bd5c84877" /><Relationship Type="http://schemas.openxmlformats.org/officeDocument/2006/relationships/image" Target="/ppt/media/image20.png" Id="Raab9e09b572f456f" /><Relationship Type="http://schemas.openxmlformats.org/officeDocument/2006/relationships/notesSlide" Target="/ppt/notesSlides/notesSlide11.xml" Id="Rf9753549be0d4eba" /><Relationship Type="http://schemas.openxmlformats.org/officeDocument/2006/relationships/slideLayout" Target="/ppt/slideLayouts/slideLayout2.xml" Id="R7ba4e337af0b47e0" /></Relationships>
</file>

<file path=ppt/slides/_rels/slide12.xml.rels>&#65279;<?xml version="1.0" encoding="utf-8"?><Relationships xmlns="http://schemas.openxmlformats.org/package/2006/relationships"><Relationship Type="http://schemas.openxmlformats.org/officeDocument/2006/relationships/image" Target="/ppt/media/image3.png" Id="Rab775a3ff3ad4803" /><Relationship Type="http://schemas.openxmlformats.org/officeDocument/2006/relationships/image" Target="/ppt/media/image17.svg" Id="R89f16e93c26744a4" /><Relationship Type="http://schemas.openxmlformats.org/officeDocument/2006/relationships/image" Target="/ppt/media/image18.svg" Id="Rd2c97c8e90f14a19" /><Relationship Type="http://schemas.openxmlformats.org/officeDocument/2006/relationships/notesSlide" Target="/ppt/notesSlides/notesSlide12.xml" Id="Rc9c8a9223608484a" /><Relationship Type="http://schemas.openxmlformats.org/officeDocument/2006/relationships/slideLayout" Target="/ppt/slideLayouts/slideLayout2.xml" Id="R6ad71df3eae840d7" /></Relationships>
</file>

<file path=ppt/slides/_rels/slide13.xml.rels>&#65279;<?xml version="1.0" encoding="utf-8"?><Relationships xmlns="http://schemas.openxmlformats.org/package/2006/relationships"><Relationship Type="http://schemas.openxmlformats.org/officeDocument/2006/relationships/image" Target="/ppt/media/image3.png" Id="R8d014b2bf69740ec" /><Relationship Type="http://schemas.openxmlformats.org/officeDocument/2006/relationships/image" Target="/ppt/media/image19.svg" Id="Rd524d8b3ea594851" /><Relationship Type="http://schemas.openxmlformats.org/officeDocument/2006/relationships/image" Target="/ppt/media/image20.svg" Id="R5b3ea7c5143744d4" /><Relationship Type="http://schemas.openxmlformats.org/officeDocument/2006/relationships/image" Target="/ppt/media/image21.svg" Id="R9b7ac9dfad3b4ec2" /><Relationship Type="http://schemas.openxmlformats.org/officeDocument/2006/relationships/notesSlide" Target="/ppt/notesSlides/notesSlide13.xml" Id="R25fb85c15c6c4949" /><Relationship Type="http://schemas.openxmlformats.org/officeDocument/2006/relationships/slideLayout" Target="/ppt/slideLayouts/slideLayout2.xml" Id="Ra48cbd3cd7494578" /></Relationships>
</file>

<file path=ppt/slides/_rels/slide14.xml.rels>&#65279;<?xml version="1.0" encoding="utf-8"?><Relationships xmlns="http://schemas.openxmlformats.org/package/2006/relationships"><Relationship Type="http://schemas.openxmlformats.org/officeDocument/2006/relationships/image" Target="/ppt/media/image21.png" Id="R4de3cbac29a446f2" /><Relationship Type="http://schemas.openxmlformats.org/officeDocument/2006/relationships/image" Target="/ppt/media/image3.png" Id="Ree14ddee1d014d24" /><Relationship Type="http://schemas.openxmlformats.org/officeDocument/2006/relationships/image" Target="/ppt/media/image22.svg" Id="Refa46224b66d40f4" /><Relationship Type="http://schemas.openxmlformats.org/officeDocument/2006/relationships/image" Target="/ppt/media/image23.svg" Id="R46f2899468d04ba1" /><Relationship Type="http://schemas.openxmlformats.org/officeDocument/2006/relationships/image" Target="/ppt/media/image24.svg" Id="Rd780d55ddfc24f28" /><Relationship Type="http://schemas.openxmlformats.org/officeDocument/2006/relationships/notesSlide" Target="/ppt/notesSlides/notesSlide14.xml" Id="R052a7cf700934c53" /><Relationship Type="http://schemas.openxmlformats.org/officeDocument/2006/relationships/slideLayout" Target="/ppt/slideLayouts/slideLayout2.xml" Id="Rdd6a4deab6f744f6" /></Relationships>
</file>

<file path=ppt/slides/_rels/slide15.xml.rels>&#65279;<?xml version="1.0" encoding="utf-8"?><Relationships xmlns="http://schemas.openxmlformats.org/package/2006/relationships"><Relationship Type="http://schemas.openxmlformats.org/officeDocument/2006/relationships/notesSlide" Target="/ppt/notesSlides/notesSlide15.xml" Id="R921c4c33f7f6468f" /><Relationship Type="http://schemas.openxmlformats.org/officeDocument/2006/relationships/slideLayout" Target="/ppt/slideLayouts/slideLayout2.xml" Id="R628ce6533e2546ce" /></Relationships>
</file>

<file path=ppt/slides/_rels/slide16.xml.rels>&#65279;<?xml version="1.0" encoding="utf-8"?><Relationships xmlns="http://schemas.openxmlformats.org/package/2006/relationships"><Relationship Type="http://schemas.openxmlformats.org/officeDocument/2006/relationships/image" Target="/ppt/media/image22.png" Id="R48ff8f5fd0814765" /><Relationship Type="http://schemas.openxmlformats.org/officeDocument/2006/relationships/notesSlide" Target="/ppt/notesSlides/notesSlide16.xml" Id="R4ce90e26c4a14da4" /><Relationship Type="http://schemas.openxmlformats.org/officeDocument/2006/relationships/slideLayout" Target="/ppt/slideLayouts/slideLayout2.xml" Id="R25b9b89c9ca14385" /></Relationships>
</file>

<file path=ppt/slides/_rels/slide17.xml.rels>&#65279;<?xml version="1.0" encoding="utf-8"?><Relationships xmlns="http://schemas.openxmlformats.org/package/2006/relationships"><Relationship Type="http://schemas.openxmlformats.org/officeDocument/2006/relationships/image" Target="/ppt/media/image23.png" Id="R4a8a650af33a4c34" /><Relationship Type="http://schemas.openxmlformats.org/officeDocument/2006/relationships/image" Target="/ppt/media/image24.png" Id="Rd5ee196dc2bd42ca" /><Relationship Type="http://schemas.openxmlformats.org/officeDocument/2006/relationships/image" Target="/ppt/media/image25.png" Id="R408c58f92b5846b0" /><Relationship Type="http://schemas.openxmlformats.org/officeDocument/2006/relationships/image" Target="/ppt/media/image26.png" Id="Rf6a78c42fdd04abf" /><Relationship Type="http://schemas.openxmlformats.org/officeDocument/2006/relationships/notesSlide" Target="/ppt/notesSlides/notesSlide17.xml" Id="R0f96dee2446246fd" /><Relationship Type="http://schemas.openxmlformats.org/officeDocument/2006/relationships/slideLayout" Target="/ppt/slideLayouts/slideLayout2.xml" Id="Rfb4bf921886e42e3" /></Relationships>
</file>

<file path=ppt/slides/_rels/slide18.xml.rels>&#65279;<?xml version="1.0" encoding="utf-8"?><Relationships xmlns="http://schemas.openxmlformats.org/package/2006/relationships"><Relationship Type="http://schemas.openxmlformats.org/officeDocument/2006/relationships/image" Target="/ppt/media/image3.png" Id="Rf3070a263a344422" /><Relationship Type="http://schemas.openxmlformats.org/officeDocument/2006/relationships/image" Target="/ppt/media/image25.svg" Id="R13f61c7c23004602" /><Relationship Type="http://schemas.openxmlformats.org/officeDocument/2006/relationships/image" Target="/ppt/media/image26.svg" Id="Rda7d666546d745d2" /><Relationship Type="http://schemas.openxmlformats.org/officeDocument/2006/relationships/image" Target="/ppt/media/image27.svg" Id="Rdf5d3f4a0477474e" /><Relationship Type="http://schemas.openxmlformats.org/officeDocument/2006/relationships/image" Target="/ppt/media/image28.svg" Id="Rf392313bbaa44541" /><Relationship Type="http://schemas.openxmlformats.org/officeDocument/2006/relationships/image" Target="/ppt/media/image29.svg" Id="Rd7d63a5c1a114016" /><Relationship Type="http://schemas.openxmlformats.org/officeDocument/2006/relationships/notesSlide" Target="/ppt/notesSlides/notesSlide18.xml" Id="R4cd65302b347423c" /><Relationship Type="http://schemas.openxmlformats.org/officeDocument/2006/relationships/slideLayout" Target="/ppt/slideLayouts/slideLayout2.xml" Id="Rb36e38dd96314d7d" /></Relationships>
</file>

<file path=ppt/slides/_rels/slide19.xml.rels>&#65279;<?xml version="1.0" encoding="utf-8"?><Relationships xmlns="http://schemas.openxmlformats.org/package/2006/relationships"><Relationship Type="http://schemas.openxmlformats.org/officeDocument/2006/relationships/image" Target="/ppt/media/image3.png" Id="Rc401e671b22849b3" /><Relationship Type="http://schemas.openxmlformats.org/officeDocument/2006/relationships/image" Target="/ppt/media/image30.svg" Id="R1c8291ca533c47b4" /><Relationship Type="http://schemas.openxmlformats.org/officeDocument/2006/relationships/image" Target="/ppt/media/image31.svg" Id="R6d511f3e2ae64cb0" /><Relationship Type="http://schemas.openxmlformats.org/officeDocument/2006/relationships/image" Target="/ppt/media/image5.svg" Id="R5984383f62b34c3b" /><Relationship Type="http://schemas.openxmlformats.org/officeDocument/2006/relationships/notesSlide" Target="/ppt/notesSlides/notesSlide19.xml" Id="R9b16df9de0b14429" /><Relationship Type="http://schemas.openxmlformats.org/officeDocument/2006/relationships/slideLayout" Target="/ppt/slideLayouts/slideLayout2.xml" Id="R074f4c178a734ea6" /></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09d20664c4854b6e"/>
          <a:stretch>
            <a:fillRect/>
          </a:stretch>
        </p:blipFill>
        <p:spPr>
          <a:xfrm>
            <a:off x="9144000" y="0"/>
            <a:ext cx="5486400" cy="8229600"/>
          </a:xfrm>
          <a:prstGeom prst="rect">
            <a:avLst/>
          </a:prstGeom>
        </p:spPr>
      </p:pic>
      <p:sp>
        <p:nvSpPr>
          <p:cNvPr id="3" name="Text 0"/>
          <p:cNvSpPr/>
          <p:nvPr/>
        </p:nvSpPr>
        <p:spPr>
          <a:xfrm>
            <a:off x="782955" y="615672"/>
            <a:ext cx="7578090" cy="1153239"/>
          </a:xfrm>
          <a:prstGeom prst="rect">
            <a:avLst/>
          </a:prstGeom>
          <a:noFill/>
          <a:ln/>
        </p:spPr>
        <p:txBody>
          <a:bodyPr wrap="square" lIns="0" tIns="0" rIns="0" bIns="0" rtlCol="0" anchor="t"/>
          <a:lstStyle/>
          <a:p>
            <a:pPr algn="l" indent="0" marL="0">
              <a:lnSpc>
                <a:spcPts val="4500"/>
              </a:lnSpc>
              <a:buNone/>
            </a:pPr>
            <a:r>
              <a:rPr lang="en-US" sz="3600" b="1" dirty="0">
                <a:solidFill>
                  <a:srgbClr val="F95F88"/>
                </a:solidFill>
                <a:latin typeface="Petrona Bold" pitchFamily="34" charset="0"/>
                <a:ea typeface="Petrona Bold" pitchFamily="34" charset="-122"/>
                <a:cs typeface="Petrona Bold" pitchFamily="34" charset="-120"/>
              </a:rPr>
              <a:t>Deep Hedging: Learning to Manage Risk Beyond Black-Scholes</a:t>
            </a:r>
            <a:endParaRPr lang="en-US" sz="3600" dirty="0"/>
          </a:p>
        </p:txBody>
      </p:sp>
      <p:sp>
        <p:nvSpPr>
          <p:cNvPr id="4" name="Text 1"/>
          <p:cNvSpPr/>
          <p:nvPr/>
        </p:nvSpPr>
        <p:spPr>
          <a:xfrm>
            <a:off x="782955" y="2020491"/>
            <a:ext cx="7578090" cy="805101"/>
          </a:xfrm>
          <a:prstGeom prst="rect">
            <a:avLst/>
          </a:prstGeom>
          <a:noFill/>
          <a:ln/>
        </p:spPr>
        <p:txBody>
          <a:bodyPr wrap="square" lIns="0" tIns="0" rIns="0" bIns="0" rtlCol="0" anchor="t"/>
          <a:lstStyle/>
          <a:p>
            <a:pPr algn="l" indent="0" marL="0">
              <a:lnSpc>
                <a:spcPts val="2100"/>
              </a:lnSpc>
              <a:buNone/>
            </a:pPr>
            <a:r>
              <a:rPr lang="en-US" sz="1300" dirty="0">
                <a:solidFill>
                  <a:srgbClr val="272525"/>
                </a:solidFill>
                <a:latin typeface="Inter" pitchFamily="34" charset="0"/>
                <a:ea typeface="Inter" pitchFamily="34" charset="-122"/>
                <a:cs typeface="Inter" pitchFamily="34" charset="-120"/>
              </a:rPr>
              <a:t>Classical hedging models, such as Black-Scholes, provide a rigid, analytic solution that often fails in realistic, non-ideal market conditions. These conditions include noisy, discrete trading environments with significant transaction costs.</a:t>
            </a:r>
            <a:endParaRPr lang="en-US" sz="1300" dirty="0"/>
          </a:p>
        </p:txBody>
      </p:sp>
      <p:sp>
        <p:nvSpPr>
          <p:cNvPr id="5" name="Shape 2"/>
          <p:cNvSpPr/>
          <p:nvPr/>
        </p:nvSpPr>
        <p:spPr>
          <a:xfrm>
            <a:off x="782955" y="3014305"/>
            <a:ext cx="3705106" cy="2484239"/>
          </a:xfrm>
          <a:prstGeom prst="roundRect">
            <a:avLst>
              <a:gd name="adj" fmla="val 2837"/>
            </a:avLst>
          </a:prstGeom>
          <a:solidFill>
            <a:srgbClr val="E0D7F4"/>
          </a:solidFill>
          <a:ln w="7620">
            <a:solidFill>
              <a:srgbClr val="C6BDDA"/>
            </a:solidFill>
            <a:prstDash val="solid"/>
          </a:ln>
        </p:spPr>
      </p:sp>
      <p:sp>
        <p:nvSpPr>
          <p:cNvPr id="6" name="Shape 3"/>
          <p:cNvSpPr/>
          <p:nvPr/>
        </p:nvSpPr>
        <p:spPr>
          <a:xfrm>
            <a:off x="958334" y="3189684"/>
            <a:ext cx="503277" cy="503277"/>
          </a:xfrm>
          <a:prstGeom prst="roundRect">
            <a:avLst>
              <a:gd name="adj" fmla="val 18167104"/>
            </a:avLst>
          </a:prstGeom>
          <a:solidFill>
            <a:srgbClr val="6237C8"/>
          </a:solidFill>
          <a:ln/>
        </p:spPr>
      </p:sp>
      <p:pic>
        <p:nvPicPr>
          <p:cNvPr id="7" name="Image 1" descr="preencoded.png">    </p:cNvPr>
          <p:cNvPicPr>
            <a:picLocks noChangeAspect="1"/>
          </p:cNvPicPr>
          <p:nvPr/>
        </p:nvPicPr>
        <p:blipFill>
          <a:blip r:embed="Ra9c2cc77bf1e44f1">
            <a:extLst>
              <a:ext uri="{96DAC541-7B7A-43D3-8B79-37D633B846F1}">
                <asvg:svgBlip xmlns:asvg="http://schemas.microsoft.com/office/drawing/2016/SVG/main" r:embed="Rea56fe1f2ebc44c2"/>
              </a:ext>
            </a:extLst>
          </a:blip>
          <a:stretch>
            <a:fillRect/>
          </a:stretch>
        </p:blipFill>
        <p:spPr>
          <a:xfrm>
            <a:off x="1096685" y="3328035"/>
            <a:ext cx="226457" cy="226457"/>
          </a:xfrm>
          <a:prstGeom prst="rect">
            <a:avLst/>
          </a:prstGeom>
        </p:spPr>
      </p:pic>
      <p:sp>
        <p:nvSpPr>
          <p:cNvPr id="8" name="Text 4"/>
          <p:cNvSpPr/>
          <p:nvPr/>
        </p:nvSpPr>
        <p:spPr>
          <a:xfrm>
            <a:off x="958334" y="3860721"/>
            <a:ext cx="2837378" cy="288369"/>
          </a:xfrm>
          <a:prstGeom prst="rect">
            <a:avLst/>
          </a:prstGeom>
          <a:noFill/>
          <a:ln/>
        </p:spPr>
        <p:txBody>
          <a:bodyPr wrap="none" lIns="0" tIns="0" rIns="0" bIns="0" rtlCol="0" anchor="t"/>
          <a:lstStyle/>
          <a:p>
            <a:pPr algn="l" indent="0" marL="0">
              <a:lnSpc>
                <a:spcPts val="2250"/>
              </a:lnSpc>
              <a:buNone/>
            </a:pPr>
            <a:r>
              <a:rPr lang="en-US" sz="1800" b="1" dirty="0">
                <a:solidFill>
                  <a:srgbClr val="272525"/>
                </a:solidFill>
                <a:latin typeface="Petrona Bold" pitchFamily="34" charset="0"/>
                <a:ea typeface="Petrona Bold" pitchFamily="34" charset="-122"/>
                <a:cs typeface="Petrona Bold" pitchFamily="34" charset="-120"/>
              </a:rPr>
              <a:t>Neural Networks for Policy</a:t>
            </a:r>
            <a:endParaRPr lang="en-US" sz="1800" dirty="0"/>
          </a:p>
        </p:txBody>
      </p:sp>
      <p:sp>
        <p:nvSpPr>
          <p:cNvPr id="9" name="Text 5"/>
          <p:cNvSpPr/>
          <p:nvPr/>
        </p:nvSpPr>
        <p:spPr>
          <a:xfrm>
            <a:off x="958334" y="4249698"/>
            <a:ext cx="3354348" cy="805101"/>
          </a:xfrm>
          <a:prstGeom prst="rect">
            <a:avLst/>
          </a:prstGeom>
          <a:noFill/>
          <a:ln/>
        </p:spPr>
        <p:txBody>
          <a:bodyPr wrap="square" lIns="0" tIns="0" rIns="0" bIns="0" rtlCol="0" anchor="t"/>
          <a:lstStyle/>
          <a:p>
            <a:pPr algn="l" indent="0" marL="0">
              <a:lnSpc>
                <a:spcPts val="2100"/>
              </a:lnSpc>
              <a:buNone/>
            </a:pPr>
            <a:r>
              <a:rPr lang="en-US" sz="1300" dirty="0">
                <a:solidFill>
                  <a:srgbClr val="272525"/>
                </a:solidFill>
                <a:latin typeface="Inter" pitchFamily="34" charset="0"/>
                <a:ea typeface="Inter" pitchFamily="34" charset="-122"/>
                <a:cs typeface="Inter" pitchFamily="34" charset="-120"/>
              </a:rPr>
              <a:t>Deep Hedging replaces fixed formulas with a neural network that dynamically learns the optimal hedging strategy.</a:t>
            </a:r>
            <a:endParaRPr lang="en-US" sz="1300" dirty="0"/>
          </a:p>
        </p:txBody>
      </p:sp>
      <p:sp>
        <p:nvSpPr>
          <p:cNvPr id="10" name="Shape 6"/>
          <p:cNvSpPr/>
          <p:nvPr/>
        </p:nvSpPr>
        <p:spPr>
          <a:xfrm>
            <a:off x="4655820" y="3014305"/>
            <a:ext cx="3705225" cy="2484239"/>
          </a:xfrm>
          <a:prstGeom prst="roundRect">
            <a:avLst>
              <a:gd name="adj" fmla="val 2837"/>
            </a:avLst>
          </a:prstGeom>
          <a:solidFill>
            <a:srgbClr val="E0D7F4"/>
          </a:solidFill>
          <a:ln w="7620">
            <a:solidFill>
              <a:srgbClr val="C6BDDA"/>
            </a:solidFill>
            <a:prstDash val="solid"/>
          </a:ln>
        </p:spPr>
      </p:sp>
      <p:sp>
        <p:nvSpPr>
          <p:cNvPr id="11" name="Shape 7"/>
          <p:cNvSpPr/>
          <p:nvPr/>
        </p:nvSpPr>
        <p:spPr>
          <a:xfrm>
            <a:off x="4831199" y="3189684"/>
            <a:ext cx="503277" cy="503277"/>
          </a:xfrm>
          <a:prstGeom prst="roundRect">
            <a:avLst>
              <a:gd name="adj" fmla="val 18167104"/>
            </a:avLst>
          </a:prstGeom>
          <a:solidFill>
            <a:srgbClr val="6237C8"/>
          </a:solidFill>
          <a:ln/>
        </p:spPr>
      </p:sp>
      <p:pic>
        <p:nvPicPr>
          <p:cNvPr id="12" name="Image 2" descr="preencoded.png">    </p:cNvPr>
          <p:cNvPicPr>
            <a:picLocks noChangeAspect="1"/>
          </p:cNvPicPr>
          <p:nvPr/>
        </p:nvPicPr>
        <p:blipFill>
          <a:blip r:embed="Ra9c2cc77bf1e44f1">
            <a:extLst>
              <a:ext uri="{96DAC541-7B7A-43D3-8B79-37D633B846F1}">
                <asvg:svgBlip xmlns:asvg="http://schemas.microsoft.com/office/drawing/2016/SVG/main" r:embed="Rffff17fa02e14ab1"/>
              </a:ext>
            </a:extLst>
          </a:blip>
          <a:stretch>
            <a:fillRect/>
          </a:stretch>
        </p:blipFill>
        <p:spPr>
          <a:xfrm>
            <a:off x="4969550" y="3328035"/>
            <a:ext cx="226457" cy="226457"/>
          </a:xfrm>
          <a:prstGeom prst="rect">
            <a:avLst/>
          </a:prstGeom>
        </p:spPr>
      </p:pic>
      <p:sp>
        <p:nvSpPr>
          <p:cNvPr id="13" name="Text 8"/>
          <p:cNvSpPr/>
          <p:nvPr/>
        </p:nvSpPr>
        <p:spPr>
          <a:xfrm>
            <a:off x="4831199" y="3860721"/>
            <a:ext cx="2873454" cy="288369"/>
          </a:xfrm>
          <a:prstGeom prst="rect">
            <a:avLst/>
          </a:prstGeom>
          <a:noFill/>
          <a:ln/>
        </p:spPr>
        <p:txBody>
          <a:bodyPr wrap="none" lIns="0" tIns="0" rIns="0" bIns="0" rtlCol="0" anchor="t"/>
          <a:lstStyle/>
          <a:p>
            <a:pPr algn="l" indent="0" marL="0">
              <a:lnSpc>
                <a:spcPts val="2250"/>
              </a:lnSpc>
              <a:buNone/>
            </a:pPr>
            <a:r>
              <a:rPr lang="en-US" sz="1800" b="1" dirty="0">
                <a:solidFill>
                  <a:srgbClr val="272525"/>
                </a:solidFill>
                <a:latin typeface="Petrona Bold" pitchFamily="34" charset="0"/>
                <a:ea typeface="Petrona Bold" pitchFamily="34" charset="-122"/>
                <a:cs typeface="Petrona Bold" pitchFamily="34" charset="-120"/>
              </a:rPr>
              <a:t>Realistic Risk Management</a:t>
            </a:r>
            <a:endParaRPr lang="en-US" sz="1800" dirty="0"/>
          </a:p>
        </p:txBody>
      </p:sp>
      <p:sp>
        <p:nvSpPr>
          <p:cNvPr id="14" name="Text 9"/>
          <p:cNvSpPr/>
          <p:nvPr/>
        </p:nvSpPr>
        <p:spPr>
          <a:xfrm>
            <a:off x="4831199" y="4249698"/>
            <a:ext cx="3354467" cy="1073468"/>
          </a:xfrm>
          <a:prstGeom prst="rect">
            <a:avLst/>
          </a:prstGeom>
          <a:noFill/>
          <a:ln/>
        </p:spPr>
        <p:txBody>
          <a:bodyPr wrap="square" lIns="0" tIns="0" rIns="0" bIns="0" rtlCol="0" anchor="t"/>
          <a:lstStyle/>
          <a:p>
            <a:pPr algn="l" indent="0" marL="0">
              <a:lnSpc>
                <a:spcPts val="2100"/>
              </a:lnSpc>
              <a:buNone/>
            </a:pPr>
            <a:r>
              <a:rPr lang="en-US" sz="1300" dirty="0">
                <a:solidFill>
                  <a:srgbClr val="272525"/>
                </a:solidFill>
                <a:latin typeface="Inter" pitchFamily="34" charset="0"/>
                <a:ea typeface="Inter" pitchFamily="34" charset="-122"/>
                <a:cs typeface="Inter" pitchFamily="34" charset="-120"/>
              </a:rPr>
              <a:t>The model is trained to minimize downside risk directly under realistic market frictions and non-continuous trading.</a:t>
            </a:r>
            <a:endParaRPr lang="en-US" sz="1300" dirty="0"/>
          </a:p>
        </p:txBody>
      </p:sp>
      <p:sp>
        <p:nvSpPr>
          <p:cNvPr id="15" name="Shape 10"/>
          <p:cNvSpPr/>
          <p:nvPr/>
        </p:nvSpPr>
        <p:spPr>
          <a:xfrm>
            <a:off x="782955" y="5666303"/>
            <a:ext cx="7578090" cy="1947505"/>
          </a:xfrm>
          <a:prstGeom prst="roundRect">
            <a:avLst>
              <a:gd name="adj" fmla="val 3619"/>
            </a:avLst>
          </a:prstGeom>
          <a:solidFill>
            <a:srgbClr val="E0D7F4"/>
          </a:solidFill>
          <a:ln w="7620">
            <a:solidFill>
              <a:srgbClr val="C6BDDA"/>
            </a:solidFill>
            <a:prstDash val="solid"/>
          </a:ln>
        </p:spPr>
      </p:sp>
      <p:sp>
        <p:nvSpPr>
          <p:cNvPr id="16" name="Shape 11"/>
          <p:cNvSpPr/>
          <p:nvPr/>
        </p:nvSpPr>
        <p:spPr>
          <a:xfrm>
            <a:off x="958334" y="5841682"/>
            <a:ext cx="503277" cy="503277"/>
          </a:xfrm>
          <a:prstGeom prst="roundRect">
            <a:avLst>
              <a:gd name="adj" fmla="val 18167104"/>
            </a:avLst>
          </a:prstGeom>
          <a:solidFill>
            <a:srgbClr val="6237C8"/>
          </a:solidFill>
          <a:ln/>
        </p:spPr>
      </p:sp>
      <p:pic>
        <p:nvPicPr>
          <p:cNvPr id="17" name="Image 3" descr="preencoded.png">    </p:cNvPr>
          <p:cNvPicPr>
            <a:picLocks noChangeAspect="1"/>
          </p:cNvPicPr>
          <p:nvPr/>
        </p:nvPicPr>
        <p:blipFill>
          <a:blip r:embed="Ra9c2cc77bf1e44f1">
            <a:extLst>
              <a:ext uri="{96DAC541-7B7A-43D3-8B79-37D633B846F1}">
                <asvg:svgBlip xmlns:asvg="http://schemas.microsoft.com/office/drawing/2016/SVG/main" r:embed="R1e7649ab415c4e3b"/>
              </a:ext>
            </a:extLst>
          </a:blip>
          <a:stretch>
            <a:fillRect/>
          </a:stretch>
        </p:blipFill>
        <p:spPr>
          <a:xfrm>
            <a:off x="1096685" y="5980033"/>
            <a:ext cx="226457" cy="226457"/>
          </a:xfrm>
          <a:prstGeom prst="rect">
            <a:avLst/>
          </a:prstGeom>
        </p:spPr>
      </p:pic>
      <p:sp>
        <p:nvSpPr>
          <p:cNvPr id="18" name="Text 12"/>
          <p:cNvSpPr/>
          <p:nvPr/>
        </p:nvSpPr>
        <p:spPr>
          <a:xfrm>
            <a:off x="958334" y="6512719"/>
            <a:ext cx="2307074" cy="288369"/>
          </a:xfrm>
          <a:prstGeom prst="rect">
            <a:avLst/>
          </a:prstGeom>
          <a:noFill/>
          <a:ln/>
        </p:spPr>
        <p:txBody>
          <a:bodyPr wrap="none" lIns="0" tIns="0" rIns="0" bIns="0" rtlCol="0" anchor="t"/>
          <a:lstStyle/>
          <a:p>
            <a:pPr algn="l" indent="0" marL="0">
              <a:lnSpc>
                <a:spcPts val="2250"/>
              </a:lnSpc>
              <a:buNone/>
            </a:pPr>
            <a:r>
              <a:rPr lang="en-US" sz="1800" b="1" dirty="0">
                <a:solidFill>
                  <a:srgbClr val="272525"/>
                </a:solidFill>
                <a:latin typeface="Petrona Bold" pitchFamily="34" charset="0"/>
                <a:ea typeface="Petrona Bold" pitchFamily="34" charset="-122"/>
                <a:cs typeface="Petrona Bold" pitchFamily="34" charset="-120"/>
              </a:rPr>
              <a:t>AI Agent Integration</a:t>
            </a:r>
            <a:endParaRPr lang="en-US" sz="1800" dirty="0"/>
          </a:p>
        </p:txBody>
      </p:sp>
      <p:sp>
        <p:nvSpPr>
          <p:cNvPr id="19" name="Text 13"/>
          <p:cNvSpPr/>
          <p:nvPr/>
        </p:nvSpPr>
        <p:spPr>
          <a:xfrm>
            <a:off x="958334" y="6901696"/>
            <a:ext cx="7227332" cy="536734"/>
          </a:xfrm>
          <a:prstGeom prst="rect">
            <a:avLst/>
          </a:prstGeom>
          <a:noFill/>
          <a:ln/>
        </p:spPr>
        <p:txBody>
          <a:bodyPr wrap="square" lIns="0" tIns="0" rIns="0" bIns="0" rtlCol="0" anchor="t"/>
          <a:lstStyle/>
          <a:p>
            <a:pPr algn="l" indent="0" marL="0">
              <a:lnSpc>
                <a:spcPts val="2100"/>
              </a:lnSpc>
              <a:buNone/>
            </a:pPr>
            <a:r>
              <a:rPr lang="en-US" sz="1300" dirty="0">
                <a:solidFill>
                  <a:srgbClr val="272525"/>
                </a:solidFill>
                <a:latin typeface="Inter" pitchFamily="34" charset="0"/>
                <a:ea typeface="Inter" pitchFamily="34" charset="-122"/>
                <a:cs typeface="Inter" pitchFamily="34" charset="-120"/>
              </a:rPr>
              <a:t>This project implements and extends the framework, integrating it into our Options Risk Assessment AI Agent pipeline.</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686991"/>
            <a:ext cx="9325928" cy="584716"/>
          </a:xfrm>
          <a:prstGeom prst="rect">
            <a:avLst/>
          </a:prstGeom>
          <a:noFill/>
          <a:ln/>
        </p:spPr>
        <p:txBody>
          <a:bodyPr wrap="none" lIns="0" tIns="0" rIns="0" bIns="0" rtlCol="0" anchor="t"/>
          <a:lstStyle/>
          <a:p>
            <a:pPr algn="l" indent="0" marL="0">
              <a:lnSpc>
                <a:spcPts val="4600"/>
              </a:lnSpc>
              <a:buNone/>
            </a:pPr>
            <a:r>
              <a:rPr lang="en-US" sz="3650" b="1" dirty="0">
                <a:solidFill>
                  <a:srgbClr val="F95F88"/>
                </a:solidFill>
                <a:latin typeface="Petrona Bold" pitchFamily="34" charset="0"/>
                <a:ea typeface="Petrona Bold" pitchFamily="34" charset="-122"/>
                <a:cs typeface="Petrona Bold" pitchFamily="34" charset="-120"/>
              </a:rPr>
              <a:t>The Problem: Hedging Real-World Frictions</a:t>
            </a:r>
            <a:endParaRPr lang="en-US" sz="3650" dirty="0"/>
          </a:p>
        </p:txBody>
      </p:sp>
      <p:sp>
        <p:nvSpPr>
          <p:cNvPr id="3" name="Text 1"/>
          <p:cNvSpPr/>
          <p:nvPr/>
        </p:nvSpPr>
        <p:spPr>
          <a:xfrm>
            <a:off x="793790" y="1696879"/>
            <a:ext cx="3274100" cy="292418"/>
          </a:xfrm>
          <a:prstGeom prst="rect">
            <a:avLst/>
          </a:prstGeom>
          <a:noFill/>
          <a:ln/>
        </p:spPr>
        <p:txBody>
          <a:bodyPr wrap="none" lIns="0" tIns="0" rIns="0" bIns="0" rtlCol="0" anchor="t"/>
          <a:lstStyle/>
          <a:p>
            <a:pPr algn="l" indent="0" marL="0">
              <a:lnSpc>
                <a:spcPts val="2300"/>
              </a:lnSpc>
              <a:buNone/>
            </a:pPr>
            <a:r>
              <a:rPr lang="en-US" sz="1800" b="1" dirty="0">
                <a:solidFill>
                  <a:srgbClr val="F95F88"/>
                </a:solidFill>
                <a:latin typeface="Petrona Bold" pitchFamily="34" charset="0"/>
                <a:ea typeface="Petrona Bold" pitchFamily="34" charset="-122"/>
                <a:cs typeface="Petrona Bold" pitchFamily="34" charset="-120"/>
              </a:rPr>
              <a:t>Why Traditional Hedging Fails</a:t>
            </a:r>
            <a:endParaRPr lang="en-US" sz="1800" dirty="0"/>
          </a:p>
        </p:txBody>
      </p:sp>
      <p:sp>
        <p:nvSpPr>
          <p:cNvPr id="4" name="Text 2"/>
          <p:cNvSpPr/>
          <p:nvPr/>
        </p:nvSpPr>
        <p:spPr>
          <a:xfrm>
            <a:off x="793790" y="2159318"/>
            <a:ext cx="7659648" cy="816531"/>
          </a:xfrm>
          <a:prstGeom prst="rect">
            <a:avLst/>
          </a:prstGeom>
          <a:noFill/>
          <a:ln/>
        </p:spPr>
        <p:txBody>
          <a:bodyPr wrap="square" lIns="0" tIns="0" rIns="0" bIns="0" rtlCol="0" anchor="t"/>
          <a:lstStyle/>
          <a:p>
            <a:pPr algn="l" indent="0" marL="0">
              <a:lnSpc>
                <a:spcPts val="2100"/>
              </a:lnSpc>
              <a:buNone/>
            </a:pPr>
            <a:r>
              <a:rPr lang="en-US" sz="1300" dirty="0">
                <a:solidFill>
                  <a:srgbClr val="272525"/>
                </a:solidFill>
                <a:latin typeface="Inter" pitchFamily="34" charset="0"/>
                <a:ea typeface="Inter" pitchFamily="34" charset="-122"/>
                <a:cs typeface="Inter" pitchFamily="34" charset="-120"/>
              </a:rPr>
              <a:t>The Black-Scholes delta hedge relies on idealized assumptions (perfect liquidity, zero cost, constant volatility) that are never met in practice. This leads to severe model mismatch and misleading risk estimates when trading is discrete and expensive.</a:t>
            </a:r>
            <a:endParaRPr lang="en-US" sz="1300" dirty="0"/>
          </a:p>
        </p:txBody>
      </p:sp>
      <p:sp>
        <p:nvSpPr>
          <p:cNvPr id="5" name="Text 3"/>
          <p:cNvSpPr/>
          <p:nvPr/>
        </p:nvSpPr>
        <p:spPr>
          <a:xfrm>
            <a:off x="1048941" y="3167182"/>
            <a:ext cx="7404497" cy="272177"/>
          </a:xfrm>
          <a:prstGeom prst="rect">
            <a:avLst/>
          </a:prstGeom>
          <a:noFill/>
          <a:ln/>
        </p:spPr>
        <p:txBody>
          <a:bodyPr wrap="none" lIns="0" tIns="0" rIns="0" bIns="0" rtlCol="0" anchor="t"/>
          <a:lstStyle/>
          <a:p>
            <a:pPr algn="l" indent="0" marL="0">
              <a:lnSpc>
                <a:spcPts val="2100"/>
              </a:lnSpc>
              <a:buNone/>
            </a:pPr>
            <a:r>
              <a:rPr lang="en-US" sz="1300" dirty="0">
                <a:solidFill>
                  <a:srgbClr val="272525"/>
                </a:solidFill>
                <a:latin typeface="Inter" pitchFamily="34" charset="0"/>
                <a:ea typeface="Inter" pitchFamily="34" charset="-122"/>
                <a:cs typeface="Inter" pitchFamily="34" charset="-120"/>
              </a:rPr>
              <a:t>"How can we hedge financial risk realistically when trading is discrete and expensive?"</a:t>
            </a:r>
            <a:endParaRPr lang="en-US" sz="1300" dirty="0"/>
          </a:p>
        </p:txBody>
      </p:sp>
      <p:sp>
        <p:nvSpPr>
          <p:cNvPr id="6" name="Shape 4"/>
          <p:cNvSpPr/>
          <p:nvPr/>
        </p:nvSpPr>
        <p:spPr>
          <a:xfrm>
            <a:off x="793790" y="3167182"/>
            <a:ext cx="22860" cy="272177"/>
          </a:xfrm>
          <a:prstGeom prst="rect">
            <a:avLst/>
          </a:prstGeom>
          <a:solidFill>
            <a:srgbClr val="6237C8"/>
          </a:solidFill>
          <a:ln/>
        </p:spPr>
      </p:sp>
      <p:pic>
        <p:nvPicPr>
          <p:cNvPr id="7" name="Image 0" descr="preencoded.png">    </p:cNvPr>
          <p:cNvPicPr>
            <a:picLocks noChangeAspect="1"/>
          </p:cNvPicPr>
          <p:nvPr/>
        </p:nvPicPr>
        <p:blipFill>
          <a:blip r:embed="R2afc74ad3e0b4fed"/>
          <a:stretch>
            <a:fillRect/>
          </a:stretch>
        </p:blipFill>
        <p:spPr>
          <a:xfrm>
            <a:off x="8876109" y="1718191"/>
            <a:ext cx="3725942" cy="3725942"/>
          </a:xfrm>
          <a:prstGeom prst="rect">
            <a:avLst/>
          </a:prstGeom>
        </p:spPr>
      </p:pic>
      <p:sp>
        <p:nvSpPr>
          <p:cNvPr id="8" name="Shape 5"/>
          <p:cNvSpPr/>
          <p:nvPr/>
        </p:nvSpPr>
        <p:spPr>
          <a:xfrm>
            <a:off x="793790" y="5826800"/>
            <a:ext cx="6436400" cy="1715810"/>
          </a:xfrm>
          <a:prstGeom prst="roundRect">
            <a:avLst>
              <a:gd name="adj" fmla="val 6395"/>
            </a:avLst>
          </a:prstGeom>
          <a:solidFill>
            <a:srgbClr val="FDFAF7"/>
          </a:solidFill>
          <a:ln w="22860">
            <a:solidFill>
              <a:srgbClr val="C6BDDA"/>
            </a:solidFill>
            <a:prstDash val="solid"/>
          </a:ln>
        </p:spPr>
      </p:sp>
      <p:sp>
        <p:nvSpPr>
          <p:cNvPr id="9" name="Shape 6"/>
          <p:cNvSpPr/>
          <p:nvPr/>
        </p:nvSpPr>
        <p:spPr>
          <a:xfrm>
            <a:off x="770930" y="5826800"/>
            <a:ext cx="91440" cy="1715810"/>
          </a:xfrm>
          <a:prstGeom prst="roundRect">
            <a:avLst>
              <a:gd name="adj" fmla="val 78140"/>
            </a:avLst>
          </a:prstGeom>
          <a:solidFill>
            <a:srgbClr val="6237C8"/>
          </a:solidFill>
          <a:ln/>
        </p:spPr>
      </p:sp>
      <p:sp>
        <p:nvSpPr>
          <p:cNvPr id="10" name="Text 7"/>
          <p:cNvSpPr/>
          <p:nvPr/>
        </p:nvSpPr>
        <p:spPr>
          <a:xfrm>
            <a:off x="1055251" y="6019681"/>
            <a:ext cx="3630930" cy="292418"/>
          </a:xfrm>
          <a:prstGeom prst="rect">
            <a:avLst/>
          </a:prstGeom>
          <a:noFill/>
          <a:ln/>
        </p:spPr>
        <p:txBody>
          <a:bodyPr wrap="none" lIns="0" tIns="0" rIns="0" bIns="0" rtlCol="0" anchor="t"/>
          <a:lstStyle/>
          <a:p>
            <a:pPr algn="l" indent="0" marL="0">
              <a:lnSpc>
                <a:spcPts val="2300"/>
              </a:lnSpc>
              <a:buNone/>
            </a:pPr>
            <a:r>
              <a:rPr lang="en-US" sz="1800" b="1" dirty="0">
                <a:solidFill>
                  <a:srgbClr val="272525"/>
                </a:solidFill>
                <a:latin typeface="Petrona Bold" pitchFamily="34" charset="0"/>
                <a:ea typeface="Petrona Bold" pitchFamily="34" charset="-122"/>
                <a:cs typeface="Petrona Bold" pitchFamily="34" charset="-120"/>
              </a:rPr>
              <a:t>Traditional Approach Limitations</a:t>
            </a:r>
            <a:endParaRPr lang="en-US" sz="1800" dirty="0"/>
          </a:p>
        </p:txBody>
      </p:sp>
      <p:sp>
        <p:nvSpPr>
          <p:cNvPr id="11" name="Text 8"/>
          <p:cNvSpPr/>
          <p:nvPr/>
        </p:nvSpPr>
        <p:spPr>
          <a:xfrm>
            <a:off x="1055251" y="6414135"/>
            <a:ext cx="5982057" cy="272177"/>
          </a:xfrm>
          <a:prstGeom prst="rect">
            <a:avLst/>
          </a:prstGeom>
          <a:noFill/>
          <a:ln/>
        </p:spPr>
        <p:txBody>
          <a:bodyPr wrap="none" lIns="0" tIns="0" rIns="0" bIns="0" rtlCol="0" anchor="t"/>
          <a:lstStyle/>
          <a:p>
            <a:pPr algn="l" marL="342900" indent="-342900">
              <a:lnSpc>
                <a:spcPts val="2100"/>
              </a:lnSpc>
              <a:buSzPct val="100000"/>
              <a:buChar char="•"/>
            </a:pPr>
            <a:r>
              <a:rPr lang="en-US" sz="1300" dirty="0">
                <a:solidFill>
                  <a:srgbClr val="272525"/>
                </a:solidFill>
                <a:latin typeface="Inter" pitchFamily="34" charset="0"/>
                <a:ea typeface="Inter" pitchFamily="34" charset="-122"/>
                <a:cs typeface="Inter" pitchFamily="34" charset="-120"/>
              </a:rPr>
              <a:t>Requires continuous re-hedging (impossible).</a:t>
            </a:r>
            <a:endParaRPr lang="en-US" sz="1300" dirty="0"/>
          </a:p>
        </p:txBody>
      </p:sp>
      <p:sp>
        <p:nvSpPr>
          <p:cNvPr id="12" name="Text 9"/>
          <p:cNvSpPr/>
          <p:nvPr/>
        </p:nvSpPr>
        <p:spPr>
          <a:xfrm>
            <a:off x="1055251" y="6745843"/>
            <a:ext cx="5982057" cy="272177"/>
          </a:xfrm>
          <a:prstGeom prst="rect">
            <a:avLst/>
          </a:prstGeom>
          <a:noFill/>
          <a:ln/>
        </p:spPr>
        <p:txBody>
          <a:bodyPr wrap="none" lIns="0" tIns="0" rIns="0" bIns="0" rtlCol="0" anchor="t"/>
          <a:lstStyle/>
          <a:p>
            <a:pPr algn="l" marL="342900" indent="-342900">
              <a:lnSpc>
                <a:spcPts val="2100"/>
              </a:lnSpc>
              <a:buSzPct val="100000"/>
              <a:buChar char="•"/>
            </a:pPr>
            <a:r>
              <a:rPr lang="en-US" sz="1300" dirty="0">
                <a:solidFill>
                  <a:srgbClr val="272525"/>
                </a:solidFill>
                <a:latin typeface="Inter" pitchFamily="34" charset="0"/>
                <a:ea typeface="Inter" pitchFamily="34" charset="-122"/>
                <a:cs typeface="Inter" pitchFamily="34" charset="-120"/>
              </a:rPr>
              <a:t>Assumes perfect market liquidity.</a:t>
            </a:r>
            <a:endParaRPr lang="en-US" sz="1300" dirty="0"/>
          </a:p>
        </p:txBody>
      </p:sp>
      <p:sp>
        <p:nvSpPr>
          <p:cNvPr id="13" name="Text 10"/>
          <p:cNvSpPr/>
          <p:nvPr/>
        </p:nvSpPr>
        <p:spPr>
          <a:xfrm>
            <a:off x="1055251" y="7077551"/>
            <a:ext cx="5982057" cy="272177"/>
          </a:xfrm>
          <a:prstGeom prst="rect">
            <a:avLst/>
          </a:prstGeom>
          <a:noFill/>
          <a:ln/>
        </p:spPr>
        <p:txBody>
          <a:bodyPr wrap="none" lIns="0" tIns="0" rIns="0" bIns="0" rtlCol="0" anchor="t"/>
          <a:lstStyle/>
          <a:p>
            <a:pPr algn="l" marL="342900" indent="-342900">
              <a:lnSpc>
                <a:spcPts val="2100"/>
              </a:lnSpc>
              <a:buSzPct val="100000"/>
              <a:buChar char="•"/>
            </a:pPr>
            <a:r>
              <a:rPr lang="en-US" sz="1300" dirty="0">
                <a:solidFill>
                  <a:srgbClr val="272525"/>
                </a:solidFill>
                <a:latin typeface="Inter" pitchFamily="34" charset="0"/>
                <a:ea typeface="Inter" pitchFamily="34" charset="-122"/>
                <a:cs typeface="Inter" pitchFamily="34" charset="-120"/>
              </a:rPr>
              <a:t>Ignores transaction costs and slippage.</a:t>
            </a:r>
            <a:endParaRPr lang="en-US" sz="1300" dirty="0"/>
          </a:p>
        </p:txBody>
      </p:sp>
      <p:sp>
        <p:nvSpPr>
          <p:cNvPr id="14" name="Shape 11"/>
          <p:cNvSpPr/>
          <p:nvPr/>
        </p:nvSpPr>
        <p:spPr>
          <a:xfrm>
            <a:off x="7400211" y="5826800"/>
            <a:ext cx="6436400" cy="1715810"/>
          </a:xfrm>
          <a:prstGeom prst="roundRect">
            <a:avLst>
              <a:gd name="adj" fmla="val 6395"/>
            </a:avLst>
          </a:prstGeom>
          <a:solidFill>
            <a:srgbClr val="FDFAF7"/>
          </a:solidFill>
          <a:ln w="22860">
            <a:solidFill>
              <a:srgbClr val="C6BDDA"/>
            </a:solidFill>
            <a:prstDash val="solid"/>
          </a:ln>
        </p:spPr>
      </p:sp>
      <p:sp>
        <p:nvSpPr>
          <p:cNvPr id="15" name="Shape 12"/>
          <p:cNvSpPr/>
          <p:nvPr/>
        </p:nvSpPr>
        <p:spPr>
          <a:xfrm>
            <a:off x="7377351" y="5826800"/>
            <a:ext cx="91440" cy="1715810"/>
          </a:xfrm>
          <a:prstGeom prst="roundRect">
            <a:avLst>
              <a:gd name="adj" fmla="val 78140"/>
            </a:avLst>
          </a:prstGeom>
          <a:solidFill>
            <a:srgbClr val="6237C8"/>
          </a:solidFill>
          <a:ln/>
        </p:spPr>
      </p:sp>
      <p:sp>
        <p:nvSpPr>
          <p:cNvPr id="16" name="Text 13"/>
          <p:cNvSpPr/>
          <p:nvPr/>
        </p:nvSpPr>
        <p:spPr>
          <a:xfrm>
            <a:off x="7661672" y="6019681"/>
            <a:ext cx="2339102" cy="292418"/>
          </a:xfrm>
          <a:prstGeom prst="rect">
            <a:avLst/>
          </a:prstGeom>
          <a:noFill/>
          <a:ln/>
        </p:spPr>
        <p:txBody>
          <a:bodyPr wrap="none" lIns="0" tIns="0" rIns="0" bIns="0" rtlCol="0" anchor="t"/>
          <a:lstStyle/>
          <a:p>
            <a:pPr algn="l" indent="0" marL="0">
              <a:lnSpc>
                <a:spcPts val="2300"/>
              </a:lnSpc>
              <a:buNone/>
            </a:pPr>
            <a:r>
              <a:rPr lang="en-US" sz="1800" b="1" dirty="0">
                <a:solidFill>
                  <a:srgbClr val="272525"/>
                </a:solidFill>
                <a:latin typeface="Petrona Bold" pitchFamily="34" charset="0"/>
                <a:ea typeface="Petrona Bold" pitchFamily="34" charset="-122"/>
                <a:cs typeface="Petrona Bold" pitchFamily="34" charset="-120"/>
              </a:rPr>
              <a:t>Deep Hedging Goal</a:t>
            </a:r>
            <a:endParaRPr lang="en-US" sz="1800" dirty="0"/>
          </a:p>
        </p:txBody>
      </p:sp>
      <p:sp>
        <p:nvSpPr>
          <p:cNvPr id="17" name="Text 14"/>
          <p:cNvSpPr/>
          <p:nvPr/>
        </p:nvSpPr>
        <p:spPr>
          <a:xfrm>
            <a:off x="7661672" y="6414135"/>
            <a:ext cx="5982057" cy="816531"/>
          </a:xfrm>
          <a:prstGeom prst="rect">
            <a:avLst/>
          </a:prstGeom>
          <a:noFill/>
          <a:ln/>
        </p:spPr>
        <p:txBody>
          <a:bodyPr wrap="square" lIns="0" tIns="0" rIns="0" bIns="0" rtlCol="0" anchor="t"/>
          <a:lstStyle/>
          <a:p>
            <a:pPr algn="l" indent="0" marL="0">
              <a:lnSpc>
                <a:spcPts val="2100"/>
              </a:lnSpc>
              <a:buNone/>
            </a:pPr>
            <a:r>
              <a:rPr lang="en-US" sz="1300" dirty="0">
                <a:solidFill>
                  <a:srgbClr val="272525"/>
                </a:solidFill>
                <a:latin typeface="Inter" pitchFamily="34" charset="0"/>
                <a:ea typeface="Inter" pitchFamily="34" charset="-122"/>
                <a:cs typeface="Inter" pitchFamily="34" charset="-120"/>
              </a:rPr>
              <a:t>To train a neural policy that directly minimizes a non-linear, downside risk measure (e.g., CVaR) on the resulting Profit &amp; Loss (P&amp;L) distribution under realistic market frictions.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816412"/>
            <a:ext cx="6926818" cy="545663"/>
          </a:xfrm>
          <a:prstGeom prst="rect">
            <a:avLst/>
          </a:prstGeom>
          <a:noFill/>
          <a:ln/>
        </p:spPr>
        <p:txBody>
          <a:bodyPr wrap="none" lIns="0" tIns="0" rIns="0" bIns="0" rtlCol="0" anchor="t"/>
          <a:lstStyle/>
          <a:p>
            <a:pPr algn="l" indent="0" marL="0">
              <a:lnSpc>
                <a:spcPts val="4250"/>
              </a:lnSpc>
              <a:buNone/>
            </a:pPr>
            <a:r>
              <a:rPr lang="en-US" sz="3400" b="1" dirty="0">
                <a:solidFill>
                  <a:srgbClr val="F95F88"/>
                </a:solidFill>
                <a:latin typeface="Petrona Bold" pitchFamily="34" charset="0"/>
                <a:ea typeface="Petrona Bold" pitchFamily="34" charset="-122"/>
                <a:cs typeface="Petrona Bold" pitchFamily="34" charset="-120"/>
              </a:rPr>
              <a:t>Why We Need a Data-Driven Policy</a:t>
            </a:r>
            <a:endParaRPr lang="en-US" sz="3400" dirty="0"/>
          </a:p>
        </p:txBody>
      </p:sp>
      <p:sp>
        <p:nvSpPr>
          <p:cNvPr id="3" name="Text 1"/>
          <p:cNvSpPr/>
          <p:nvPr/>
        </p:nvSpPr>
        <p:spPr>
          <a:xfrm>
            <a:off x="793790" y="1679615"/>
            <a:ext cx="13042821" cy="508159"/>
          </a:xfrm>
          <a:prstGeom prst="rect">
            <a:avLst/>
          </a:prstGeom>
          <a:noFill/>
          <a:ln/>
        </p:spPr>
        <p:txBody>
          <a:bodyPr wrap="square" lIns="0" tIns="0" rIns="0" bIns="0" rtlCol="0" anchor="t"/>
          <a:lstStyle/>
          <a:p>
            <a:pPr algn="l" indent="0" marL="0">
              <a:lnSpc>
                <a:spcPts val="2000"/>
              </a:lnSpc>
              <a:buNone/>
            </a:pPr>
            <a:r>
              <a:rPr lang="en-US" sz="1250" dirty="0">
                <a:solidFill>
                  <a:srgbClr val="272525"/>
                </a:solidFill>
                <a:latin typeface="Inter" pitchFamily="34" charset="0"/>
                <a:ea typeface="Inter" pitchFamily="34" charset="-122"/>
                <a:cs typeface="Inter" pitchFamily="34" charset="-120"/>
              </a:rPr>
              <a:t>The core issue with the Black-Scholes model is its reliance on restrictive assumptions that break down immediately in a live trading environment. These theoretical constraints force unrealistic re-hedging strategies that incur high costs and systemic errors.</a:t>
            </a:r>
            <a:endParaRPr lang="en-US" sz="1250" dirty="0"/>
          </a:p>
        </p:txBody>
      </p:sp>
      <p:sp>
        <p:nvSpPr>
          <p:cNvPr id="4" name="Text 2"/>
          <p:cNvSpPr/>
          <p:nvPr/>
        </p:nvSpPr>
        <p:spPr>
          <a:xfrm>
            <a:off x="793790" y="2525078"/>
            <a:ext cx="3808928" cy="327422"/>
          </a:xfrm>
          <a:prstGeom prst="rect">
            <a:avLst/>
          </a:prstGeom>
          <a:noFill/>
          <a:ln/>
        </p:spPr>
        <p:txBody>
          <a:bodyPr wrap="none" lIns="0" tIns="0" rIns="0" bIns="0" rtlCol="0" anchor="t"/>
          <a:lstStyle/>
          <a:p>
            <a:pPr algn="l" indent="0" marL="0">
              <a:lnSpc>
                <a:spcPts val="2550"/>
              </a:lnSpc>
              <a:buNone/>
            </a:pPr>
            <a:r>
              <a:rPr lang="en-US" sz="2050" b="1" dirty="0">
                <a:solidFill>
                  <a:srgbClr val="F95F88"/>
                </a:solidFill>
                <a:latin typeface="Petrona Bold" pitchFamily="34" charset="0"/>
                <a:ea typeface="Petrona Bold" pitchFamily="34" charset="-122"/>
                <a:cs typeface="Petrona Bold" pitchFamily="34" charset="-120"/>
              </a:rPr>
              <a:t>Key Black-Scholes Assumptions</a:t>
            </a:r>
            <a:endParaRPr lang="en-US" sz="2050" dirty="0"/>
          </a:p>
        </p:txBody>
      </p:sp>
      <p:pic>
        <p:nvPicPr>
          <p:cNvPr id="5" name="Image 0" descr="preencoded.png">    </p:cNvPr>
          <p:cNvPicPr>
            <a:picLocks noChangeAspect="1"/>
          </p:cNvPicPr>
          <p:nvPr/>
        </p:nvPicPr>
        <p:blipFill>
          <a:blip r:embed="R6cbe845dfc44400c">
            <a:extLst>
              <a:ext uri="{96DAC541-7B7A-43D3-8B79-37D633B846F1}">
                <asvg:svgBlip xmlns:asvg="http://schemas.microsoft.com/office/drawing/2016/SVG/main" r:embed="R0fcbcf0710964862"/>
              </a:ext>
            </a:extLst>
          </a:blip>
          <a:stretch>
            <a:fillRect/>
          </a:stretch>
        </p:blipFill>
        <p:spPr>
          <a:xfrm>
            <a:off x="853321" y="3035975"/>
            <a:ext cx="238125" cy="238125"/>
          </a:xfrm>
          <a:prstGeom prst="rect">
            <a:avLst/>
          </a:prstGeom>
        </p:spPr>
      </p:pic>
      <p:sp>
        <p:nvSpPr>
          <p:cNvPr id="6" name="Text 3"/>
          <p:cNvSpPr/>
          <p:nvPr/>
        </p:nvSpPr>
        <p:spPr>
          <a:xfrm>
            <a:off x="1309687" y="3031093"/>
            <a:ext cx="2362557" cy="272891"/>
          </a:xfrm>
          <a:prstGeom prst="rect">
            <a:avLst/>
          </a:prstGeom>
          <a:noFill/>
          <a:ln/>
        </p:spPr>
        <p:txBody>
          <a:bodyPr wrap="none" lIns="0" tIns="0" rIns="0" bIns="0" rtlCol="0" anchor="t"/>
          <a:lstStyle/>
          <a:p>
            <a:pPr algn="l" indent="0" marL="0">
              <a:lnSpc>
                <a:spcPts val="2100"/>
              </a:lnSpc>
              <a:buNone/>
            </a:pPr>
            <a:r>
              <a:rPr lang="en-US" sz="1700" b="1" dirty="0">
                <a:solidFill>
                  <a:srgbClr val="272525"/>
                </a:solidFill>
                <a:latin typeface="Petrona Bold" pitchFamily="34" charset="0"/>
                <a:ea typeface="Petrona Bold" pitchFamily="34" charset="-122"/>
                <a:cs typeface="Petrona Bold" pitchFamily="34" charset="-120"/>
              </a:rPr>
              <a:t>Continuous Re-hedging</a:t>
            </a:r>
            <a:endParaRPr lang="en-US" sz="1700" dirty="0"/>
          </a:p>
        </p:txBody>
      </p:sp>
      <p:sp>
        <p:nvSpPr>
          <p:cNvPr id="7" name="Text 4"/>
          <p:cNvSpPr/>
          <p:nvPr/>
        </p:nvSpPr>
        <p:spPr>
          <a:xfrm>
            <a:off x="1309687" y="3462695"/>
            <a:ext cx="6483310" cy="508159"/>
          </a:xfrm>
          <a:prstGeom prst="rect">
            <a:avLst/>
          </a:prstGeom>
          <a:noFill/>
          <a:ln/>
        </p:spPr>
        <p:txBody>
          <a:bodyPr wrap="square" lIns="0" tIns="0" rIns="0" bIns="0" rtlCol="0" anchor="t"/>
          <a:lstStyle/>
          <a:p>
            <a:pPr algn="l" indent="0" marL="0">
              <a:lnSpc>
                <a:spcPts val="2000"/>
              </a:lnSpc>
              <a:buNone/>
            </a:pPr>
            <a:r>
              <a:rPr lang="en-US" sz="1250" dirty="0">
                <a:solidFill>
                  <a:srgbClr val="272525"/>
                </a:solidFill>
                <a:latin typeface="Inter" pitchFamily="34" charset="0"/>
                <a:ea typeface="Inter" pitchFamily="34" charset="-122"/>
                <a:cs typeface="Inter" pitchFamily="34" charset="-120"/>
              </a:rPr>
              <a:t>The foundation of the Delta is an infinitesimal time step, requiring constant re-balancing.</a:t>
            </a:r>
            <a:endParaRPr lang="en-US" sz="1250" dirty="0"/>
          </a:p>
        </p:txBody>
      </p:sp>
      <p:pic>
        <p:nvPicPr>
          <p:cNvPr id="8" name="Image 1" descr="preencoded.png">    </p:cNvPr>
          <p:cNvPicPr>
            <a:picLocks noChangeAspect="1"/>
          </p:cNvPicPr>
          <p:nvPr/>
        </p:nvPicPr>
        <p:blipFill>
          <a:blip r:embed="R6cbe845dfc44400c">
            <a:extLst>
              <a:ext uri="{96DAC541-7B7A-43D3-8B79-37D633B846F1}">
                <asvg:svgBlip xmlns:asvg="http://schemas.microsoft.com/office/drawing/2016/SVG/main" r:embed="R0fcbcf0710964862"/>
              </a:ext>
            </a:extLst>
          </a:blip>
          <a:stretch>
            <a:fillRect/>
          </a:stretch>
        </p:blipFill>
        <p:spPr>
          <a:xfrm>
            <a:off x="853321" y="4293275"/>
            <a:ext cx="238125" cy="238125"/>
          </a:xfrm>
          <a:prstGeom prst="rect">
            <a:avLst/>
          </a:prstGeom>
        </p:spPr>
      </p:pic>
      <p:sp>
        <p:nvSpPr>
          <p:cNvPr id="9" name="Text 5"/>
          <p:cNvSpPr/>
          <p:nvPr/>
        </p:nvSpPr>
        <p:spPr>
          <a:xfrm>
            <a:off x="1309687" y="4288393"/>
            <a:ext cx="2183130" cy="272891"/>
          </a:xfrm>
          <a:prstGeom prst="rect">
            <a:avLst/>
          </a:prstGeom>
          <a:noFill/>
          <a:ln/>
        </p:spPr>
        <p:txBody>
          <a:bodyPr wrap="none" lIns="0" tIns="0" rIns="0" bIns="0" rtlCol="0" anchor="t"/>
          <a:lstStyle/>
          <a:p>
            <a:pPr algn="l" indent="0" marL="0">
              <a:lnSpc>
                <a:spcPts val="2100"/>
              </a:lnSpc>
              <a:buNone/>
            </a:pPr>
            <a:r>
              <a:rPr lang="en-US" sz="1700" b="1" dirty="0">
                <a:solidFill>
                  <a:srgbClr val="272525"/>
                </a:solidFill>
                <a:latin typeface="Petrona Bold" pitchFamily="34" charset="0"/>
                <a:ea typeface="Petrona Bold" pitchFamily="34" charset="-122"/>
                <a:cs typeface="Petrona Bold" pitchFamily="34" charset="-120"/>
              </a:rPr>
              <a:t>Constant Volatility</a:t>
            </a:r>
            <a:endParaRPr lang="en-US" sz="1700" dirty="0"/>
          </a:p>
        </p:txBody>
      </p:sp>
      <p:sp>
        <p:nvSpPr>
          <p:cNvPr id="10" name="Text 6"/>
          <p:cNvSpPr/>
          <p:nvPr/>
        </p:nvSpPr>
        <p:spPr>
          <a:xfrm>
            <a:off x="1309687" y="4719995"/>
            <a:ext cx="6483310" cy="508159"/>
          </a:xfrm>
          <a:prstGeom prst="rect">
            <a:avLst/>
          </a:prstGeom>
          <a:noFill/>
          <a:ln/>
        </p:spPr>
        <p:txBody>
          <a:bodyPr wrap="square" lIns="0" tIns="0" rIns="0" bIns="0" rtlCol="0" anchor="t"/>
          <a:lstStyle/>
          <a:p>
            <a:pPr algn="l" indent="0" marL="0">
              <a:lnSpc>
                <a:spcPts val="2000"/>
              </a:lnSpc>
              <a:buNone/>
            </a:pPr>
            <a:r>
              <a:rPr lang="en-US" sz="1250" dirty="0">
                <a:solidFill>
                  <a:srgbClr val="272525"/>
                </a:solidFill>
                <a:latin typeface="Inter" pitchFamily="34" charset="0"/>
                <a:ea typeface="Inter" pitchFamily="34" charset="-122"/>
                <a:cs typeface="Inter" pitchFamily="34" charset="-120"/>
              </a:rPr>
              <a:t>Implies the market is stable and predictable, ignoring stochastic volatility processes (like Heston).</a:t>
            </a:r>
            <a:endParaRPr lang="en-US" sz="1250" dirty="0"/>
          </a:p>
        </p:txBody>
      </p:sp>
      <p:pic>
        <p:nvPicPr>
          <p:cNvPr id="11" name="Image 2" descr="preencoded.png">    </p:cNvPr>
          <p:cNvPicPr>
            <a:picLocks noChangeAspect="1"/>
          </p:cNvPicPr>
          <p:nvPr/>
        </p:nvPicPr>
        <p:blipFill>
          <a:blip r:embed="R6cbe845dfc44400c">
            <a:extLst>
              <a:ext uri="{96DAC541-7B7A-43D3-8B79-37D633B846F1}">
                <asvg:svgBlip xmlns:asvg="http://schemas.microsoft.com/office/drawing/2016/SVG/main" r:embed="R0fcbcf0710964862"/>
              </a:ext>
            </a:extLst>
          </a:blip>
          <a:stretch>
            <a:fillRect/>
          </a:stretch>
        </p:blipFill>
        <p:spPr>
          <a:xfrm>
            <a:off x="853321" y="5550575"/>
            <a:ext cx="238125" cy="238125"/>
          </a:xfrm>
          <a:prstGeom prst="rect">
            <a:avLst/>
          </a:prstGeom>
        </p:spPr>
      </p:pic>
      <p:sp>
        <p:nvSpPr>
          <p:cNvPr id="12" name="Text 7"/>
          <p:cNvSpPr/>
          <p:nvPr/>
        </p:nvSpPr>
        <p:spPr>
          <a:xfrm>
            <a:off x="1309687" y="5545693"/>
            <a:ext cx="2314337" cy="272891"/>
          </a:xfrm>
          <a:prstGeom prst="rect">
            <a:avLst/>
          </a:prstGeom>
          <a:noFill/>
          <a:ln/>
        </p:spPr>
        <p:txBody>
          <a:bodyPr wrap="none" lIns="0" tIns="0" rIns="0" bIns="0" rtlCol="0" anchor="t"/>
          <a:lstStyle/>
          <a:p>
            <a:pPr algn="l" indent="0" marL="0">
              <a:lnSpc>
                <a:spcPts val="2100"/>
              </a:lnSpc>
              <a:buNone/>
            </a:pPr>
            <a:r>
              <a:rPr lang="en-US" sz="1700" b="1" dirty="0">
                <a:solidFill>
                  <a:srgbClr val="272525"/>
                </a:solidFill>
                <a:latin typeface="Petrona Bold" pitchFamily="34" charset="0"/>
                <a:ea typeface="Petrona Bold" pitchFamily="34" charset="-122"/>
                <a:cs typeface="Petrona Bold" pitchFamily="34" charset="-120"/>
              </a:rPr>
              <a:t>Zero Transaction Costs</a:t>
            </a:r>
            <a:endParaRPr lang="en-US" sz="1700" dirty="0"/>
          </a:p>
        </p:txBody>
      </p:sp>
      <p:sp>
        <p:nvSpPr>
          <p:cNvPr id="13" name="Text 8"/>
          <p:cNvSpPr/>
          <p:nvPr/>
        </p:nvSpPr>
        <p:spPr>
          <a:xfrm>
            <a:off x="1309687" y="5977295"/>
            <a:ext cx="6483310" cy="254079"/>
          </a:xfrm>
          <a:prstGeom prst="rect">
            <a:avLst/>
          </a:prstGeom>
          <a:noFill/>
          <a:ln/>
        </p:spPr>
        <p:txBody>
          <a:bodyPr wrap="none" lIns="0" tIns="0" rIns="0" bIns="0" rtlCol="0" anchor="t"/>
          <a:lstStyle/>
          <a:p>
            <a:pPr algn="l" indent="0" marL="0">
              <a:lnSpc>
                <a:spcPts val="2000"/>
              </a:lnSpc>
              <a:buNone/>
            </a:pPr>
            <a:r>
              <a:rPr lang="en-US" sz="1250" dirty="0">
                <a:solidFill>
                  <a:srgbClr val="272525"/>
                </a:solidFill>
                <a:latin typeface="Inter" pitchFamily="34" charset="0"/>
                <a:ea typeface="Inter" pitchFamily="34" charset="-122"/>
                <a:cs typeface="Inter" pitchFamily="34" charset="-120"/>
              </a:rPr>
              <a:t>Assumes perfect market execution with no cost to enter or exit a position.</a:t>
            </a:r>
            <a:endParaRPr lang="en-US" sz="1250" dirty="0"/>
          </a:p>
        </p:txBody>
      </p:sp>
      <p:pic>
        <p:nvPicPr>
          <p:cNvPr id="14" name="Image 3" descr="preencoded.png">    </p:cNvPr>
          <p:cNvPicPr>
            <a:picLocks noChangeAspect="1"/>
          </p:cNvPicPr>
          <p:nvPr/>
        </p:nvPicPr>
        <p:blipFill>
          <a:blip r:embed="R6cbe845dfc44400c">
            <a:extLst>
              <a:ext uri="{96DAC541-7B7A-43D3-8B79-37D633B846F1}">
                <asvg:svgBlip xmlns:asvg="http://schemas.microsoft.com/office/drawing/2016/SVG/main" r:embed="R0fcbcf0710964862"/>
              </a:ext>
            </a:extLst>
          </a:blip>
          <a:stretch>
            <a:fillRect/>
          </a:stretch>
        </p:blipFill>
        <p:spPr>
          <a:xfrm>
            <a:off x="853321" y="6553795"/>
            <a:ext cx="238125" cy="238125"/>
          </a:xfrm>
          <a:prstGeom prst="rect">
            <a:avLst/>
          </a:prstGeom>
        </p:spPr>
      </p:pic>
      <p:sp>
        <p:nvSpPr>
          <p:cNvPr id="15" name="Text 9"/>
          <p:cNvSpPr/>
          <p:nvPr/>
        </p:nvSpPr>
        <p:spPr>
          <a:xfrm>
            <a:off x="1309687" y="6548914"/>
            <a:ext cx="2183130" cy="272891"/>
          </a:xfrm>
          <a:prstGeom prst="rect">
            <a:avLst/>
          </a:prstGeom>
          <a:noFill/>
          <a:ln/>
        </p:spPr>
        <p:txBody>
          <a:bodyPr wrap="none" lIns="0" tIns="0" rIns="0" bIns="0" rtlCol="0" anchor="t"/>
          <a:lstStyle/>
          <a:p>
            <a:pPr algn="l" indent="0" marL="0">
              <a:lnSpc>
                <a:spcPts val="2100"/>
              </a:lnSpc>
              <a:buNone/>
            </a:pPr>
            <a:r>
              <a:rPr lang="en-US" sz="1700" b="1" dirty="0">
                <a:solidFill>
                  <a:srgbClr val="272525"/>
                </a:solidFill>
                <a:latin typeface="Petrona Bold" pitchFamily="34" charset="0"/>
                <a:ea typeface="Petrona Bold" pitchFamily="34" charset="-122"/>
                <a:cs typeface="Petrona Bold" pitchFamily="34" charset="-120"/>
              </a:rPr>
              <a:t>Log-Normal Prices</a:t>
            </a:r>
            <a:endParaRPr lang="en-US" sz="1700" dirty="0"/>
          </a:p>
        </p:txBody>
      </p:sp>
      <p:sp>
        <p:nvSpPr>
          <p:cNvPr id="16" name="Text 10"/>
          <p:cNvSpPr/>
          <p:nvPr/>
        </p:nvSpPr>
        <p:spPr>
          <a:xfrm>
            <a:off x="1309687" y="6980515"/>
            <a:ext cx="6483310" cy="254079"/>
          </a:xfrm>
          <a:prstGeom prst="rect">
            <a:avLst/>
          </a:prstGeom>
          <a:noFill/>
          <a:ln/>
        </p:spPr>
        <p:txBody>
          <a:bodyPr wrap="none" lIns="0" tIns="0" rIns="0" bIns="0" rtlCol="0" anchor="t"/>
          <a:lstStyle/>
          <a:p>
            <a:pPr algn="l" indent="0" marL="0">
              <a:lnSpc>
                <a:spcPts val="2000"/>
              </a:lnSpc>
              <a:buNone/>
            </a:pPr>
            <a:r>
              <a:rPr lang="en-US" sz="1250" dirty="0">
                <a:solidFill>
                  <a:srgbClr val="272525"/>
                </a:solidFill>
                <a:latin typeface="Inter" pitchFamily="34" charset="0"/>
                <a:ea typeface="Inter" pitchFamily="34" charset="-122"/>
                <a:cs typeface="Inter" pitchFamily="34" charset="-120"/>
              </a:rPr>
              <a:t>Price evolution is assumed to follow a geometric Brownian motion.</a:t>
            </a:r>
            <a:endParaRPr lang="en-US" sz="1250" dirty="0"/>
          </a:p>
        </p:txBody>
      </p:sp>
      <p:pic>
        <p:nvPicPr>
          <p:cNvPr id="17" name="Image 4" descr="preencoded.png">    </p:cNvPr>
          <p:cNvPicPr>
            <a:picLocks noChangeAspect="1"/>
          </p:cNvPicPr>
          <p:nvPr/>
        </p:nvPicPr>
        <p:blipFill>
          <a:blip r:embed="R0aca9bb116d145ff"/>
          <a:stretch>
            <a:fillRect/>
          </a:stretch>
        </p:blipFill>
        <p:spPr>
          <a:xfrm>
            <a:off x="8187809" y="2544961"/>
            <a:ext cx="3959304" cy="2217182"/>
          </a:xfrm>
          <a:prstGeom prst="rect">
            <a:avLst/>
          </a:prstGeom>
        </p:spPr>
      </p:pic>
      <p:sp>
        <p:nvSpPr>
          <p:cNvPr id="18" name="Text 11"/>
          <p:cNvSpPr/>
          <p:nvPr/>
        </p:nvSpPr>
        <p:spPr>
          <a:xfrm>
            <a:off x="8187809" y="4940737"/>
            <a:ext cx="5656302" cy="762238"/>
          </a:xfrm>
          <a:prstGeom prst="rect">
            <a:avLst/>
          </a:prstGeom>
          <a:noFill/>
          <a:ln/>
        </p:spPr>
        <p:txBody>
          <a:bodyPr wrap="square" lIns="0" tIns="0" rIns="0" bIns="0" rtlCol="0" anchor="t"/>
          <a:lstStyle/>
          <a:p>
            <a:pPr algn="l" indent="0" marL="0">
              <a:lnSpc>
                <a:spcPts val="2000"/>
              </a:lnSpc>
              <a:buNone/>
            </a:pPr>
            <a:r>
              <a:rPr lang="en-US" sz="1250" dirty="0">
                <a:solidFill>
                  <a:srgbClr val="272525"/>
                </a:solidFill>
                <a:latin typeface="Inter" pitchFamily="34" charset="0"/>
                <a:ea typeface="Inter" pitchFamily="34" charset="-122"/>
                <a:cs typeface="Inter" pitchFamily="34" charset="-120"/>
              </a:rPr>
              <a:t>The chart illustrates how real-world discrete hedging dramatically increases losses compared to the theoretical ideal, while Deep Hedging minimizes this gap by adapting to frictions.</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908685"/>
            <a:ext cx="8715494" cy="545663"/>
          </a:xfrm>
          <a:prstGeom prst="rect">
            <a:avLst/>
          </a:prstGeom>
          <a:noFill/>
          <a:ln/>
        </p:spPr>
        <p:txBody>
          <a:bodyPr wrap="none" lIns="0" tIns="0" rIns="0" bIns="0" rtlCol="0" anchor="t"/>
          <a:lstStyle/>
          <a:p>
            <a:pPr algn="l" indent="0" marL="0">
              <a:lnSpc>
                <a:spcPts val="4250"/>
              </a:lnSpc>
              <a:buNone/>
            </a:pPr>
            <a:r>
              <a:rPr lang="en-US" sz="3400" b="1" dirty="0">
                <a:solidFill>
                  <a:srgbClr val="F95F88"/>
                </a:solidFill>
                <a:latin typeface="Petrona Bold" pitchFamily="34" charset="0"/>
                <a:ea typeface="Petrona Bold" pitchFamily="34" charset="-122"/>
                <a:cs typeface="Petrona Bold" pitchFamily="34" charset="-120"/>
              </a:rPr>
              <a:t>Core Objective: The Optimal Hedging Policy</a:t>
            </a:r>
            <a:endParaRPr lang="en-US" sz="3400" dirty="0"/>
          </a:p>
        </p:txBody>
      </p:sp>
      <p:sp>
        <p:nvSpPr>
          <p:cNvPr id="3" name="Text 1"/>
          <p:cNvSpPr/>
          <p:nvPr/>
        </p:nvSpPr>
        <p:spPr>
          <a:xfrm>
            <a:off x="793790" y="1771888"/>
            <a:ext cx="13042821" cy="254079"/>
          </a:xfrm>
          <a:prstGeom prst="rect">
            <a:avLst/>
          </a:prstGeom>
          <a:noFill/>
          <a:ln/>
        </p:spPr>
        <p:txBody>
          <a:bodyPr wrap="none" lIns="0" tIns="0" rIns="0" bIns="0" rtlCol="0" anchor="t"/>
          <a:lstStyle/>
          <a:p>
            <a:pPr algn="l" indent="0" marL="0">
              <a:lnSpc>
                <a:spcPts val="2000"/>
              </a:lnSpc>
              <a:buNone/>
            </a:pPr>
            <a:r>
              <a:rPr lang="en-US" sz="1250" dirty="0">
                <a:solidFill>
                  <a:srgbClr val="272525"/>
                </a:solidFill>
                <a:latin typeface="Inter" pitchFamily="34" charset="0"/>
                <a:ea typeface="Inter" pitchFamily="34" charset="-122"/>
                <a:cs typeface="Inter" pitchFamily="34" charset="-120"/>
              </a:rPr>
              <a:t>The Deep Hedging framework aims to define and compute an optimal hedging policy </a:t>
            </a:r>
            <a:pPr algn="l" indent="0" marL="0">
              <a:lnSpc>
                <a:spcPts val="2000"/>
              </a:lnSpc>
              <a:buNone/>
            </a:pPr>
            <a:r>
              <a:rPr lang="en-US" sz="1250" i="1" dirty="0">
                <a:solidFill>
                  <a:srgbClr val="272525"/>
                </a:solidFill>
                <a:latin typeface="Inter" pitchFamily="34" charset="0"/>
                <a:ea typeface="Inter" pitchFamily="34" charset="-122"/>
                <a:cs typeface="Inter" pitchFamily="34" charset="-120"/>
              </a:rPr>
              <a:t>\delta_t</a:t>
            </a:r>
            <a:pPr algn="l" indent="0" marL="0">
              <a:lnSpc>
                <a:spcPts val="2000"/>
              </a:lnSpc>
              <a:buNone/>
            </a:pPr>
            <a:r>
              <a:rPr lang="en-US" sz="1250" dirty="0">
                <a:solidFill>
                  <a:srgbClr val="272525"/>
                </a:solidFill>
                <a:latin typeface="Inter" pitchFamily="34" charset="0"/>
                <a:ea typeface="Inter" pitchFamily="34" charset="-122"/>
                <a:cs typeface="Inter" pitchFamily="34" charset="-120"/>
              </a:rPr>
              <a:t> that minimizes a user-defined risk measure </a:t>
            </a:r>
            <a:pPr algn="l" indent="0" marL="0">
              <a:lnSpc>
                <a:spcPts val="2000"/>
              </a:lnSpc>
              <a:buNone/>
            </a:pPr>
            <a:r>
              <a:rPr lang="en-US" sz="1250" i="1" dirty="0">
                <a:solidFill>
                  <a:srgbClr val="272525"/>
                </a:solidFill>
                <a:latin typeface="Inter" pitchFamily="34" charset="0"/>
                <a:ea typeface="Inter" pitchFamily="34" charset="-122"/>
                <a:cs typeface="Inter" pitchFamily="34" charset="-120"/>
              </a:rPr>
              <a:t>\rho</a:t>
            </a:r>
            <a:pPr algn="l" indent="0" marL="0">
              <a:lnSpc>
                <a:spcPts val="2000"/>
              </a:lnSpc>
              <a:buNone/>
            </a:pPr>
            <a:r>
              <a:rPr lang="en-US" sz="1250" dirty="0">
                <a:solidFill>
                  <a:srgbClr val="272525"/>
                </a:solidFill>
                <a:latin typeface="Inter" pitchFamily="34" charset="0"/>
                <a:ea typeface="Inter" pitchFamily="34" charset="-122"/>
                <a:cs typeface="Inter" pitchFamily="34" charset="-120"/>
              </a:rPr>
              <a:t> over the final Profit &amp; Loss distribution.</a:t>
            </a:r>
            <a:endParaRPr lang="en-US" sz="1250" dirty="0"/>
          </a:p>
        </p:txBody>
      </p:sp>
      <p:sp>
        <p:nvSpPr>
          <p:cNvPr id="4" name="Shape 2"/>
          <p:cNvSpPr/>
          <p:nvPr/>
        </p:nvSpPr>
        <p:spPr>
          <a:xfrm>
            <a:off x="1031915" y="2601397"/>
            <a:ext cx="6203752" cy="158710"/>
          </a:xfrm>
          <a:prstGeom prst="roundRect">
            <a:avLst>
              <a:gd name="adj" fmla="val 42018"/>
            </a:avLst>
          </a:prstGeom>
          <a:solidFill>
            <a:srgbClr val="E0D7F4"/>
          </a:solidFill>
          <a:ln w="7620">
            <a:solidFill>
              <a:srgbClr val="C6BDDA"/>
            </a:solidFill>
            <a:prstDash val="solid"/>
          </a:ln>
        </p:spPr>
      </p:sp>
      <p:sp>
        <p:nvSpPr>
          <p:cNvPr id="5" name="Shape 3"/>
          <p:cNvSpPr/>
          <p:nvPr/>
        </p:nvSpPr>
        <p:spPr>
          <a:xfrm>
            <a:off x="793790" y="2442686"/>
            <a:ext cx="476250" cy="476250"/>
          </a:xfrm>
          <a:prstGeom prst="roundRect">
            <a:avLst>
              <a:gd name="adj" fmla="val 96000"/>
            </a:avLst>
          </a:prstGeom>
          <a:solidFill>
            <a:srgbClr val="E0D7F4"/>
          </a:solidFill>
          <a:ln w="7620">
            <a:solidFill>
              <a:srgbClr val="C6BDDA"/>
            </a:solidFill>
            <a:prstDash val="solid"/>
          </a:ln>
        </p:spPr>
      </p:sp>
      <p:pic>
        <p:nvPicPr>
          <p:cNvPr id="6" name="Image 0" descr="preencoded.png">    </p:cNvPr>
          <p:cNvPicPr>
            <a:picLocks noChangeAspect="1"/>
          </p:cNvPicPr>
          <p:nvPr/>
        </p:nvPicPr>
        <p:blipFill>
          <a:blip r:embed="R91309cc6552346c0">
            <a:extLst>
              <a:ext uri="{96DAC541-7B7A-43D3-8B79-37D633B846F1}">
                <asvg:svgBlip xmlns:asvg="http://schemas.microsoft.com/office/drawing/2016/SVG/main" r:embed="R0ba45a4f414540b8"/>
              </a:ext>
            </a:extLst>
          </a:blip>
          <a:stretch>
            <a:fillRect/>
          </a:stretch>
        </p:blipFill>
        <p:spPr>
          <a:xfrm>
            <a:off x="912852" y="2561749"/>
            <a:ext cx="238125" cy="238125"/>
          </a:xfrm>
          <a:prstGeom prst="rect">
            <a:avLst/>
          </a:prstGeom>
        </p:spPr>
      </p:pic>
      <p:sp>
        <p:nvSpPr>
          <p:cNvPr id="7" name="Text 4"/>
          <p:cNvSpPr/>
          <p:nvPr/>
        </p:nvSpPr>
        <p:spPr>
          <a:xfrm>
            <a:off x="952500" y="3077647"/>
            <a:ext cx="2183130" cy="272891"/>
          </a:xfrm>
          <a:prstGeom prst="rect">
            <a:avLst/>
          </a:prstGeom>
          <a:noFill/>
          <a:ln/>
        </p:spPr>
        <p:txBody>
          <a:bodyPr wrap="none" lIns="0" tIns="0" rIns="0" bIns="0" rtlCol="0" anchor="t"/>
          <a:lstStyle/>
          <a:p>
            <a:pPr algn="l" indent="0" marL="0">
              <a:lnSpc>
                <a:spcPts val="2100"/>
              </a:lnSpc>
              <a:buNone/>
            </a:pPr>
            <a:r>
              <a:rPr lang="en-US" sz="1700" b="1" dirty="0">
                <a:solidFill>
                  <a:srgbClr val="272525"/>
                </a:solidFill>
                <a:latin typeface="Petrona Bold" pitchFamily="34" charset="0"/>
                <a:ea typeface="Petrona Bold" pitchFamily="34" charset="-122"/>
                <a:cs typeface="Petrona Bold" pitchFamily="34" charset="-120"/>
              </a:rPr>
              <a:t>Market Model Setup</a:t>
            </a:r>
            <a:endParaRPr lang="en-US" sz="1700" dirty="0"/>
          </a:p>
        </p:txBody>
      </p:sp>
      <p:sp>
        <p:nvSpPr>
          <p:cNvPr id="8" name="Text 5"/>
          <p:cNvSpPr/>
          <p:nvPr/>
        </p:nvSpPr>
        <p:spPr>
          <a:xfrm>
            <a:off x="952500" y="3445788"/>
            <a:ext cx="6124575" cy="254079"/>
          </a:xfrm>
          <a:prstGeom prst="rect">
            <a:avLst/>
          </a:prstGeom>
          <a:noFill/>
          <a:ln/>
        </p:spPr>
        <p:txBody>
          <a:bodyPr wrap="none" lIns="0" tIns="0" rIns="0" bIns="0" rtlCol="0" anchor="t"/>
          <a:lstStyle/>
          <a:p>
            <a:pPr algn="l" indent="0" marL="0">
              <a:lnSpc>
                <a:spcPts val="2000"/>
              </a:lnSpc>
              <a:buNone/>
            </a:pPr>
            <a:r>
              <a:rPr lang="en-US" sz="1250" dirty="0">
                <a:solidFill>
                  <a:srgbClr val="272525"/>
                </a:solidFill>
                <a:latin typeface="Inter" pitchFamily="34" charset="0"/>
                <a:ea typeface="Inter" pitchFamily="34" charset="-122"/>
                <a:cs typeface="Inter" pitchFamily="34" charset="-120"/>
              </a:rPr>
              <a:t>Define the stochastic process for tradable assets (Sₜ) and the liability payoff (X).</a:t>
            </a:r>
            <a:endParaRPr lang="en-US" sz="1250" dirty="0"/>
          </a:p>
        </p:txBody>
      </p:sp>
      <p:sp>
        <p:nvSpPr>
          <p:cNvPr id="9" name="Shape 6"/>
          <p:cNvSpPr/>
          <p:nvPr/>
        </p:nvSpPr>
        <p:spPr>
          <a:xfrm>
            <a:off x="7632621" y="2363272"/>
            <a:ext cx="6203871" cy="158710"/>
          </a:xfrm>
          <a:prstGeom prst="roundRect">
            <a:avLst>
              <a:gd name="adj" fmla="val 42018"/>
            </a:avLst>
          </a:prstGeom>
          <a:solidFill>
            <a:srgbClr val="E0D7F4"/>
          </a:solidFill>
          <a:ln w="7620">
            <a:solidFill>
              <a:srgbClr val="C6BDDA"/>
            </a:solidFill>
            <a:prstDash val="solid"/>
          </a:ln>
        </p:spPr>
      </p:sp>
      <p:sp>
        <p:nvSpPr>
          <p:cNvPr id="10" name="Shape 7"/>
          <p:cNvSpPr/>
          <p:nvPr/>
        </p:nvSpPr>
        <p:spPr>
          <a:xfrm>
            <a:off x="7394496" y="2204561"/>
            <a:ext cx="476250" cy="476250"/>
          </a:xfrm>
          <a:prstGeom prst="roundRect">
            <a:avLst>
              <a:gd name="adj" fmla="val 96000"/>
            </a:avLst>
          </a:prstGeom>
          <a:solidFill>
            <a:srgbClr val="E0D7F4"/>
          </a:solidFill>
          <a:ln w="7620">
            <a:solidFill>
              <a:srgbClr val="C6BDDA"/>
            </a:solidFill>
            <a:prstDash val="solid"/>
          </a:ln>
        </p:spPr>
      </p:sp>
      <p:pic>
        <p:nvPicPr>
          <p:cNvPr id="11" name="Image 1" descr="preencoded.png">    </p:cNvPr>
          <p:cNvPicPr>
            <a:picLocks noChangeAspect="1"/>
          </p:cNvPicPr>
          <p:nvPr/>
        </p:nvPicPr>
        <p:blipFill>
          <a:blip r:embed="R91309cc6552346c0">
            <a:extLst>
              <a:ext uri="{96DAC541-7B7A-43D3-8B79-37D633B846F1}">
                <asvg:svgBlip xmlns:asvg="http://schemas.microsoft.com/office/drawing/2016/SVG/main" r:embed="R43b3601c8e98402c"/>
              </a:ext>
            </a:extLst>
          </a:blip>
          <a:stretch>
            <a:fillRect/>
          </a:stretch>
        </p:blipFill>
        <p:spPr>
          <a:xfrm>
            <a:off x="7513558" y="2323624"/>
            <a:ext cx="238125" cy="238125"/>
          </a:xfrm>
          <a:prstGeom prst="rect">
            <a:avLst/>
          </a:prstGeom>
        </p:spPr>
      </p:pic>
      <p:sp>
        <p:nvSpPr>
          <p:cNvPr id="12" name="Text 8"/>
          <p:cNvSpPr/>
          <p:nvPr/>
        </p:nvSpPr>
        <p:spPr>
          <a:xfrm>
            <a:off x="7553206" y="2839522"/>
            <a:ext cx="2237423" cy="272891"/>
          </a:xfrm>
          <a:prstGeom prst="rect">
            <a:avLst/>
          </a:prstGeom>
          <a:noFill/>
          <a:ln/>
        </p:spPr>
        <p:txBody>
          <a:bodyPr wrap="none" lIns="0" tIns="0" rIns="0" bIns="0" rtlCol="0" anchor="t"/>
          <a:lstStyle/>
          <a:p>
            <a:pPr algn="l" indent="0" marL="0">
              <a:lnSpc>
                <a:spcPts val="2100"/>
              </a:lnSpc>
              <a:buNone/>
            </a:pPr>
            <a:r>
              <a:rPr lang="en-US" sz="1700" b="1" dirty="0">
                <a:solidFill>
                  <a:srgbClr val="272525"/>
                </a:solidFill>
                <a:latin typeface="Petrona Bold" pitchFamily="34" charset="0"/>
                <a:ea typeface="Petrona Bold" pitchFamily="34" charset="-122"/>
                <a:cs typeface="Petrona Bold" pitchFamily="34" charset="-120"/>
              </a:rPr>
              <a:t>Convex Risk Measures</a:t>
            </a:r>
            <a:endParaRPr lang="en-US" sz="1700" dirty="0"/>
          </a:p>
        </p:txBody>
      </p:sp>
      <p:sp>
        <p:nvSpPr>
          <p:cNvPr id="13" name="Text 9"/>
          <p:cNvSpPr/>
          <p:nvPr/>
        </p:nvSpPr>
        <p:spPr>
          <a:xfrm>
            <a:off x="7553206" y="3207663"/>
            <a:ext cx="6124694" cy="508159"/>
          </a:xfrm>
          <a:prstGeom prst="rect">
            <a:avLst/>
          </a:prstGeom>
          <a:noFill/>
          <a:ln/>
        </p:spPr>
        <p:txBody>
          <a:bodyPr wrap="square" lIns="0" tIns="0" rIns="0" bIns="0" rtlCol="0" anchor="t"/>
          <a:lstStyle/>
          <a:p>
            <a:pPr algn="l" indent="0" marL="0">
              <a:lnSpc>
                <a:spcPts val="2000"/>
              </a:lnSpc>
              <a:buNone/>
            </a:pPr>
            <a:r>
              <a:rPr lang="en-US" sz="1250" dirty="0">
                <a:solidFill>
                  <a:srgbClr val="272525"/>
                </a:solidFill>
                <a:latin typeface="Inter" pitchFamily="34" charset="0"/>
                <a:ea typeface="Inter" pitchFamily="34" charset="-122"/>
                <a:cs typeface="Inter" pitchFamily="34" charset="-120"/>
              </a:rPr>
              <a:t>Select a robust risk measure (</a:t>
            </a:r>
            <a:pPr algn="l" indent="0" marL="0">
              <a:lnSpc>
                <a:spcPts val="2000"/>
              </a:lnSpc>
              <a:buNone/>
            </a:pPr>
            <a:r>
              <a:rPr lang="en-US" sz="1250" i="1" dirty="0">
                <a:solidFill>
                  <a:srgbClr val="272525"/>
                </a:solidFill>
                <a:latin typeface="Inter" pitchFamily="34" charset="0"/>
                <a:ea typeface="Inter" pitchFamily="34" charset="-122"/>
                <a:cs typeface="Inter" pitchFamily="34" charset="-120"/>
              </a:rPr>
              <a:t>\rho</a:t>
            </a:r>
            <a:pPr algn="l" indent="0" marL="0">
              <a:lnSpc>
                <a:spcPts val="2000"/>
              </a:lnSpc>
              <a:buNone/>
            </a:pPr>
            <a:r>
              <a:rPr lang="en-US" sz="1250" dirty="0">
                <a:solidFill>
                  <a:srgbClr val="272525"/>
                </a:solidFill>
                <a:latin typeface="Inter" pitchFamily="34" charset="0"/>
                <a:ea typeface="Inter" pitchFamily="34" charset="-122"/>
                <a:cs typeface="Inter" pitchFamily="34" charset="-120"/>
              </a:rPr>
              <a:t>), such as Conditional Value at Risk (CVaR) or Entropic Risk, to focus on tail losses.</a:t>
            </a:r>
            <a:endParaRPr lang="en-US" sz="1250" dirty="0"/>
          </a:p>
        </p:txBody>
      </p:sp>
      <p:sp>
        <p:nvSpPr>
          <p:cNvPr id="14" name="Shape 10"/>
          <p:cNvSpPr/>
          <p:nvPr/>
        </p:nvSpPr>
        <p:spPr>
          <a:xfrm>
            <a:off x="1031915" y="4430078"/>
            <a:ext cx="6203752" cy="158710"/>
          </a:xfrm>
          <a:prstGeom prst="roundRect">
            <a:avLst>
              <a:gd name="adj" fmla="val 42018"/>
            </a:avLst>
          </a:prstGeom>
          <a:solidFill>
            <a:srgbClr val="E0D7F4"/>
          </a:solidFill>
          <a:ln w="7620">
            <a:solidFill>
              <a:srgbClr val="C6BDDA"/>
            </a:solidFill>
            <a:prstDash val="solid"/>
          </a:ln>
        </p:spPr>
      </p:sp>
      <p:sp>
        <p:nvSpPr>
          <p:cNvPr id="15" name="Shape 11"/>
          <p:cNvSpPr/>
          <p:nvPr/>
        </p:nvSpPr>
        <p:spPr>
          <a:xfrm>
            <a:off x="793790" y="4271367"/>
            <a:ext cx="476250" cy="476250"/>
          </a:xfrm>
          <a:prstGeom prst="roundRect">
            <a:avLst>
              <a:gd name="adj" fmla="val 96000"/>
            </a:avLst>
          </a:prstGeom>
          <a:solidFill>
            <a:srgbClr val="E0D7F4"/>
          </a:solidFill>
          <a:ln w="7620">
            <a:solidFill>
              <a:srgbClr val="C6BDDA"/>
            </a:solidFill>
            <a:prstDash val="solid"/>
          </a:ln>
        </p:spPr>
      </p:sp>
      <p:pic>
        <p:nvPicPr>
          <p:cNvPr id="16" name="Image 2" descr="preencoded.png">    </p:cNvPr>
          <p:cNvPicPr>
            <a:picLocks noChangeAspect="1"/>
          </p:cNvPicPr>
          <p:nvPr/>
        </p:nvPicPr>
        <p:blipFill>
          <a:blip r:embed="R91309cc6552346c0">
            <a:extLst>
              <a:ext uri="{96DAC541-7B7A-43D3-8B79-37D633B846F1}">
                <asvg:svgBlip xmlns:asvg="http://schemas.microsoft.com/office/drawing/2016/SVG/main" r:embed="Rc97199f7565b47f1"/>
              </a:ext>
            </a:extLst>
          </a:blip>
          <a:stretch>
            <a:fillRect/>
          </a:stretch>
        </p:blipFill>
        <p:spPr>
          <a:xfrm>
            <a:off x="912852" y="4390430"/>
            <a:ext cx="238125" cy="238125"/>
          </a:xfrm>
          <a:prstGeom prst="rect">
            <a:avLst/>
          </a:prstGeom>
        </p:spPr>
      </p:pic>
      <p:sp>
        <p:nvSpPr>
          <p:cNvPr id="17" name="Text 12"/>
          <p:cNvSpPr/>
          <p:nvPr/>
        </p:nvSpPr>
        <p:spPr>
          <a:xfrm>
            <a:off x="952500" y="4906328"/>
            <a:ext cx="2297311" cy="272891"/>
          </a:xfrm>
          <a:prstGeom prst="rect">
            <a:avLst/>
          </a:prstGeom>
          <a:noFill/>
          <a:ln/>
        </p:spPr>
        <p:txBody>
          <a:bodyPr wrap="none" lIns="0" tIns="0" rIns="0" bIns="0" rtlCol="0" anchor="t"/>
          <a:lstStyle/>
          <a:p>
            <a:pPr algn="l" indent="0" marL="0">
              <a:lnSpc>
                <a:spcPts val="2100"/>
              </a:lnSpc>
              <a:buNone/>
            </a:pPr>
            <a:r>
              <a:rPr lang="en-US" sz="1700" b="1" dirty="0">
                <a:solidFill>
                  <a:srgbClr val="272525"/>
                </a:solidFill>
                <a:latin typeface="Petrona Bold" pitchFamily="34" charset="0"/>
                <a:ea typeface="Petrona Bold" pitchFamily="34" charset="-122"/>
                <a:cs typeface="Petrona Bold" pitchFamily="34" charset="-120"/>
              </a:rPr>
              <a:t>Neural Policy Learning</a:t>
            </a:r>
            <a:endParaRPr lang="en-US" sz="1700" dirty="0"/>
          </a:p>
        </p:txBody>
      </p:sp>
      <p:sp>
        <p:nvSpPr>
          <p:cNvPr id="18" name="Text 13"/>
          <p:cNvSpPr/>
          <p:nvPr/>
        </p:nvSpPr>
        <p:spPr>
          <a:xfrm>
            <a:off x="952500" y="5274469"/>
            <a:ext cx="6124575" cy="508159"/>
          </a:xfrm>
          <a:prstGeom prst="rect">
            <a:avLst/>
          </a:prstGeom>
          <a:noFill/>
          <a:ln/>
        </p:spPr>
        <p:txBody>
          <a:bodyPr wrap="square" lIns="0" tIns="0" rIns="0" bIns="0" rtlCol="0" anchor="t"/>
          <a:lstStyle/>
          <a:p>
            <a:pPr algn="l" indent="0" marL="0">
              <a:lnSpc>
                <a:spcPts val="2000"/>
              </a:lnSpc>
              <a:buNone/>
            </a:pPr>
            <a:r>
              <a:rPr lang="en-US" sz="1250" dirty="0">
                <a:solidFill>
                  <a:srgbClr val="272525"/>
                </a:solidFill>
                <a:latin typeface="Inter" pitchFamily="34" charset="0"/>
                <a:ea typeface="Inter" pitchFamily="34" charset="-122"/>
                <a:cs typeface="Inter" pitchFamily="34" charset="-120"/>
              </a:rPr>
              <a:t>Train the network to output the optimal hedge ratio based on market features and previous actions.</a:t>
            </a:r>
            <a:endParaRPr lang="en-US" sz="1250" dirty="0"/>
          </a:p>
        </p:txBody>
      </p:sp>
      <p:sp>
        <p:nvSpPr>
          <p:cNvPr id="19" name="Shape 14"/>
          <p:cNvSpPr/>
          <p:nvPr/>
        </p:nvSpPr>
        <p:spPr>
          <a:xfrm>
            <a:off x="7632621" y="4191953"/>
            <a:ext cx="6203871" cy="158710"/>
          </a:xfrm>
          <a:prstGeom prst="roundRect">
            <a:avLst>
              <a:gd name="adj" fmla="val 42018"/>
            </a:avLst>
          </a:prstGeom>
          <a:solidFill>
            <a:srgbClr val="E0D7F4"/>
          </a:solidFill>
          <a:ln w="7620">
            <a:solidFill>
              <a:srgbClr val="C6BDDA"/>
            </a:solidFill>
            <a:prstDash val="solid"/>
          </a:ln>
        </p:spPr>
      </p:sp>
      <p:sp>
        <p:nvSpPr>
          <p:cNvPr id="20" name="Shape 15"/>
          <p:cNvSpPr/>
          <p:nvPr/>
        </p:nvSpPr>
        <p:spPr>
          <a:xfrm>
            <a:off x="7394496" y="4033242"/>
            <a:ext cx="476250" cy="476250"/>
          </a:xfrm>
          <a:prstGeom prst="roundRect">
            <a:avLst>
              <a:gd name="adj" fmla="val 96000"/>
            </a:avLst>
          </a:prstGeom>
          <a:solidFill>
            <a:srgbClr val="E0D7F4"/>
          </a:solidFill>
          <a:ln w="7620">
            <a:solidFill>
              <a:srgbClr val="C6BDDA"/>
            </a:solidFill>
            <a:prstDash val="solid"/>
          </a:ln>
        </p:spPr>
      </p:sp>
      <p:pic>
        <p:nvPicPr>
          <p:cNvPr id="21" name="Image 3" descr="preencoded.png">    </p:cNvPr>
          <p:cNvPicPr>
            <a:picLocks noChangeAspect="1"/>
          </p:cNvPicPr>
          <p:nvPr/>
        </p:nvPicPr>
        <p:blipFill>
          <a:blip r:embed="R91309cc6552346c0">
            <a:extLst>
              <a:ext uri="{96DAC541-7B7A-43D3-8B79-37D633B846F1}">
                <asvg:svgBlip xmlns:asvg="http://schemas.microsoft.com/office/drawing/2016/SVG/main" r:embed="R0f317e3d58cf45f1"/>
              </a:ext>
            </a:extLst>
          </a:blip>
          <a:stretch>
            <a:fillRect/>
          </a:stretch>
        </p:blipFill>
        <p:spPr>
          <a:xfrm>
            <a:off x="7513558" y="4152305"/>
            <a:ext cx="238125" cy="238125"/>
          </a:xfrm>
          <a:prstGeom prst="rect">
            <a:avLst/>
          </a:prstGeom>
        </p:spPr>
      </p:pic>
      <p:sp>
        <p:nvSpPr>
          <p:cNvPr id="22" name="Text 16"/>
          <p:cNvSpPr/>
          <p:nvPr/>
        </p:nvSpPr>
        <p:spPr>
          <a:xfrm>
            <a:off x="7553206" y="4668203"/>
            <a:ext cx="2463165" cy="272891"/>
          </a:xfrm>
          <a:prstGeom prst="rect">
            <a:avLst/>
          </a:prstGeom>
          <a:noFill/>
          <a:ln/>
        </p:spPr>
        <p:txBody>
          <a:bodyPr wrap="none" lIns="0" tIns="0" rIns="0" bIns="0" rtlCol="0" anchor="t"/>
          <a:lstStyle/>
          <a:p>
            <a:pPr algn="l" indent="0" marL="0">
              <a:lnSpc>
                <a:spcPts val="2100"/>
              </a:lnSpc>
              <a:buNone/>
            </a:pPr>
            <a:r>
              <a:rPr lang="en-US" sz="1700" b="1" dirty="0">
                <a:solidFill>
                  <a:srgbClr val="272525"/>
                </a:solidFill>
                <a:latin typeface="Petrona Bold" pitchFamily="34" charset="0"/>
                <a:ea typeface="Petrona Bold" pitchFamily="34" charset="-122"/>
                <a:cs typeface="Petrona Bold" pitchFamily="34" charset="-120"/>
              </a:rPr>
              <a:t>Experimental Validation</a:t>
            </a:r>
            <a:endParaRPr lang="en-US" sz="1700" dirty="0"/>
          </a:p>
        </p:txBody>
      </p:sp>
      <p:sp>
        <p:nvSpPr>
          <p:cNvPr id="23" name="Text 17"/>
          <p:cNvSpPr/>
          <p:nvPr/>
        </p:nvSpPr>
        <p:spPr>
          <a:xfrm>
            <a:off x="7553206" y="5036344"/>
            <a:ext cx="6124694" cy="508159"/>
          </a:xfrm>
          <a:prstGeom prst="rect">
            <a:avLst/>
          </a:prstGeom>
          <a:noFill/>
          <a:ln/>
        </p:spPr>
        <p:txBody>
          <a:bodyPr wrap="square" lIns="0" tIns="0" rIns="0" bIns="0" rtlCol="0" anchor="t"/>
          <a:lstStyle/>
          <a:p>
            <a:pPr algn="l" indent="0" marL="0">
              <a:lnSpc>
                <a:spcPts val="2000"/>
              </a:lnSpc>
              <a:buNone/>
            </a:pPr>
            <a:r>
              <a:rPr lang="en-US" sz="1250" dirty="0">
                <a:solidFill>
                  <a:srgbClr val="272525"/>
                </a:solidFill>
                <a:latin typeface="Inter" pitchFamily="34" charset="0"/>
                <a:ea typeface="Inter" pitchFamily="34" charset="-122"/>
                <a:cs typeface="Inter" pitchFamily="34" charset="-120"/>
              </a:rPr>
              <a:t>Conduct rigorous simulation experiments, particularly using the Heston model for stochastic volatility.</a:t>
            </a:r>
            <a:endParaRPr lang="en-US" sz="1250" dirty="0"/>
          </a:p>
        </p:txBody>
      </p:sp>
      <p:sp>
        <p:nvSpPr>
          <p:cNvPr id="24" name="Text 18"/>
          <p:cNvSpPr/>
          <p:nvPr/>
        </p:nvSpPr>
        <p:spPr>
          <a:xfrm>
            <a:off x="1031915" y="6320790"/>
            <a:ext cx="12804696" cy="366593"/>
          </a:xfrm>
          <a:prstGeom prst="rect">
            <a:avLst/>
          </a:prstGeom>
          <a:noFill/>
          <a:ln/>
        </p:spPr>
        <p:txBody>
          <a:bodyPr wrap="none" lIns="0" tIns="0" rIns="0" bIns="0" rtlCol="0" anchor="t"/>
          <a:lstStyle/>
          <a:p>
            <a:pPr algn="l" indent="0" marL="0">
              <a:lnSpc>
                <a:spcPts val="2250"/>
              </a:lnSpc>
              <a:buNone/>
            </a:pPr>
            <a:endParaRPr lang="en-US" sz="1400" dirty="0"/>
          </a:p>
        </p:txBody>
      </p:sp>
      <p:pic>
        <p:nvPicPr>
          <p:cNvPr id="25" name="Image 4" descr="preencoded.png">    </p:cNvPr>
          <p:cNvPicPr>
            <a:picLocks noChangeAspect="1"/>
          </p:cNvPicPr>
          <p:nvPr/>
        </p:nvPicPr>
        <p:blipFill>
          <a:blip r:embed="R5998bf01fe1140db"/>
          <a:stretch>
            <a:fillRect/>
          </a:stretch>
        </p:blipFill>
        <p:spPr>
          <a:xfrm>
            <a:off x="1031915" y="6320790"/>
            <a:ext cx="12804696" cy="366593"/>
          </a:xfrm>
          <a:prstGeom prst="rect">
            <a:avLst/>
          </a:prstGeom>
        </p:spPr>
      </p:pic>
      <p:sp>
        <p:nvSpPr>
          <p:cNvPr id="26" name="Text 19"/>
          <p:cNvSpPr/>
          <p:nvPr/>
        </p:nvSpPr>
        <p:spPr>
          <a:xfrm>
            <a:off x="1031915" y="6888242"/>
            <a:ext cx="12804696" cy="254079"/>
          </a:xfrm>
          <a:prstGeom prst="rect">
            <a:avLst/>
          </a:prstGeom>
          <a:noFill/>
          <a:ln/>
        </p:spPr>
        <p:txBody>
          <a:bodyPr wrap="none" lIns="0" tIns="0" rIns="0" bIns="0" rtlCol="0" anchor="t"/>
          <a:lstStyle/>
          <a:p>
            <a:pPr algn="l" indent="0" marL="0">
              <a:lnSpc>
                <a:spcPts val="2000"/>
              </a:lnSpc>
              <a:buNone/>
            </a:pPr>
            <a:r>
              <a:rPr lang="en-US" sz="1250" dirty="0">
                <a:solidFill>
                  <a:srgbClr val="272525"/>
                </a:solidFill>
                <a:latin typeface="Inter" pitchFamily="34" charset="0"/>
                <a:ea typeface="Inter" pitchFamily="34" charset="-122"/>
                <a:cs typeface="Inter" pitchFamily="34" charset="-120"/>
              </a:rPr>
              <a:t>The objective is to find the policy </a:t>
            </a:r>
            <a:pPr algn="l" indent="0" marL="0">
              <a:lnSpc>
                <a:spcPts val="2000"/>
              </a:lnSpc>
              <a:buNone/>
            </a:pPr>
            <a:r>
              <a:rPr lang="en-US" sz="1250" i="1" dirty="0">
                <a:solidFill>
                  <a:srgbClr val="272525"/>
                </a:solidFill>
                <a:latin typeface="Inter" pitchFamily="34" charset="0"/>
                <a:ea typeface="Inter" pitchFamily="34" charset="-122"/>
                <a:cs typeface="Inter" pitchFamily="34" charset="-120"/>
              </a:rPr>
              <a:t>\delta</a:t>
            </a:r>
            <a:pPr algn="l" indent="0" marL="0">
              <a:lnSpc>
                <a:spcPts val="2000"/>
              </a:lnSpc>
              <a:buNone/>
            </a:pPr>
            <a:r>
              <a:rPr lang="en-US" sz="1250" dirty="0">
                <a:solidFill>
                  <a:srgbClr val="272525"/>
                </a:solidFill>
                <a:latin typeface="Inter" pitchFamily="34" charset="0"/>
                <a:ea typeface="Inter" pitchFamily="34" charset="-122"/>
                <a:cs typeface="Inter" pitchFamily="34" charset="-120"/>
              </a:rPr>
              <a:t> that minimizes the risk </a:t>
            </a:r>
            <a:pPr algn="l" indent="0" marL="0">
              <a:lnSpc>
                <a:spcPts val="2000"/>
              </a:lnSpc>
              <a:buNone/>
            </a:pPr>
            <a:r>
              <a:rPr lang="en-US" sz="1250" i="1" dirty="0">
                <a:solidFill>
                  <a:srgbClr val="272525"/>
                </a:solidFill>
                <a:latin typeface="Inter" pitchFamily="34" charset="0"/>
                <a:ea typeface="Inter" pitchFamily="34" charset="-122"/>
                <a:cs typeface="Inter" pitchFamily="34" charset="-120"/>
              </a:rPr>
              <a:t>\rho</a:t>
            </a:r>
            <a:pPr algn="l" indent="0" marL="0">
              <a:lnSpc>
                <a:spcPts val="2000"/>
              </a:lnSpc>
              <a:buNone/>
            </a:pPr>
            <a:r>
              <a:rPr lang="en-US" sz="1250" dirty="0">
                <a:solidFill>
                  <a:srgbClr val="272525"/>
                </a:solidFill>
                <a:latin typeface="Inter" pitchFamily="34" charset="0"/>
                <a:ea typeface="Inter" pitchFamily="34" charset="-122"/>
                <a:cs typeface="Inter" pitchFamily="34" charset="-120"/>
              </a:rPr>
              <a:t> of the final P&amp;L, considering the liability </a:t>
            </a:r>
            <a:pPr algn="l" indent="0" marL="0">
              <a:lnSpc>
                <a:spcPts val="2000"/>
              </a:lnSpc>
              <a:buNone/>
            </a:pPr>
            <a:r>
              <a:rPr lang="en-US" sz="1250" i="1" dirty="0">
                <a:solidFill>
                  <a:srgbClr val="272525"/>
                </a:solidFill>
                <a:latin typeface="Inter" pitchFamily="34" charset="0"/>
                <a:ea typeface="Inter" pitchFamily="34" charset="-122"/>
                <a:cs typeface="Inter" pitchFamily="34" charset="-120"/>
              </a:rPr>
              <a:t>X</a:t>
            </a:r>
            <a:pPr algn="l" indent="0" marL="0">
              <a:lnSpc>
                <a:spcPts val="2000"/>
              </a:lnSpc>
              <a:buNone/>
            </a:pPr>
            <a:r>
              <a:rPr lang="en-US" sz="1250" dirty="0">
                <a:solidFill>
                  <a:srgbClr val="272525"/>
                </a:solidFill>
                <a:latin typeface="Inter" pitchFamily="34" charset="0"/>
                <a:ea typeface="Inter" pitchFamily="34" charset="-122"/>
                <a:cs typeface="Inter" pitchFamily="34" charset="-120"/>
              </a:rPr>
              <a:t>, asset value </a:t>
            </a:r>
            <a:pPr algn="l" indent="0" marL="0">
              <a:lnSpc>
                <a:spcPts val="2000"/>
              </a:lnSpc>
              <a:buNone/>
            </a:pPr>
            <a:r>
              <a:rPr lang="en-US" sz="1250" i="1" dirty="0">
                <a:solidFill>
                  <a:srgbClr val="272525"/>
                </a:solidFill>
                <a:latin typeface="Inter" pitchFamily="34" charset="0"/>
                <a:ea typeface="Inter" pitchFamily="34" charset="-122"/>
                <a:cs typeface="Inter" pitchFamily="34" charset="-120"/>
              </a:rPr>
              <a:t>S</a:t>
            </a:r>
            <a:pPr algn="l" indent="0" marL="0">
              <a:lnSpc>
                <a:spcPts val="2000"/>
              </a:lnSpc>
              <a:buNone/>
            </a:pPr>
            <a:r>
              <a:rPr lang="en-US" sz="1250" dirty="0">
                <a:solidFill>
                  <a:srgbClr val="272525"/>
                </a:solidFill>
                <a:latin typeface="Inter" pitchFamily="34" charset="0"/>
                <a:ea typeface="Inter" pitchFamily="34" charset="-122"/>
                <a:cs typeface="Inter" pitchFamily="34" charset="-120"/>
              </a:rPr>
              <a:t>, and cumulative transaction costs </a:t>
            </a:r>
            <a:pPr algn="l" indent="0" marL="0">
              <a:lnSpc>
                <a:spcPts val="2000"/>
              </a:lnSpc>
              <a:buNone/>
            </a:pPr>
            <a:r>
              <a:rPr lang="en-US" sz="1250" i="1" dirty="0">
                <a:solidFill>
                  <a:srgbClr val="272525"/>
                </a:solidFill>
                <a:latin typeface="Inter" pitchFamily="34" charset="0"/>
                <a:ea typeface="Inter" pitchFamily="34" charset="-122"/>
                <a:cs typeface="Inter" pitchFamily="34" charset="-120"/>
              </a:rPr>
              <a:t>C</a:t>
            </a:r>
            <a:pPr algn="l" indent="0" marL="0">
              <a:lnSpc>
                <a:spcPts val="2000"/>
              </a:lnSpc>
              <a:buNone/>
            </a:pPr>
            <a:r>
              <a:rPr lang="en-US" sz="1250" dirty="0">
                <a:solidFill>
                  <a:srgbClr val="272525"/>
                </a:solidFill>
                <a:latin typeface="Inter" pitchFamily="34" charset="0"/>
                <a:ea typeface="Inter" pitchFamily="34" charset="-122"/>
                <a:cs typeface="Inter" pitchFamily="34" charset="-120"/>
              </a:rPr>
              <a:t>.</a:t>
            </a:r>
            <a:endParaRPr lang="en-US" sz="1250" dirty="0"/>
          </a:p>
        </p:txBody>
      </p:sp>
      <p:sp>
        <p:nvSpPr>
          <p:cNvPr id="27" name="Shape 20"/>
          <p:cNvSpPr/>
          <p:nvPr/>
        </p:nvSpPr>
        <p:spPr>
          <a:xfrm>
            <a:off x="793790" y="6119932"/>
            <a:ext cx="22860" cy="1200983"/>
          </a:xfrm>
          <a:prstGeom prst="rect">
            <a:avLst/>
          </a:prstGeom>
          <a:solidFill>
            <a:srgbClr val="6237C8"/>
          </a:solidFill>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93420" y="544830"/>
            <a:ext cx="6995517" cy="442674"/>
          </a:xfrm>
          <a:prstGeom prst="rect">
            <a:avLst/>
          </a:prstGeom>
          <a:noFill/>
          <a:ln/>
        </p:spPr>
        <p:txBody>
          <a:bodyPr wrap="none" lIns="0" tIns="0" rIns="0" bIns="0" rtlCol="0" anchor="t"/>
          <a:lstStyle/>
          <a:p>
            <a:pPr algn="l" indent="0" marL="0">
              <a:lnSpc>
                <a:spcPts val="3450"/>
              </a:lnSpc>
              <a:buNone/>
            </a:pPr>
            <a:r>
              <a:rPr lang="en-US" sz="2750" b="1" dirty="0">
                <a:solidFill>
                  <a:srgbClr val="F95F88"/>
                </a:solidFill>
                <a:latin typeface="Petrona Bold" pitchFamily="34" charset="0"/>
                <a:ea typeface="Petrona Bold" pitchFamily="34" charset="-122"/>
                <a:cs typeface="Petrona Bold" pitchFamily="34" charset="-120"/>
              </a:rPr>
              <a:t>Architecture for the Deep Hedging Pipeline</a:t>
            </a:r>
            <a:endParaRPr lang="en-US" sz="2750" dirty="0"/>
          </a:p>
        </p:txBody>
      </p:sp>
      <p:sp>
        <p:nvSpPr>
          <p:cNvPr id="3" name="Text 1"/>
          <p:cNvSpPr/>
          <p:nvPr/>
        </p:nvSpPr>
        <p:spPr>
          <a:xfrm>
            <a:off x="693420" y="1245037"/>
            <a:ext cx="13243560" cy="206097"/>
          </a:xfrm>
          <a:prstGeom prst="rect">
            <a:avLst/>
          </a:prstGeom>
          <a:noFill/>
          <a:ln/>
        </p:spPr>
        <p:txBody>
          <a:bodyPr wrap="none" lIns="0" tIns="0" rIns="0" bIns="0" rtlCol="0" anchor="t"/>
          <a:lstStyle/>
          <a:p>
            <a:pPr algn="l" indent="0" marL="0">
              <a:lnSpc>
                <a:spcPts val="1600"/>
              </a:lnSpc>
              <a:buNone/>
            </a:pPr>
            <a:r>
              <a:rPr lang="en-US" sz="1000" dirty="0">
                <a:solidFill>
                  <a:srgbClr val="272525"/>
                </a:solidFill>
                <a:latin typeface="Inter" pitchFamily="34" charset="0"/>
                <a:ea typeface="Inter" pitchFamily="34" charset="-122"/>
                <a:cs typeface="Inter" pitchFamily="34" charset="-120"/>
              </a:rPr>
              <a:t>The system is structured into four distinct layers, each handling a specific part of the simulation, learning, and evaluation process.</a:t>
            </a:r>
            <a:endParaRPr lang="en-US" sz="1000" dirty="0"/>
          </a:p>
        </p:txBody>
      </p:sp>
      <p:pic>
        <p:nvPicPr>
          <p:cNvPr id="4" name="Image 0" descr="preencoded.png">    </p:cNvPr>
          <p:cNvPicPr>
            <a:picLocks noChangeAspect="1"/>
          </p:cNvPicPr>
          <p:nvPr/>
        </p:nvPicPr>
        <p:blipFill>
          <a:blip r:embed="R0646dd3553e64e3f"/>
          <a:stretch>
            <a:fillRect/>
          </a:stretch>
        </p:blipFill>
        <p:spPr>
          <a:xfrm>
            <a:off x="3161228" y="1595914"/>
            <a:ext cx="8307943" cy="4060984"/>
          </a:xfrm>
          <a:prstGeom prst="rect">
            <a:avLst/>
          </a:prstGeom>
        </p:spPr>
      </p:pic>
      <p:pic>
        <p:nvPicPr>
          <p:cNvPr id="5" name="Image 1" descr="preencoded.png">    </p:cNvPr>
          <p:cNvPicPr>
            <a:picLocks noChangeAspect="1"/>
          </p:cNvPicPr>
          <p:nvPr/>
        </p:nvPicPr>
        <p:blipFill>
          <a:blip r:embed="Rd9d896077c32412c">
            <a:extLst>
              <a:ext uri="{96DAC541-7B7A-43D3-8B79-37D633B846F1}">
                <asvg:svgBlip xmlns:asvg="http://schemas.microsoft.com/office/drawing/2016/SVG/main" r:embed="Rb796364e5f06459e"/>
              </a:ext>
            </a:extLst>
          </a:blip>
          <a:stretch>
            <a:fillRect/>
          </a:stretch>
        </p:blipFill>
        <p:spPr>
          <a:xfrm>
            <a:off x="6781508" y="2550377"/>
            <a:ext cx="301287" cy="301287"/>
          </a:xfrm>
          <a:prstGeom prst="rect">
            <a:avLst/>
          </a:prstGeom>
        </p:spPr>
      </p:pic>
      <p:sp>
        <p:nvSpPr>
          <p:cNvPr id="6" name="Text 2"/>
          <p:cNvSpPr/>
          <p:nvPr/>
        </p:nvSpPr>
        <p:spPr>
          <a:xfrm>
            <a:off x="3693314" y="2981057"/>
            <a:ext cx="2130531" cy="266316"/>
          </a:xfrm>
          <a:prstGeom prst="rect">
            <a:avLst/>
          </a:prstGeom>
          <a:noFill/>
          <a:ln/>
        </p:spPr>
        <p:txBody>
          <a:bodyPr wrap="none" lIns="0" tIns="0" rIns="0" bIns="0" rtlCol="0" anchor="t"/>
          <a:lstStyle/>
          <a:p>
            <a:pPr algn="ctr" indent="0" marL="0">
              <a:lnSpc>
                <a:spcPts val="1850"/>
              </a:lnSpc>
              <a:buNone/>
            </a:pPr>
            <a:r>
              <a:rPr lang="en-US" sz="1450" b="1" dirty="0">
                <a:solidFill>
                  <a:srgbClr val="272525"/>
                </a:solidFill>
                <a:latin typeface="Petrona Bold" pitchFamily="34" charset="0"/>
                <a:ea typeface="Petrona Bold" pitchFamily="34" charset="-122"/>
                <a:cs typeface="Petrona Bold" pitchFamily="34" charset="-120"/>
              </a:rPr>
              <a:t>Market Layer</a:t>
            </a:r>
            <a:endParaRPr lang="en-US" sz="1450" dirty="0"/>
          </a:p>
        </p:txBody>
      </p:sp>
      <p:pic>
        <p:nvPicPr>
          <p:cNvPr id="7" name="Image 2" descr="preencoded.png">    </p:cNvPr>
          <p:cNvPicPr>
            <a:picLocks noChangeAspect="1"/>
          </p:cNvPicPr>
          <p:nvPr/>
        </p:nvPicPr>
        <p:blipFill>
          <a:blip r:embed="Rd9d896077c32412c">
            <a:extLst>
              <a:ext uri="{96DAC541-7B7A-43D3-8B79-37D633B846F1}">
                <asvg:svgBlip xmlns:asvg="http://schemas.microsoft.com/office/drawing/2016/SVG/main" r:embed="R25cd0240f2ee4441"/>
              </a:ext>
            </a:extLst>
          </a:blip>
          <a:stretch>
            <a:fillRect/>
          </a:stretch>
        </p:blipFill>
        <p:spPr>
          <a:xfrm>
            <a:off x="8107172" y="3152952"/>
            <a:ext cx="301288" cy="301287"/>
          </a:xfrm>
          <a:prstGeom prst="rect">
            <a:avLst/>
          </a:prstGeom>
        </p:spPr>
      </p:pic>
      <p:sp>
        <p:nvSpPr>
          <p:cNvPr id="8" name="Text 3"/>
          <p:cNvSpPr/>
          <p:nvPr/>
        </p:nvSpPr>
        <p:spPr>
          <a:xfrm>
            <a:off x="7851078" y="2051370"/>
            <a:ext cx="2130531" cy="266317"/>
          </a:xfrm>
          <a:prstGeom prst="rect">
            <a:avLst/>
          </a:prstGeom>
          <a:noFill/>
          <a:ln/>
        </p:spPr>
        <p:txBody>
          <a:bodyPr wrap="none" lIns="0" tIns="0" rIns="0" bIns="0" rtlCol="0" anchor="t"/>
          <a:lstStyle/>
          <a:p>
            <a:pPr algn="ctr" indent="0" marL="0">
              <a:lnSpc>
                <a:spcPts val="1850"/>
              </a:lnSpc>
              <a:buNone/>
            </a:pPr>
            <a:r>
              <a:rPr lang="en-US" sz="1450" b="1" dirty="0">
                <a:solidFill>
                  <a:srgbClr val="272525"/>
                </a:solidFill>
                <a:latin typeface="Petrona Bold" pitchFamily="34" charset="0"/>
                <a:ea typeface="Petrona Bold" pitchFamily="34" charset="-122"/>
                <a:cs typeface="Petrona Bold" pitchFamily="34" charset="-120"/>
              </a:rPr>
              <a:t>Risk Layer</a:t>
            </a:r>
            <a:endParaRPr lang="en-US" sz="1450" dirty="0"/>
          </a:p>
        </p:txBody>
      </p:sp>
      <p:pic>
        <p:nvPicPr>
          <p:cNvPr id="9" name="Image 3" descr="preencoded.png">    </p:cNvPr>
          <p:cNvPicPr>
            <a:picLocks noChangeAspect="1"/>
          </p:cNvPicPr>
          <p:nvPr/>
        </p:nvPicPr>
        <p:blipFill>
          <a:blip r:embed="Rd9d896077c32412c">
            <a:extLst>
              <a:ext uri="{96DAC541-7B7A-43D3-8B79-37D633B846F1}">
                <asvg:svgBlip xmlns:asvg="http://schemas.microsoft.com/office/drawing/2016/SVG/main" r:embed="R810fa87015bf4b1e"/>
              </a:ext>
            </a:extLst>
          </a:blip>
          <a:stretch>
            <a:fillRect/>
          </a:stretch>
        </p:blipFill>
        <p:spPr>
          <a:xfrm>
            <a:off x="7538896" y="4418358"/>
            <a:ext cx="301288" cy="301287"/>
          </a:xfrm>
          <a:prstGeom prst="rect">
            <a:avLst/>
          </a:prstGeom>
        </p:spPr>
      </p:pic>
      <p:sp>
        <p:nvSpPr>
          <p:cNvPr id="10" name="Text 4"/>
          <p:cNvSpPr/>
          <p:nvPr/>
        </p:nvSpPr>
        <p:spPr>
          <a:xfrm>
            <a:off x="8806454" y="3962392"/>
            <a:ext cx="2130531" cy="266316"/>
          </a:xfrm>
          <a:prstGeom prst="rect">
            <a:avLst/>
          </a:prstGeom>
          <a:noFill/>
          <a:ln/>
        </p:spPr>
        <p:txBody>
          <a:bodyPr wrap="none" lIns="0" tIns="0" rIns="0" bIns="0" rtlCol="0" anchor="t"/>
          <a:lstStyle/>
          <a:p>
            <a:pPr algn="ctr" indent="0" marL="0">
              <a:lnSpc>
                <a:spcPts val="1850"/>
              </a:lnSpc>
              <a:buNone/>
            </a:pPr>
            <a:r>
              <a:rPr lang="en-US" sz="1450" b="1" dirty="0">
                <a:solidFill>
                  <a:srgbClr val="272525"/>
                </a:solidFill>
                <a:latin typeface="Petrona Bold" pitchFamily="34" charset="0"/>
                <a:ea typeface="Petrona Bold" pitchFamily="34" charset="-122"/>
                <a:cs typeface="Petrona Bold" pitchFamily="34" charset="-120"/>
              </a:rPr>
              <a:t>Learning Layer</a:t>
            </a:r>
            <a:endParaRPr lang="en-US" sz="1450" dirty="0"/>
          </a:p>
        </p:txBody>
      </p:sp>
      <p:pic>
        <p:nvPicPr>
          <p:cNvPr id="11" name="Image 4" descr="preencoded.png">    </p:cNvPr>
          <p:cNvPicPr>
            <a:picLocks noChangeAspect="1"/>
          </p:cNvPicPr>
          <p:nvPr/>
        </p:nvPicPr>
        <p:blipFill>
          <a:blip r:embed="Rd9d896077c32412c">
            <a:extLst>
              <a:ext uri="{96DAC541-7B7A-43D3-8B79-37D633B846F1}">
                <asvg:svgBlip xmlns:asvg="http://schemas.microsoft.com/office/drawing/2016/SVG/main" r:embed="R84605d8f5ded4f45"/>
              </a:ext>
            </a:extLst>
          </a:blip>
          <a:stretch>
            <a:fillRect/>
          </a:stretch>
        </p:blipFill>
        <p:spPr>
          <a:xfrm>
            <a:off x="6213367" y="3850216"/>
            <a:ext cx="301287" cy="301287"/>
          </a:xfrm>
          <a:prstGeom prst="rect">
            <a:avLst/>
          </a:prstGeom>
        </p:spPr>
      </p:pic>
      <p:sp>
        <p:nvSpPr>
          <p:cNvPr id="12" name="Text 5"/>
          <p:cNvSpPr/>
          <p:nvPr/>
        </p:nvSpPr>
        <p:spPr>
          <a:xfrm>
            <a:off x="4640217" y="4909295"/>
            <a:ext cx="2130531" cy="266317"/>
          </a:xfrm>
          <a:prstGeom prst="rect">
            <a:avLst/>
          </a:prstGeom>
          <a:noFill/>
          <a:ln/>
        </p:spPr>
        <p:txBody>
          <a:bodyPr wrap="none" lIns="0" tIns="0" rIns="0" bIns="0" rtlCol="0" anchor="t"/>
          <a:lstStyle/>
          <a:p>
            <a:pPr algn="ctr" indent="0" marL="0">
              <a:lnSpc>
                <a:spcPts val="1850"/>
              </a:lnSpc>
              <a:buNone/>
            </a:pPr>
            <a:r>
              <a:rPr lang="en-US" sz="1450" b="1" dirty="0">
                <a:solidFill>
                  <a:srgbClr val="272525"/>
                </a:solidFill>
                <a:latin typeface="Petrona Bold" pitchFamily="34" charset="0"/>
                <a:ea typeface="Petrona Bold" pitchFamily="34" charset="-122"/>
                <a:cs typeface="Petrona Bold" pitchFamily="34" charset="-120"/>
              </a:rPr>
              <a:t>Trade Update</a:t>
            </a:r>
            <a:endParaRPr lang="en-US" sz="1450" dirty="0"/>
          </a:p>
        </p:txBody>
      </p:sp>
      <p:sp>
        <p:nvSpPr>
          <p:cNvPr id="13" name="Shape 6"/>
          <p:cNvSpPr/>
          <p:nvPr/>
        </p:nvSpPr>
        <p:spPr>
          <a:xfrm>
            <a:off x="693420" y="5801678"/>
            <a:ext cx="13243560" cy="2137053"/>
          </a:xfrm>
          <a:prstGeom prst="roundRect">
            <a:avLst>
              <a:gd name="adj" fmla="val 2531"/>
            </a:avLst>
          </a:prstGeom>
          <a:noFill/>
          <a:ln w="7620">
            <a:solidFill>
              <a:srgbClr val="000000">
                <a:alpha val="8000"/>
              </a:srgbClr>
            </a:solidFill>
            <a:prstDash val="solid"/>
          </a:ln>
        </p:spPr>
      </p:sp>
      <p:sp>
        <p:nvSpPr>
          <p:cNvPr id="14" name="Shape 7"/>
          <p:cNvSpPr/>
          <p:nvPr/>
        </p:nvSpPr>
        <p:spPr>
          <a:xfrm>
            <a:off x="701040" y="5809298"/>
            <a:ext cx="13228320" cy="581978"/>
          </a:xfrm>
          <a:prstGeom prst="rect">
            <a:avLst/>
          </a:prstGeom>
          <a:solidFill>
            <a:srgbClr val="FFFFFF">
              <a:alpha val="4000"/>
            </a:srgbClr>
          </a:solidFill>
          <a:ln/>
        </p:spPr>
      </p:sp>
      <p:sp>
        <p:nvSpPr>
          <p:cNvPr id="15" name="Text 8"/>
          <p:cNvSpPr/>
          <p:nvPr/>
        </p:nvSpPr>
        <p:spPr>
          <a:xfrm>
            <a:off x="829985" y="5894189"/>
            <a:ext cx="2384346" cy="206097"/>
          </a:xfrm>
          <a:prstGeom prst="rect">
            <a:avLst/>
          </a:prstGeom>
          <a:noFill/>
          <a:ln/>
        </p:spPr>
        <p:txBody>
          <a:bodyPr wrap="none" lIns="0" tIns="0" rIns="0" bIns="0" rtlCol="0" anchor="t"/>
          <a:lstStyle/>
          <a:p>
            <a:pPr algn="l" indent="0" marL="0">
              <a:lnSpc>
                <a:spcPts val="1600"/>
              </a:lnSpc>
              <a:buNone/>
            </a:pPr>
            <a:r>
              <a:rPr lang="en-US" sz="1000" dirty="0">
                <a:solidFill>
                  <a:srgbClr val="272525"/>
                </a:solidFill>
                <a:latin typeface="Inter" pitchFamily="34" charset="0"/>
                <a:ea typeface="Inter" pitchFamily="34" charset="-122"/>
                <a:cs typeface="Inter" pitchFamily="34" charset="-120"/>
              </a:rPr>
              <a:t>Market Layer</a:t>
            </a:r>
            <a:endParaRPr lang="en-US" sz="1000" dirty="0"/>
          </a:p>
        </p:txBody>
      </p:sp>
      <p:sp>
        <p:nvSpPr>
          <p:cNvPr id="16" name="Text 9"/>
          <p:cNvSpPr/>
          <p:nvPr/>
        </p:nvSpPr>
        <p:spPr>
          <a:xfrm>
            <a:off x="3479363" y="5894189"/>
            <a:ext cx="5026223" cy="412194"/>
          </a:xfrm>
          <a:prstGeom prst="rect">
            <a:avLst/>
          </a:prstGeom>
          <a:noFill/>
          <a:ln/>
        </p:spPr>
        <p:txBody>
          <a:bodyPr wrap="square" lIns="0" tIns="0" rIns="0" bIns="0" rtlCol="0" anchor="t"/>
          <a:lstStyle/>
          <a:p>
            <a:pPr algn="l" indent="0" marL="0">
              <a:lnSpc>
                <a:spcPts val="1600"/>
              </a:lnSpc>
              <a:buNone/>
            </a:pPr>
            <a:r>
              <a:rPr lang="en-US" sz="1000" dirty="0">
                <a:solidFill>
                  <a:srgbClr val="272525"/>
                </a:solidFill>
                <a:latin typeface="Inter" pitchFamily="34" charset="0"/>
                <a:ea typeface="Inter" pitchFamily="34" charset="-122"/>
                <a:cs typeface="Inter" pitchFamily="34" charset="-120"/>
              </a:rPr>
              <a:t>Simulates or loads market price paths, defines liabilities (X), and tracks transaction costs (Cₜ).</a:t>
            </a:r>
            <a:endParaRPr lang="en-US" sz="1000" dirty="0"/>
          </a:p>
        </p:txBody>
      </p:sp>
      <p:sp>
        <p:nvSpPr>
          <p:cNvPr id="17" name="Text 10"/>
          <p:cNvSpPr/>
          <p:nvPr/>
        </p:nvSpPr>
        <p:spPr>
          <a:xfrm>
            <a:off x="8770620" y="5894189"/>
            <a:ext cx="5030033" cy="206097"/>
          </a:xfrm>
          <a:prstGeom prst="rect">
            <a:avLst/>
          </a:prstGeom>
          <a:noFill/>
          <a:ln/>
        </p:spPr>
        <p:txBody>
          <a:bodyPr wrap="none" lIns="0" tIns="0" rIns="0" bIns="0" rtlCol="0" anchor="t"/>
          <a:lstStyle/>
          <a:p>
            <a:pPr algn="l" indent="0" marL="0">
              <a:lnSpc>
                <a:spcPts val="1600"/>
              </a:lnSpc>
              <a:buNone/>
            </a:pPr>
            <a:r>
              <a:rPr lang="en-US" sz="1000" dirty="0">
                <a:solidFill>
                  <a:srgbClr val="272525"/>
                </a:solidFill>
                <a:latin typeface="Inter" pitchFamily="34" charset="0"/>
                <a:ea typeface="Inter" pitchFamily="34" charset="-122"/>
                <a:cs typeface="Inter" pitchFamily="34" charset="-120"/>
              </a:rPr>
              <a:t>Heston stochastic volatility model implementation.</a:t>
            </a:r>
            <a:endParaRPr lang="en-US" sz="1000" dirty="0"/>
          </a:p>
        </p:txBody>
      </p:sp>
      <p:sp>
        <p:nvSpPr>
          <p:cNvPr id="18" name="Shape 11"/>
          <p:cNvSpPr/>
          <p:nvPr/>
        </p:nvSpPr>
        <p:spPr>
          <a:xfrm>
            <a:off x="701040" y="6391275"/>
            <a:ext cx="13228320" cy="375880"/>
          </a:xfrm>
          <a:prstGeom prst="rect">
            <a:avLst/>
          </a:prstGeom>
          <a:solidFill>
            <a:srgbClr val="000000">
              <a:alpha val="4000"/>
            </a:srgbClr>
          </a:solidFill>
          <a:ln/>
        </p:spPr>
      </p:sp>
      <p:sp>
        <p:nvSpPr>
          <p:cNvPr id="19" name="Text 12"/>
          <p:cNvSpPr/>
          <p:nvPr/>
        </p:nvSpPr>
        <p:spPr>
          <a:xfrm>
            <a:off x="829985" y="6476167"/>
            <a:ext cx="2384346" cy="206097"/>
          </a:xfrm>
          <a:prstGeom prst="rect">
            <a:avLst/>
          </a:prstGeom>
          <a:noFill/>
          <a:ln/>
        </p:spPr>
        <p:txBody>
          <a:bodyPr wrap="none" lIns="0" tIns="0" rIns="0" bIns="0" rtlCol="0" anchor="t"/>
          <a:lstStyle/>
          <a:p>
            <a:pPr algn="l" indent="0" marL="0">
              <a:lnSpc>
                <a:spcPts val="1600"/>
              </a:lnSpc>
              <a:buNone/>
            </a:pPr>
            <a:r>
              <a:rPr lang="en-US" sz="1000" dirty="0">
                <a:solidFill>
                  <a:srgbClr val="272525"/>
                </a:solidFill>
                <a:latin typeface="Inter" pitchFamily="34" charset="0"/>
                <a:ea typeface="Inter" pitchFamily="34" charset="-122"/>
                <a:cs typeface="Inter" pitchFamily="34" charset="-120"/>
              </a:rPr>
              <a:t>Risk Layer</a:t>
            </a:r>
            <a:endParaRPr lang="en-US" sz="1000" dirty="0"/>
          </a:p>
        </p:txBody>
      </p:sp>
      <p:sp>
        <p:nvSpPr>
          <p:cNvPr id="20" name="Text 13"/>
          <p:cNvSpPr/>
          <p:nvPr/>
        </p:nvSpPr>
        <p:spPr>
          <a:xfrm>
            <a:off x="3479363" y="6476167"/>
            <a:ext cx="5026223" cy="206097"/>
          </a:xfrm>
          <a:prstGeom prst="rect">
            <a:avLst/>
          </a:prstGeom>
          <a:noFill/>
          <a:ln/>
        </p:spPr>
        <p:txBody>
          <a:bodyPr wrap="none" lIns="0" tIns="0" rIns="0" bIns="0" rtlCol="0" anchor="t"/>
          <a:lstStyle/>
          <a:p>
            <a:pPr algn="l" indent="0" marL="0">
              <a:lnSpc>
                <a:spcPts val="1600"/>
              </a:lnSpc>
              <a:buNone/>
            </a:pPr>
            <a:r>
              <a:rPr lang="en-US" sz="1000" dirty="0">
                <a:solidFill>
                  <a:srgbClr val="272525"/>
                </a:solidFill>
                <a:latin typeface="Inter" pitchFamily="34" charset="0"/>
                <a:ea typeface="Inter" pitchFamily="34" charset="-122"/>
                <a:cs typeface="Inter" pitchFamily="34" charset="-120"/>
              </a:rPr>
              <a:t>Applies the chosen convex risk measure </a:t>
            </a:r>
            <a:pPr algn="l" indent="0" marL="0">
              <a:lnSpc>
                <a:spcPts val="1600"/>
              </a:lnSpc>
              <a:buNone/>
            </a:pPr>
            <a:r>
              <a:rPr lang="en-US" sz="1000" i="1" dirty="0">
                <a:solidFill>
                  <a:srgbClr val="272525"/>
                </a:solidFill>
                <a:latin typeface="Inter" pitchFamily="34" charset="0"/>
                <a:ea typeface="Inter" pitchFamily="34" charset="-122"/>
                <a:cs typeface="Inter" pitchFamily="34" charset="-120"/>
              </a:rPr>
              <a:t>\rho</a:t>
            </a:r>
            <a:pPr algn="l" indent="0" marL="0">
              <a:lnSpc>
                <a:spcPts val="1600"/>
              </a:lnSpc>
              <a:buNone/>
            </a:pPr>
            <a:r>
              <a:rPr lang="en-US" sz="1000" dirty="0">
                <a:solidFill>
                  <a:srgbClr val="272525"/>
                </a:solidFill>
                <a:latin typeface="Inter" pitchFamily="34" charset="0"/>
                <a:ea typeface="Inter" pitchFamily="34" charset="-122"/>
                <a:cs typeface="Inter" pitchFamily="34" charset="-120"/>
              </a:rPr>
              <a:t> to the policy's P&amp;L distribution.</a:t>
            </a:r>
            <a:endParaRPr lang="en-US" sz="1000" dirty="0"/>
          </a:p>
        </p:txBody>
      </p:sp>
      <p:sp>
        <p:nvSpPr>
          <p:cNvPr id="21" name="Text 14"/>
          <p:cNvSpPr/>
          <p:nvPr/>
        </p:nvSpPr>
        <p:spPr>
          <a:xfrm>
            <a:off x="8770620" y="6476167"/>
            <a:ext cx="5030033" cy="206097"/>
          </a:xfrm>
          <a:prstGeom prst="rect">
            <a:avLst/>
          </a:prstGeom>
          <a:noFill/>
          <a:ln/>
        </p:spPr>
        <p:txBody>
          <a:bodyPr wrap="none" lIns="0" tIns="0" rIns="0" bIns="0" rtlCol="0" anchor="t"/>
          <a:lstStyle/>
          <a:p>
            <a:pPr algn="l" indent="0" marL="0">
              <a:lnSpc>
                <a:spcPts val="1600"/>
              </a:lnSpc>
              <a:buNone/>
            </a:pPr>
            <a:r>
              <a:rPr lang="en-US" sz="1000" dirty="0">
                <a:solidFill>
                  <a:srgbClr val="272525"/>
                </a:solidFill>
                <a:latin typeface="Inter" pitchFamily="34" charset="0"/>
                <a:ea typeface="Inter" pitchFamily="34" charset="-122"/>
                <a:cs typeface="Inter" pitchFamily="34" charset="-120"/>
              </a:rPr>
              <a:t>Conditional Value at Risk (CVaR) or Entropic Risk objective function.</a:t>
            </a:r>
            <a:endParaRPr lang="en-US" sz="1000" dirty="0"/>
          </a:p>
        </p:txBody>
      </p:sp>
      <p:sp>
        <p:nvSpPr>
          <p:cNvPr id="22" name="Shape 15"/>
          <p:cNvSpPr/>
          <p:nvPr/>
        </p:nvSpPr>
        <p:spPr>
          <a:xfrm>
            <a:off x="701040" y="6767155"/>
            <a:ext cx="13228320" cy="581978"/>
          </a:xfrm>
          <a:prstGeom prst="rect">
            <a:avLst/>
          </a:prstGeom>
          <a:solidFill>
            <a:srgbClr val="FFFFFF">
              <a:alpha val="4000"/>
            </a:srgbClr>
          </a:solidFill>
          <a:ln/>
        </p:spPr>
      </p:sp>
      <p:sp>
        <p:nvSpPr>
          <p:cNvPr id="23" name="Text 16"/>
          <p:cNvSpPr/>
          <p:nvPr/>
        </p:nvSpPr>
        <p:spPr>
          <a:xfrm>
            <a:off x="829985" y="6852047"/>
            <a:ext cx="2384346" cy="206097"/>
          </a:xfrm>
          <a:prstGeom prst="rect">
            <a:avLst/>
          </a:prstGeom>
          <a:noFill/>
          <a:ln/>
        </p:spPr>
        <p:txBody>
          <a:bodyPr wrap="none" lIns="0" tIns="0" rIns="0" bIns="0" rtlCol="0" anchor="t"/>
          <a:lstStyle/>
          <a:p>
            <a:pPr algn="l" indent="0" marL="0">
              <a:lnSpc>
                <a:spcPts val="1600"/>
              </a:lnSpc>
              <a:buNone/>
            </a:pPr>
            <a:r>
              <a:rPr lang="en-US" sz="1000" dirty="0">
                <a:solidFill>
                  <a:srgbClr val="272525"/>
                </a:solidFill>
                <a:latin typeface="Inter" pitchFamily="34" charset="0"/>
                <a:ea typeface="Inter" pitchFamily="34" charset="-122"/>
                <a:cs typeface="Inter" pitchFamily="34" charset="-120"/>
              </a:rPr>
              <a:t>Learning Layer</a:t>
            </a:r>
            <a:endParaRPr lang="en-US" sz="1000" dirty="0"/>
          </a:p>
        </p:txBody>
      </p:sp>
      <p:sp>
        <p:nvSpPr>
          <p:cNvPr id="24" name="Text 17"/>
          <p:cNvSpPr/>
          <p:nvPr/>
        </p:nvSpPr>
        <p:spPr>
          <a:xfrm>
            <a:off x="3479363" y="6852047"/>
            <a:ext cx="5026223" cy="412194"/>
          </a:xfrm>
          <a:prstGeom prst="rect">
            <a:avLst/>
          </a:prstGeom>
          <a:noFill/>
          <a:ln/>
        </p:spPr>
        <p:txBody>
          <a:bodyPr wrap="square" lIns="0" tIns="0" rIns="0" bIns="0" rtlCol="0" anchor="t"/>
          <a:lstStyle/>
          <a:p>
            <a:pPr algn="l" indent="0" marL="0">
              <a:lnSpc>
                <a:spcPts val="1600"/>
              </a:lnSpc>
              <a:buNone/>
            </a:pPr>
            <a:r>
              <a:rPr lang="en-US" sz="1000" dirty="0">
                <a:solidFill>
                  <a:srgbClr val="272525"/>
                </a:solidFill>
                <a:latin typeface="Inter" pitchFamily="34" charset="0"/>
                <a:ea typeface="Inter" pitchFamily="34" charset="-122"/>
                <a:cs typeface="Inter" pitchFamily="34" charset="-120"/>
              </a:rPr>
              <a:t>The neural network learns the optimal policy </a:t>
            </a:r>
            <a:pPr algn="l" indent="0" marL="0">
              <a:lnSpc>
                <a:spcPts val="1600"/>
              </a:lnSpc>
              <a:buNone/>
            </a:pPr>
            <a:r>
              <a:rPr lang="en-US" sz="1000" i="1" dirty="0">
                <a:solidFill>
                  <a:srgbClr val="272525"/>
                </a:solidFill>
                <a:latin typeface="Inter" pitchFamily="34" charset="0"/>
                <a:ea typeface="Inter" pitchFamily="34" charset="-122"/>
                <a:cs typeface="Inter" pitchFamily="34" charset="-120"/>
              </a:rPr>
              <a:t>\delta_t = f_\theta(\text{features}_t)</a:t>
            </a:r>
            <a:pPr algn="l" indent="0" marL="0">
              <a:lnSpc>
                <a:spcPts val="1600"/>
              </a:lnSpc>
              <a:buNone/>
            </a:pPr>
            <a:r>
              <a:rPr lang="en-US" sz="1000" dirty="0">
                <a:solidFill>
                  <a:srgbClr val="272525"/>
                </a:solidFill>
                <a:latin typeface="Inter" pitchFamily="34" charset="0"/>
                <a:ea typeface="Inter" pitchFamily="34" charset="-122"/>
                <a:cs typeface="Inter" pitchFamily="34" charset="-120"/>
              </a:rPr>
              <a:t> through backpropagation.</a:t>
            </a:r>
            <a:endParaRPr lang="en-US" sz="1000" dirty="0"/>
          </a:p>
        </p:txBody>
      </p:sp>
      <p:sp>
        <p:nvSpPr>
          <p:cNvPr id="25" name="Text 18"/>
          <p:cNvSpPr/>
          <p:nvPr/>
        </p:nvSpPr>
        <p:spPr>
          <a:xfrm>
            <a:off x="8770620" y="6852047"/>
            <a:ext cx="5030033" cy="206097"/>
          </a:xfrm>
          <a:prstGeom prst="rect">
            <a:avLst/>
          </a:prstGeom>
          <a:noFill/>
          <a:ln/>
        </p:spPr>
        <p:txBody>
          <a:bodyPr wrap="none" lIns="0" tIns="0" rIns="0" bIns="0" rtlCol="0" anchor="t"/>
          <a:lstStyle/>
          <a:p>
            <a:pPr algn="l" indent="0" marL="0">
              <a:lnSpc>
                <a:spcPts val="1600"/>
              </a:lnSpc>
              <a:buNone/>
            </a:pPr>
            <a:r>
              <a:rPr lang="en-US" sz="1000" dirty="0">
                <a:solidFill>
                  <a:srgbClr val="272525"/>
                </a:solidFill>
                <a:latin typeface="Inter" pitchFamily="34" charset="0"/>
                <a:ea typeface="Inter" pitchFamily="34" charset="-122"/>
                <a:cs typeface="Inter" pitchFamily="34" charset="-120"/>
              </a:rPr>
              <a:t>Gated Recurrent Unit (GRU) policy or a standard Multi-Layer Perceptron (MLP).</a:t>
            </a:r>
            <a:endParaRPr lang="en-US" sz="1000" dirty="0"/>
          </a:p>
        </p:txBody>
      </p:sp>
      <p:sp>
        <p:nvSpPr>
          <p:cNvPr id="26" name="Shape 19"/>
          <p:cNvSpPr/>
          <p:nvPr/>
        </p:nvSpPr>
        <p:spPr>
          <a:xfrm>
            <a:off x="701040" y="7349133"/>
            <a:ext cx="13228320" cy="581978"/>
          </a:xfrm>
          <a:prstGeom prst="rect">
            <a:avLst/>
          </a:prstGeom>
          <a:solidFill>
            <a:srgbClr val="000000">
              <a:alpha val="4000"/>
            </a:srgbClr>
          </a:solidFill>
          <a:ln/>
        </p:spPr>
      </p:sp>
      <p:sp>
        <p:nvSpPr>
          <p:cNvPr id="27" name="Text 20"/>
          <p:cNvSpPr/>
          <p:nvPr/>
        </p:nvSpPr>
        <p:spPr>
          <a:xfrm>
            <a:off x="829985" y="7434024"/>
            <a:ext cx="2384346" cy="206097"/>
          </a:xfrm>
          <a:prstGeom prst="rect">
            <a:avLst/>
          </a:prstGeom>
          <a:noFill/>
          <a:ln/>
        </p:spPr>
        <p:txBody>
          <a:bodyPr wrap="none" lIns="0" tIns="0" rIns="0" bIns="0" rtlCol="0" anchor="t"/>
          <a:lstStyle/>
          <a:p>
            <a:pPr algn="l" indent="0" marL="0">
              <a:lnSpc>
                <a:spcPts val="1600"/>
              </a:lnSpc>
              <a:buNone/>
            </a:pPr>
            <a:r>
              <a:rPr lang="en-US" sz="1000" dirty="0">
                <a:solidFill>
                  <a:srgbClr val="272525"/>
                </a:solidFill>
                <a:latin typeface="Inter" pitchFamily="34" charset="0"/>
                <a:ea typeface="Inter" pitchFamily="34" charset="-122"/>
                <a:cs typeface="Inter" pitchFamily="34" charset="-120"/>
              </a:rPr>
              <a:t>Evaluation Layer</a:t>
            </a:r>
            <a:endParaRPr lang="en-US" sz="1000" dirty="0"/>
          </a:p>
        </p:txBody>
      </p:sp>
      <p:sp>
        <p:nvSpPr>
          <p:cNvPr id="28" name="Text 21"/>
          <p:cNvSpPr/>
          <p:nvPr/>
        </p:nvSpPr>
        <p:spPr>
          <a:xfrm>
            <a:off x="3479363" y="7434024"/>
            <a:ext cx="5026223" cy="412194"/>
          </a:xfrm>
          <a:prstGeom prst="rect">
            <a:avLst/>
          </a:prstGeom>
          <a:noFill/>
          <a:ln/>
        </p:spPr>
        <p:txBody>
          <a:bodyPr wrap="square" lIns="0" tIns="0" rIns="0" bIns="0" rtlCol="0" anchor="t"/>
          <a:lstStyle/>
          <a:p>
            <a:pPr algn="l" indent="0" marL="0">
              <a:lnSpc>
                <a:spcPts val="1600"/>
              </a:lnSpc>
              <a:buNone/>
            </a:pPr>
            <a:r>
              <a:rPr lang="en-US" sz="1000" dirty="0">
                <a:solidFill>
                  <a:srgbClr val="272525"/>
                </a:solidFill>
                <a:latin typeface="Inter" pitchFamily="34" charset="0"/>
                <a:ea typeface="Inter" pitchFamily="34" charset="-122"/>
                <a:cs typeface="Inter" pitchFamily="34" charset="-120"/>
              </a:rPr>
              <a:t>Quantifies policy performance against a baseline (e.g., Black-Scholes Delta hedge).</a:t>
            </a:r>
            <a:endParaRPr lang="en-US" sz="1000" dirty="0"/>
          </a:p>
        </p:txBody>
      </p:sp>
      <p:sp>
        <p:nvSpPr>
          <p:cNvPr id="29" name="Text 22"/>
          <p:cNvSpPr/>
          <p:nvPr/>
        </p:nvSpPr>
        <p:spPr>
          <a:xfrm>
            <a:off x="8770620" y="7434024"/>
            <a:ext cx="5030033" cy="206097"/>
          </a:xfrm>
          <a:prstGeom prst="rect">
            <a:avLst/>
          </a:prstGeom>
          <a:noFill/>
          <a:ln/>
        </p:spPr>
        <p:txBody>
          <a:bodyPr wrap="none" lIns="0" tIns="0" rIns="0" bIns="0" rtlCol="0" anchor="t"/>
          <a:lstStyle/>
          <a:p>
            <a:pPr algn="l" indent="0" marL="0">
              <a:lnSpc>
                <a:spcPts val="1600"/>
              </a:lnSpc>
              <a:buNone/>
            </a:pPr>
            <a:r>
              <a:rPr lang="en-US" sz="1000" dirty="0">
                <a:solidFill>
                  <a:srgbClr val="272525"/>
                </a:solidFill>
                <a:latin typeface="Inter" pitchFamily="34" charset="0"/>
                <a:ea typeface="Inter" pitchFamily="34" charset="-122"/>
                <a:cs typeface="Inter" pitchFamily="34" charset="-120"/>
              </a:rPr>
              <a:t>P&amp;L distribution histograms and CVaR sensitivity curves.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00326" y="550188"/>
            <a:ext cx="7242096" cy="447080"/>
          </a:xfrm>
          <a:prstGeom prst="rect">
            <a:avLst/>
          </a:prstGeom>
          <a:noFill/>
          <a:ln/>
        </p:spPr>
        <p:txBody>
          <a:bodyPr wrap="none" lIns="0" tIns="0" rIns="0" bIns="0" rtlCol="0" anchor="t"/>
          <a:lstStyle/>
          <a:p>
            <a:pPr algn="l" indent="0" marL="0">
              <a:lnSpc>
                <a:spcPts val="3500"/>
              </a:lnSpc>
              <a:buNone/>
            </a:pPr>
            <a:r>
              <a:rPr lang="en-US" sz="2800" b="1" dirty="0">
                <a:solidFill>
                  <a:srgbClr val="F95F88"/>
                </a:solidFill>
                <a:latin typeface="Petrona Bold" pitchFamily="34" charset="0"/>
                <a:ea typeface="Petrona Bold" pitchFamily="34" charset="-122"/>
                <a:cs typeface="Petrona Bold" pitchFamily="34" charset="-120"/>
              </a:rPr>
              <a:t>Market Setup: Defining P&amp;L Under Frictions</a:t>
            </a:r>
            <a:endParaRPr lang="en-US" sz="2800" dirty="0"/>
          </a:p>
        </p:txBody>
      </p:sp>
      <p:sp>
        <p:nvSpPr>
          <p:cNvPr id="3" name="Text 1"/>
          <p:cNvSpPr/>
          <p:nvPr/>
        </p:nvSpPr>
        <p:spPr>
          <a:xfrm>
            <a:off x="700326" y="1257300"/>
            <a:ext cx="13229749" cy="212884"/>
          </a:xfrm>
          <a:prstGeom prst="rect">
            <a:avLst/>
          </a:prstGeom>
          <a:noFill/>
          <a:ln/>
        </p:spPr>
        <p:txBody>
          <a:bodyPr wrap="none" lIns="0" tIns="0" rIns="0" bIns="0" rtlCol="0" anchor="t"/>
          <a:lstStyle/>
          <a:p>
            <a:pPr algn="l" indent="0" marL="0">
              <a:lnSpc>
                <a:spcPts val="1600"/>
              </a:lnSpc>
              <a:buNone/>
            </a:pPr>
            <a:r>
              <a:rPr lang="en-US" sz="1000" dirty="0">
                <a:solidFill>
                  <a:srgbClr val="272525"/>
                </a:solidFill>
                <a:latin typeface="Inter" pitchFamily="34" charset="0"/>
                <a:ea typeface="Inter" pitchFamily="34" charset="-122"/>
                <a:cs typeface="Inter" pitchFamily="34" charset="-120"/>
              </a:rPr>
              <a:t>The market layer is responsible for rolling out the agent's policy </a:t>
            </a:r>
            <a:pPr algn="l" indent="0" marL="0">
              <a:lnSpc>
                <a:spcPts val="1600"/>
              </a:lnSpc>
              <a:buNone/>
            </a:pPr>
            <a:r>
              <a:rPr lang="en-US" sz="1000" i="1" dirty="0">
                <a:solidFill>
                  <a:srgbClr val="272525"/>
                </a:solidFill>
                <a:latin typeface="Inter" pitchFamily="34" charset="0"/>
                <a:ea typeface="Inter" pitchFamily="34" charset="-122"/>
                <a:cs typeface="Inter" pitchFamily="34" charset="-120"/>
              </a:rPr>
              <a:t>\delta_t</a:t>
            </a:r>
            <a:pPr algn="l" indent="0" marL="0">
              <a:lnSpc>
                <a:spcPts val="1600"/>
              </a:lnSpc>
              <a:buNone/>
            </a:pPr>
            <a:r>
              <a:rPr lang="en-US" sz="1000" dirty="0">
                <a:solidFill>
                  <a:srgbClr val="272525"/>
                </a:solidFill>
                <a:latin typeface="Inter" pitchFamily="34" charset="0"/>
                <a:ea typeface="Inter" pitchFamily="34" charset="-122"/>
                <a:cs typeface="Inter" pitchFamily="34" charset="-120"/>
              </a:rPr>
              <a:t> across a simulated price path </a:t>
            </a:r>
            <a:pPr algn="l" indent="0" marL="0">
              <a:lnSpc>
                <a:spcPts val="1600"/>
              </a:lnSpc>
              <a:buNone/>
            </a:pPr>
            <a:r>
              <a:rPr lang="en-US" sz="1000" i="1" dirty="0">
                <a:solidFill>
                  <a:srgbClr val="272525"/>
                </a:solidFill>
                <a:latin typeface="Inter" pitchFamily="34" charset="0"/>
                <a:ea typeface="Inter" pitchFamily="34" charset="-122"/>
                <a:cs typeface="Inter" pitchFamily="34" charset="-120"/>
              </a:rPr>
              <a:t>S_t</a:t>
            </a:r>
            <a:pPr algn="l" indent="0" marL="0">
              <a:lnSpc>
                <a:spcPts val="1600"/>
              </a:lnSpc>
              <a:buNone/>
            </a:pPr>
            <a:r>
              <a:rPr lang="en-US" sz="1000" dirty="0">
                <a:solidFill>
                  <a:srgbClr val="272525"/>
                </a:solidFill>
                <a:latin typeface="Inter" pitchFamily="34" charset="0"/>
                <a:ea typeface="Inter" pitchFamily="34" charset="-122"/>
                <a:cs typeface="Inter" pitchFamily="34" charset="-120"/>
              </a:rPr>
              <a:t> and computing the resulting P&amp;L, explicitly accounting for transaction costs </a:t>
            </a:r>
            <a:pPr algn="l" indent="0" marL="0">
              <a:lnSpc>
                <a:spcPts val="1600"/>
              </a:lnSpc>
              <a:buNone/>
            </a:pPr>
            <a:r>
              <a:rPr lang="en-US" sz="1000" i="1" dirty="0">
                <a:solidFill>
                  <a:srgbClr val="272525"/>
                </a:solidFill>
                <a:latin typeface="Inter" pitchFamily="34" charset="0"/>
                <a:ea typeface="Inter" pitchFamily="34" charset="-122"/>
                <a:cs typeface="Inter" pitchFamily="34" charset="-120"/>
              </a:rPr>
              <a:t>C_t</a:t>
            </a:r>
            <a:pPr algn="l" indent="0" marL="0">
              <a:lnSpc>
                <a:spcPts val="1600"/>
              </a:lnSpc>
              <a:buNone/>
            </a:pPr>
            <a:r>
              <a:rPr lang="en-US" sz="1000" dirty="0">
                <a:solidFill>
                  <a:srgbClr val="272525"/>
                </a:solidFill>
                <a:latin typeface="Inter" pitchFamily="34" charset="0"/>
                <a:ea typeface="Inter" pitchFamily="34" charset="-122"/>
                <a:cs typeface="Inter" pitchFamily="34" charset="-120"/>
              </a:rPr>
              <a:t>.</a:t>
            </a:r>
            <a:endParaRPr lang="en-US" sz="1000" dirty="0"/>
          </a:p>
        </p:txBody>
      </p:sp>
      <p:pic>
        <p:nvPicPr>
          <p:cNvPr id="4" name="Image 0" descr="preencoded.png">    </p:cNvPr>
          <p:cNvPicPr>
            <a:picLocks noChangeAspect="1"/>
          </p:cNvPicPr>
          <p:nvPr/>
        </p:nvPicPr>
        <p:blipFill>
          <a:blip r:embed="R75e00fd4c9a64de7"/>
          <a:stretch>
            <a:fillRect/>
          </a:stretch>
        </p:blipFill>
        <p:spPr>
          <a:xfrm>
            <a:off x="700326" y="1616393"/>
            <a:ext cx="2795945" cy="1727954"/>
          </a:xfrm>
          <a:prstGeom prst="rect">
            <a:avLst/>
          </a:prstGeom>
        </p:spPr>
      </p:pic>
      <p:sp>
        <p:nvSpPr>
          <p:cNvPr id="5" name="Text 2"/>
          <p:cNvSpPr/>
          <p:nvPr/>
        </p:nvSpPr>
        <p:spPr>
          <a:xfrm>
            <a:off x="700326" y="3474363"/>
            <a:ext cx="1788319" cy="223480"/>
          </a:xfrm>
          <a:prstGeom prst="rect">
            <a:avLst/>
          </a:prstGeom>
          <a:noFill/>
          <a:ln/>
        </p:spPr>
        <p:txBody>
          <a:bodyPr wrap="none" lIns="0" tIns="0" rIns="0" bIns="0" rtlCol="0" anchor="t"/>
          <a:lstStyle/>
          <a:p>
            <a:pPr algn="l" indent="0" marL="0">
              <a:lnSpc>
                <a:spcPts val="1750"/>
              </a:lnSpc>
              <a:buNone/>
            </a:pPr>
            <a:r>
              <a:rPr lang="en-US" sz="1400" b="1" dirty="0">
                <a:solidFill>
                  <a:srgbClr val="272525"/>
                </a:solidFill>
                <a:latin typeface="Petrona Bold" pitchFamily="34" charset="0"/>
                <a:ea typeface="Petrona Bold" pitchFamily="34" charset="-122"/>
                <a:cs typeface="Petrona Bold" pitchFamily="34" charset="-120"/>
              </a:rPr>
              <a:t>Asset Dynamics (Sₜ)</a:t>
            </a:r>
            <a:endParaRPr lang="en-US" sz="1400" dirty="0"/>
          </a:p>
        </p:txBody>
      </p:sp>
      <p:sp>
        <p:nvSpPr>
          <p:cNvPr id="6" name="Text 3"/>
          <p:cNvSpPr/>
          <p:nvPr/>
        </p:nvSpPr>
        <p:spPr>
          <a:xfrm>
            <a:off x="700326" y="3775829"/>
            <a:ext cx="4301490" cy="212884"/>
          </a:xfrm>
          <a:prstGeom prst="rect">
            <a:avLst/>
          </a:prstGeom>
          <a:noFill/>
          <a:ln/>
        </p:spPr>
        <p:txBody>
          <a:bodyPr wrap="none" lIns="0" tIns="0" rIns="0" bIns="0" rtlCol="0" anchor="t"/>
          <a:lstStyle/>
          <a:p>
            <a:pPr algn="l" indent="0" marL="0">
              <a:lnSpc>
                <a:spcPts val="1600"/>
              </a:lnSpc>
              <a:buNone/>
            </a:pPr>
            <a:r>
              <a:rPr lang="en-US" sz="1000" dirty="0">
                <a:solidFill>
                  <a:srgbClr val="272525"/>
                </a:solidFill>
                <a:latin typeface="Inter" pitchFamily="34" charset="0"/>
                <a:ea typeface="Inter" pitchFamily="34" charset="-122"/>
                <a:cs typeface="Inter" pitchFamily="34" charset="-120"/>
              </a:rPr>
              <a:t>The evolution of the tradable asset price over the time horizon </a:t>
            </a:r>
            <a:pPr algn="l" indent="0" marL="0">
              <a:lnSpc>
                <a:spcPts val="1600"/>
              </a:lnSpc>
              <a:buNone/>
            </a:pPr>
            <a:r>
              <a:rPr lang="en-US" sz="1000" i="1" dirty="0">
                <a:solidFill>
                  <a:srgbClr val="272525"/>
                </a:solidFill>
                <a:latin typeface="Inter" pitchFamily="34" charset="0"/>
                <a:ea typeface="Inter" pitchFamily="34" charset="-122"/>
                <a:cs typeface="Inter" pitchFamily="34" charset="-120"/>
              </a:rPr>
              <a:t>T</a:t>
            </a:r>
            <a:pPr algn="l" indent="0" marL="0">
              <a:lnSpc>
                <a:spcPts val="1600"/>
              </a:lnSpc>
              <a:buNone/>
            </a:pPr>
            <a:r>
              <a:rPr lang="en-US" sz="1000" dirty="0">
                <a:solidFill>
                  <a:srgbClr val="272525"/>
                </a:solidFill>
                <a:latin typeface="Inter" pitchFamily="34" charset="0"/>
                <a:ea typeface="Inter" pitchFamily="34" charset="-122"/>
                <a:cs typeface="Inter" pitchFamily="34" charset="-120"/>
              </a:rPr>
              <a:t>.</a:t>
            </a:r>
            <a:endParaRPr lang="en-US" sz="1000" dirty="0"/>
          </a:p>
        </p:txBody>
      </p:sp>
      <p:pic>
        <p:nvPicPr>
          <p:cNvPr id="7" name="Image 1" descr="preencoded.png">    </p:cNvPr>
          <p:cNvPicPr>
            <a:picLocks noChangeAspect="1"/>
          </p:cNvPicPr>
          <p:nvPr/>
        </p:nvPicPr>
        <p:blipFill>
          <a:blip r:embed="R64b0e6176af3412c"/>
          <a:stretch>
            <a:fillRect/>
          </a:stretch>
        </p:blipFill>
        <p:spPr>
          <a:xfrm>
            <a:off x="5164336" y="1616393"/>
            <a:ext cx="2795945" cy="1727954"/>
          </a:xfrm>
          <a:prstGeom prst="rect">
            <a:avLst/>
          </a:prstGeom>
        </p:spPr>
      </p:pic>
      <p:sp>
        <p:nvSpPr>
          <p:cNvPr id="8" name="Text 4"/>
          <p:cNvSpPr/>
          <p:nvPr/>
        </p:nvSpPr>
        <p:spPr>
          <a:xfrm>
            <a:off x="5164336" y="3474363"/>
            <a:ext cx="1788319" cy="223480"/>
          </a:xfrm>
          <a:prstGeom prst="rect">
            <a:avLst/>
          </a:prstGeom>
          <a:noFill/>
          <a:ln/>
        </p:spPr>
        <p:txBody>
          <a:bodyPr wrap="none" lIns="0" tIns="0" rIns="0" bIns="0" rtlCol="0" anchor="t"/>
          <a:lstStyle/>
          <a:p>
            <a:pPr algn="l" indent="0" marL="0">
              <a:lnSpc>
                <a:spcPts val="1750"/>
              </a:lnSpc>
              <a:buNone/>
            </a:pPr>
            <a:r>
              <a:rPr lang="en-US" sz="1400" b="1" dirty="0">
                <a:solidFill>
                  <a:srgbClr val="272525"/>
                </a:solidFill>
                <a:latin typeface="Petrona Bold" pitchFamily="34" charset="0"/>
                <a:ea typeface="Petrona Bold" pitchFamily="34" charset="-122"/>
                <a:cs typeface="Petrona Bold" pitchFamily="34" charset="-120"/>
              </a:rPr>
              <a:t>Liability (X)</a:t>
            </a:r>
            <a:endParaRPr lang="en-US" sz="1400" dirty="0"/>
          </a:p>
        </p:txBody>
      </p:sp>
      <p:sp>
        <p:nvSpPr>
          <p:cNvPr id="9" name="Text 5"/>
          <p:cNvSpPr/>
          <p:nvPr/>
        </p:nvSpPr>
        <p:spPr>
          <a:xfrm>
            <a:off x="5164336" y="3775829"/>
            <a:ext cx="4301609" cy="416004"/>
          </a:xfrm>
          <a:prstGeom prst="rect">
            <a:avLst/>
          </a:prstGeom>
          <a:noFill/>
          <a:ln/>
        </p:spPr>
        <p:txBody>
          <a:bodyPr wrap="square" lIns="0" tIns="0" rIns="0" bIns="0" rtlCol="0" anchor="t"/>
          <a:lstStyle/>
          <a:p>
            <a:pPr algn="l" indent="0" marL="0">
              <a:lnSpc>
                <a:spcPts val="1600"/>
              </a:lnSpc>
              <a:buNone/>
            </a:pPr>
            <a:r>
              <a:rPr lang="en-US" sz="1000" dirty="0">
                <a:solidFill>
                  <a:srgbClr val="272525"/>
                </a:solidFill>
                <a:latin typeface="Inter" pitchFamily="34" charset="0"/>
                <a:ea typeface="Inter" pitchFamily="34" charset="-122"/>
                <a:cs typeface="Inter" pitchFamily="34" charset="-120"/>
              </a:rPr>
              <a:t>The cash flow (payoff) obligation from the instrument being hedged (e.g., sold European Call option).</a:t>
            </a:r>
            <a:endParaRPr lang="en-US" sz="1000" dirty="0"/>
          </a:p>
        </p:txBody>
      </p:sp>
      <p:pic>
        <p:nvPicPr>
          <p:cNvPr id="10" name="Image 2" descr="preencoded.png">    </p:cNvPr>
          <p:cNvPicPr>
            <a:picLocks noChangeAspect="1"/>
          </p:cNvPicPr>
          <p:nvPr/>
        </p:nvPicPr>
        <p:blipFill>
          <a:blip r:embed="Raf1e2e15a53e4dab"/>
          <a:stretch>
            <a:fillRect/>
          </a:stretch>
        </p:blipFill>
        <p:spPr>
          <a:xfrm>
            <a:off x="9628465" y="1616393"/>
            <a:ext cx="2795945" cy="1727954"/>
          </a:xfrm>
          <a:prstGeom prst="rect">
            <a:avLst/>
          </a:prstGeom>
        </p:spPr>
      </p:pic>
      <p:sp>
        <p:nvSpPr>
          <p:cNvPr id="11" name="Text 6"/>
          <p:cNvSpPr/>
          <p:nvPr/>
        </p:nvSpPr>
        <p:spPr>
          <a:xfrm>
            <a:off x="9628465" y="3474363"/>
            <a:ext cx="1808202" cy="223480"/>
          </a:xfrm>
          <a:prstGeom prst="rect">
            <a:avLst/>
          </a:prstGeom>
          <a:noFill/>
          <a:ln/>
        </p:spPr>
        <p:txBody>
          <a:bodyPr wrap="none" lIns="0" tIns="0" rIns="0" bIns="0" rtlCol="0" anchor="t"/>
          <a:lstStyle/>
          <a:p>
            <a:pPr algn="l" indent="0" marL="0">
              <a:lnSpc>
                <a:spcPts val="1750"/>
              </a:lnSpc>
              <a:buNone/>
            </a:pPr>
            <a:r>
              <a:rPr lang="en-US" sz="1400" b="1" dirty="0">
                <a:solidFill>
                  <a:srgbClr val="272525"/>
                </a:solidFill>
                <a:latin typeface="Petrona Bold" pitchFamily="34" charset="0"/>
                <a:ea typeface="Petrona Bold" pitchFamily="34" charset="-122"/>
                <a:cs typeface="Petrona Bold" pitchFamily="34" charset="-120"/>
              </a:rPr>
              <a:t>Transaction Costs (Cₜ)</a:t>
            </a:r>
            <a:endParaRPr lang="en-US" sz="1400" dirty="0"/>
          </a:p>
        </p:txBody>
      </p:sp>
      <p:sp>
        <p:nvSpPr>
          <p:cNvPr id="12" name="Text 7"/>
          <p:cNvSpPr/>
          <p:nvPr/>
        </p:nvSpPr>
        <p:spPr>
          <a:xfrm>
            <a:off x="9628465" y="3775829"/>
            <a:ext cx="4301490" cy="416004"/>
          </a:xfrm>
          <a:prstGeom prst="rect">
            <a:avLst/>
          </a:prstGeom>
          <a:noFill/>
          <a:ln/>
        </p:spPr>
        <p:txBody>
          <a:bodyPr wrap="square" lIns="0" tIns="0" rIns="0" bIns="0" rtlCol="0" anchor="t"/>
          <a:lstStyle/>
          <a:p>
            <a:pPr algn="l" indent="0" marL="0">
              <a:lnSpc>
                <a:spcPts val="1600"/>
              </a:lnSpc>
              <a:buNone/>
            </a:pPr>
            <a:r>
              <a:rPr lang="en-US" sz="1000" dirty="0">
                <a:solidFill>
                  <a:srgbClr val="272525"/>
                </a:solidFill>
                <a:latin typeface="Inter" pitchFamily="34" charset="0"/>
                <a:ea typeface="Inter" pitchFamily="34" charset="-122"/>
                <a:cs typeface="Inter" pitchFamily="34" charset="-120"/>
              </a:rPr>
              <a:t>A function of the change in position size, representing realistic trading costs (e.g., proportional to trade volume).</a:t>
            </a:r>
            <a:endParaRPr lang="en-US" sz="1000" dirty="0"/>
          </a:p>
        </p:txBody>
      </p:sp>
      <p:sp>
        <p:nvSpPr>
          <p:cNvPr id="13" name="Text 8"/>
          <p:cNvSpPr/>
          <p:nvPr/>
        </p:nvSpPr>
        <p:spPr>
          <a:xfrm>
            <a:off x="700326" y="4338042"/>
            <a:ext cx="13229749" cy="208002"/>
          </a:xfrm>
          <a:prstGeom prst="rect">
            <a:avLst/>
          </a:prstGeom>
          <a:noFill/>
          <a:ln/>
        </p:spPr>
        <p:txBody>
          <a:bodyPr wrap="none" lIns="0" tIns="0" rIns="0" bIns="0" rtlCol="0" anchor="t"/>
          <a:lstStyle/>
          <a:p>
            <a:pPr algn="l" indent="0" marL="0">
              <a:lnSpc>
                <a:spcPts val="1600"/>
              </a:lnSpc>
              <a:buNone/>
            </a:pPr>
            <a:r>
              <a:rPr lang="en-US" sz="1000" dirty="0">
                <a:solidFill>
                  <a:srgbClr val="272525"/>
                </a:solidFill>
                <a:latin typeface="Inter" pitchFamily="34" charset="0"/>
                <a:ea typeface="Inter" pitchFamily="34" charset="-122"/>
                <a:cs typeface="Inter" pitchFamily="34" charset="-120"/>
              </a:rPr>
              <a:t>The final P&amp;L is calculated based on the terminal cash balance, the value of the final position, and the original liability:</a:t>
            </a:r>
            <a:endParaRPr lang="en-US" sz="1000" dirty="0"/>
          </a:p>
        </p:txBody>
      </p:sp>
      <p:sp>
        <p:nvSpPr>
          <p:cNvPr id="14" name="Text 9"/>
          <p:cNvSpPr/>
          <p:nvPr/>
        </p:nvSpPr>
        <p:spPr>
          <a:xfrm>
            <a:off x="700326" y="4710589"/>
            <a:ext cx="13229749" cy="227648"/>
          </a:xfrm>
          <a:prstGeom prst="rect">
            <a:avLst/>
          </a:prstGeom>
          <a:noFill/>
          <a:ln/>
        </p:spPr>
        <p:txBody>
          <a:bodyPr wrap="none" lIns="0" tIns="0" rIns="0" bIns="0" rtlCol="0" anchor="t"/>
          <a:lstStyle/>
          <a:p>
            <a:pPr algn="l" indent="0" marL="0">
              <a:lnSpc>
                <a:spcPts val="1800"/>
              </a:lnSpc>
              <a:buNone/>
            </a:pPr>
            <a:endParaRPr lang="en-US" sz="1150" dirty="0"/>
          </a:p>
        </p:txBody>
      </p:sp>
      <p:pic>
        <p:nvPicPr>
          <p:cNvPr id="15" name="Image 3" descr="preencoded.png">    </p:cNvPr>
          <p:cNvPicPr>
            <a:picLocks noChangeAspect="1"/>
          </p:cNvPicPr>
          <p:nvPr/>
        </p:nvPicPr>
        <p:blipFill>
          <a:blip r:embed="R37bc97e9063647dd"/>
          <a:stretch>
            <a:fillRect/>
          </a:stretch>
        </p:blipFill>
        <p:spPr>
          <a:xfrm>
            <a:off x="700326" y="4710589"/>
            <a:ext cx="13229749" cy="227648"/>
          </a:xfrm>
          <a:prstGeom prst="rect">
            <a:avLst/>
          </a:prstGeom>
        </p:spPr>
      </p:pic>
      <p:sp>
        <p:nvSpPr>
          <p:cNvPr id="16" name="Shape 10"/>
          <p:cNvSpPr/>
          <p:nvPr/>
        </p:nvSpPr>
        <p:spPr>
          <a:xfrm>
            <a:off x="700326" y="5102781"/>
            <a:ext cx="13229749" cy="2691051"/>
          </a:xfrm>
          <a:prstGeom prst="roundRect">
            <a:avLst>
              <a:gd name="adj" fmla="val 2030"/>
            </a:avLst>
          </a:prstGeom>
          <a:solidFill>
            <a:srgbClr val="F0EDEA"/>
          </a:solidFill>
          <a:ln/>
        </p:spPr>
      </p:sp>
      <p:sp>
        <p:nvSpPr>
          <p:cNvPr id="17" name="Shape 11"/>
          <p:cNvSpPr/>
          <p:nvPr/>
        </p:nvSpPr>
        <p:spPr>
          <a:xfrm>
            <a:off x="693896" y="5102781"/>
            <a:ext cx="13242608" cy="2691051"/>
          </a:xfrm>
          <a:prstGeom prst="roundRect">
            <a:avLst>
              <a:gd name="adj" fmla="val 725"/>
            </a:avLst>
          </a:prstGeom>
          <a:solidFill>
            <a:srgbClr val="F0EDEA"/>
          </a:solidFill>
          <a:ln/>
        </p:spPr>
      </p:sp>
      <p:sp>
        <p:nvSpPr>
          <p:cNvPr id="18" name="Text 12"/>
          <p:cNvSpPr/>
          <p:nvPr/>
        </p:nvSpPr>
        <p:spPr>
          <a:xfrm>
            <a:off x="823913" y="5200293"/>
            <a:ext cx="12982575" cy="2496026"/>
          </a:xfrm>
          <a:prstGeom prst="rect">
            <a:avLst/>
          </a:prstGeom>
          <a:noFill/>
          <a:ln/>
        </p:spPr>
        <p:txBody>
          <a:bodyPr wrap="square" lIns="0" tIns="0" rIns="0" bIns="0" rtlCol="0" anchor="t"/>
          <a:lstStyle/>
          <a:p>
            <a:pPr algn="l" indent="0" marL="0">
              <a:lnSpc>
                <a:spcPts val="1600"/>
              </a:lnSpc>
              <a:buNone/>
            </a:pPr>
            <a:r>
              <a:rPr lang="en-US" sz="1000" dirty="0">
                <a:solidFill>
                  <a:srgbClr val="272525"/>
                </a:solidFill>
                <a:highlight>
                  <a:srgbClr val="F0EDEA"/>
                </a:highlight>
                <a:latin typeface="Consolas" pitchFamily="34" charset="0"/>
                <a:ea typeface="Consolas" pitchFamily="34" charset="-122"/>
                <a:cs typeface="Consolas" pitchFamily="34" charset="-120"/>
              </a:rPr>
              <a:t>def rollout_policy(policy, S_paths, K, cost_rate, r, dt): cash = torch.zeros(N, device=S_paths.device) delta_prev = torch.zeros(N, device=S_paths.device) for k in range(T): S_t = S_paths[:,k] tau_norm = torch.full_like(S_t, (T-k)/T) delta_t = policy(S_t, tau_norm, delta_prev) trade_cost = cost_rate * (delta_t - delta_prev).abs() * S_t cash -= (delta_t - delta_prev) * S_t + trade_cost delta_prev = delta_t payoff = torch.clamp(S_paths[:,-1] - K, min=0) return cash + delta_prev*S_paths[:,-1] - payoff</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54023" y="592455"/>
            <a:ext cx="7028736" cy="481370"/>
          </a:xfrm>
          <a:prstGeom prst="rect">
            <a:avLst/>
          </a:prstGeom>
          <a:noFill/>
          <a:ln/>
        </p:spPr>
        <p:txBody>
          <a:bodyPr wrap="none" lIns="0" tIns="0" rIns="0" bIns="0" rtlCol="0" anchor="t"/>
          <a:lstStyle/>
          <a:p>
            <a:pPr algn="l" indent="0" marL="0">
              <a:lnSpc>
                <a:spcPts val="3750"/>
              </a:lnSpc>
              <a:buNone/>
            </a:pPr>
            <a:r>
              <a:rPr lang="en-US" sz="3000" b="1" dirty="0">
                <a:solidFill>
                  <a:srgbClr val="F95F88"/>
                </a:solidFill>
                <a:latin typeface="Petrona Bold" pitchFamily="34" charset="0"/>
                <a:ea typeface="Petrona Bold" pitchFamily="34" charset="-122"/>
                <a:cs typeface="Petrona Bold" pitchFamily="34" charset="-120"/>
              </a:rPr>
              <a:t>Risk Measurement: Focusing on the Tail</a:t>
            </a:r>
            <a:endParaRPr lang="en-US" sz="3000" dirty="0"/>
          </a:p>
        </p:txBody>
      </p:sp>
      <p:sp>
        <p:nvSpPr>
          <p:cNvPr id="3" name="Text 1"/>
          <p:cNvSpPr/>
          <p:nvPr/>
        </p:nvSpPr>
        <p:spPr>
          <a:xfrm>
            <a:off x="754023" y="1353860"/>
            <a:ext cx="13122354" cy="447913"/>
          </a:xfrm>
          <a:prstGeom prst="rect">
            <a:avLst/>
          </a:prstGeom>
          <a:noFill/>
          <a:ln/>
        </p:spPr>
        <p:txBody>
          <a:bodyPr wrap="square" lIns="0" tIns="0" rIns="0" bIns="0" rtlCol="0" anchor="t"/>
          <a:lstStyle/>
          <a:p>
            <a:pPr algn="l" indent="0" marL="0">
              <a:lnSpc>
                <a:spcPts val="1750"/>
              </a:lnSpc>
              <a:buNone/>
            </a:pPr>
            <a:r>
              <a:rPr lang="en-US" sz="1100" dirty="0">
                <a:solidFill>
                  <a:srgbClr val="272525"/>
                </a:solidFill>
                <a:latin typeface="Inter" pitchFamily="34" charset="0"/>
                <a:ea typeface="Inter" pitchFamily="34" charset="-122"/>
                <a:cs typeface="Inter" pitchFamily="34" charset="-120"/>
              </a:rPr>
              <a:t>Instead of optimizing for expected return, Deep Hedging optimizes for a convex risk measure </a:t>
            </a:r>
            <a:pPr algn="l" indent="0" marL="0">
              <a:lnSpc>
                <a:spcPts val="1750"/>
              </a:lnSpc>
              <a:buNone/>
            </a:pPr>
            <a:r>
              <a:rPr lang="en-US" sz="1100" i="1" dirty="0">
                <a:solidFill>
                  <a:srgbClr val="272525"/>
                </a:solidFill>
                <a:latin typeface="Inter" pitchFamily="34" charset="0"/>
                <a:ea typeface="Inter" pitchFamily="34" charset="-122"/>
                <a:cs typeface="Inter" pitchFamily="34" charset="-120"/>
              </a:rPr>
              <a:t>\rho</a:t>
            </a:r>
            <a:pPr algn="l" indent="0" marL="0">
              <a:lnSpc>
                <a:spcPts val="1750"/>
              </a:lnSpc>
              <a:buNone/>
            </a:pPr>
            <a:r>
              <a:rPr lang="en-US" sz="1100" dirty="0">
                <a:solidFill>
                  <a:srgbClr val="272525"/>
                </a:solidFill>
                <a:latin typeface="Inter" pitchFamily="34" charset="0"/>
                <a:ea typeface="Inter" pitchFamily="34" charset="-122"/>
                <a:cs typeface="Inter" pitchFamily="34" charset="-120"/>
              </a:rPr>
              <a:t>, which assigns a higher penalty to adverse outcomes, forcing the policy to focus on minimizing tail losses.</a:t>
            </a:r>
            <a:endParaRPr lang="en-US" sz="1100" dirty="0"/>
          </a:p>
        </p:txBody>
      </p:sp>
      <p:pic>
        <p:nvPicPr>
          <p:cNvPr id="4" name="Image 0" descr="preencoded.png">    </p:cNvPr>
          <p:cNvPicPr>
            <a:picLocks noChangeAspect="1"/>
          </p:cNvPicPr>
          <p:nvPr/>
        </p:nvPicPr>
        <p:blipFill>
          <a:blip r:embed="R21ef5bf6a4944404"/>
          <a:stretch>
            <a:fillRect/>
          </a:stretch>
        </p:blipFill>
        <p:spPr>
          <a:xfrm>
            <a:off x="4247078" y="2052399"/>
            <a:ext cx="3012162" cy="1680448"/>
          </a:xfrm>
          <a:prstGeom prst="rect">
            <a:avLst/>
          </a:prstGeom>
        </p:spPr>
      </p:pic>
      <p:pic>
        <p:nvPicPr>
          <p:cNvPr id="5" name="Image 1" descr="preencoded.png">    </p:cNvPr>
          <p:cNvPicPr>
            <a:picLocks noChangeAspect="1"/>
          </p:cNvPicPr>
          <p:nvPr/>
        </p:nvPicPr>
        <p:blipFill>
          <a:blip r:embed="Rcf768dde673148be"/>
          <a:stretch>
            <a:fillRect/>
          </a:stretch>
        </p:blipFill>
        <p:spPr>
          <a:xfrm>
            <a:off x="7371159" y="2052399"/>
            <a:ext cx="3012162" cy="1680448"/>
          </a:xfrm>
          <a:prstGeom prst="rect">
            <a:avLst/>
          </a:prstGeom>
        </p:spPr>
      </p:pic>
      <p:sp>
        <p:nvSpPr>
          <p:cNvPr id="6" name="Shape 2"/>
          <p:cNvSpPr/>
          <p:nvPr/>
        </p:nvSpPr>
        <p:spPr>
          <a:xfrm>
            <a:off x="754023" y="3983474"/>
            <a:ext cx="13122354" cy="1292543"/>
          </a:xfrm>
          <a:prstGeom prst="roundRect">
            <a:avLst>
              <a:gd name="adj" fmla="val 4551"/>
            </a:avLst>
          </a:prstGeom>
          <a:noFill/>
          <a:ln w="7620">
            <a:solidFill>
              <a:srgbClr val="000000">
                <a:alpha val="8000"/>
              </a:srgbClr>
            </a:solidFill>
            <a:prstDash val="solid"/>
          </a:ln>
        </p:spPr>
      </p:sp>
      <p:sp>
        <p:nvSpPr>
          <p:cNvPr id="7" name="Shape 3"/>
          <p:cNvSpPr/>
          <p:nvPr/>
        </p:nvSpPr>
        <p:spPr>
          <a:xfrm>
            <a:off x="761643" y="3991094"/>
            <a:ext cx="13105686" cy="638651"/>
          </a:xfrm>
          <a:prstGeom prst="rect">
            <a:avLst/>
          </a:prstGeom>
          <a:solidFill>
            <a:srgbClr val="FFFFFF">
              <a:alpha val="4000"/>
            </a:srgbClr>
          </a:solidFill>
          <a:ln/>
        </p:spPr>
      </p:sp>
      <p:sp>
        <p:nvSpPr>
          <p:cNvPr id="8" name="Text 4"/>
          <p:cNvSpPr/>
          <p:nvPr/>
        </p:nvSpPr>
        <p:spPr>
          <a:xfrm>
            <a:off x="903208" y="4082653"/>
            <a:ext cx="4084201" cy="223957"/>
          </a:xfrm>
          <a:prstGeom prst="rect">
            <a:avLst/>
          </a:prstGeom>
          <a:noFill/>
          <a:ln/>
        </p:spPr>
        <p:txBody>
          <a:bodyPr wrap="none" lIns="0" tIns="0" rIns="0" bIns="0" rtlCol="0" anchor="t"/>
          <a:lstStyle/>
          <a:p>
            <a:pPr algn="l" indent="0" marL="0">
              <a:lnSpc>
                <a:spcPts val="1750"/>
              </a:lnSpc>
              <a:buNone/>
            </a:pPr>
            <a:r>
              <a:rPr lang="en-US" sz="1100" b="1" dirty="0">
                <a:solidFill>
                  <a:srgbClr val="272525"/>
                </a:solidFill>
                <a:latin typeface="Inter" pitchFamily="34" charset="0"/>
                <a:ea typeface="Inter" pitchFamily="34" charset="-122"/>
                <a:cs typeface="Inter" pitchFamily="34" charset="-120"/>
              </a:rPr>
              <a:t>Conditional Value at Risk (CVaR)</a:t>
            </a:r>
            <a:endParaRPr lang="en-US" sz="1100" dirty="0"/>
          </a:p>
        </p:txBody>
      </p:sp>
      <p:sp>
        <p:nvSpPr>
          <p:cNvPr id="9" name="Text 5"/>
          <p:cNvSpPr/>
          <p:nvPr/>
        </p:nvSpPr>
        <p:spPr>
          <a:xfrm>
            <a:off x="5275064" y="4082653"/>
            <a:ext cx="4080391" cy="223957"/>
          </a:xfrm>
          <a:prstGeom prst="rect">
            <a:avLst/>
          </a:prstGeom>
          <a:noFill/>
          <a:ln/>
        </p:spPr>
        <p:txBody>
          <a:bodyPr wrap="none" lIns="0" tIns="0" rIns="0" bIns="0" rtlCol="0" anchor="t"/>
          <a:lstStyle/>
          <a:p>
            <a:pPr algn="l" indent="0" marL="0">
              <a:lnSpc>
                <a:spcPts val="1750"/>
              </a:lnSpc>
              <a:buNone/>
            </a:pPr>
            <a:r>
              <a:rPr lang="en-US" sz="1100" dirty="0">
                <a:solidFill>
                  <a:srgbClr val="272525"/>
                </a:solidFill>
                <a:latin typeface="Inter" pitchFamily="34" charset="0"/>
                <a:ea typeface="Inter" pitchFamily="34" charset="-122"/>
                <a:cs typeface="Inter" pitchFamily="34" charset="-120"/>
              </a:rPr>
              <a:t>The average of the worst </a:t>
            </a:r>
            <a:pPr algn="l" indent="0" marL="0">
              <a:lnSpc>
                <a:spcPts val="1750"/>
              </a:lnSpc>
              <a:buNone/>
            </a:pPr>
            <a:r>
              <a:rPr lang="en-US" sz="1100" i="1" dirty="0">
                <a:solidFill>
                  <a:srgbClr val="272525"/>
                </a:solidFill>
                <a:latin typeface="Inter" pitchFamily="34" charset="0"/>
                <a:ea typeface="Inter" pitchFamily="34" charset="-122"/>
                <a:cs typeface="Inter" pitchFamily="34" charset="-120"/>
              </a:rPr>
              <a:t>\alpha</a:t>
            </a:r>
            <a:pPr algn="l" indent="0" marL="0">
              <a:lnSpc>
                <a:spcPts val="1750"/>
              </a:lnSpc>
              <a:buNone/>
            </a:pPr>
            <a:r>
              <a:rPr lang="en-US" sz="1100" dirty="0">
                <a:solidFill>
                  <a:srgbClr val="272525"/>
                </a:solidFill>
                <a:latin typeface="Inter" pitchFamily="34" charset="0"/>
                <a:ea typeface="Inter" pitchFamily="34" charset="-122"/>
                <a:cs typeface="Inter" pitchFamily="34" charset="-120"/>
              </a:rPr>
              <a:t>% of P&amp;L outcomes (e.g., </a:t>
            </a:r>
            <a:pPr algn="l" indent="0" marL="0">
              <a:lnSpc>
                <a:spcPts val="1750"/>
              </a:lnSpc>
              <a:buNone/>
            </a:pPr>
            <a:r>
              <a:rPr lang="en-US" sz="1100" i="1" dirty="0">
                <a:solidFill>
                  <a:srgbClr val="272525"/>
                </a:solidFill>
                <a:latin typeface="Inter" pitchFamily="34" charset="0"/>
                <a:ea typeface="Inter" pitchFamily="34" charset="-122"/>
                <a:cs typeface="Inter" pitchFamily="34" charset="-120"/>
              </a:rPr>
              <a:t>\alpha=5\%</a:t>
            </a:r>
            <a:pPr algn="l" indent="0" marL="0">
              <a:lnSpc>
                <a:spcPts val="1750"/>
              </a:lnSpc>
              <a:buNone/>
            </a:pPr>
            <a:r>
              <a:rPr lang="en-US" sz="1100" dirty="0">
                <a:solidFill>
                  <a:srgbClr val="272525"/>
                </a:solidFill>
                <a:latin typeface="Inter" pitchFamily="34" charset="0"/>
                <a:ea typeface="Inter" pitchFamily="34" charset="-122"/>
                <a:cs typeface="Inter" pitchFamily="34" charset="-120"/>
              </a:rPr>
              <a:t>).</a:t>
            </a:r>
            <a:endParaRPr lang="en-US" sz="1100" dirty="0"/>
          </a:p>
        </p:txBody>
      </p:sp>
      <p:sp>
        <p:nvSpPr>
          <p:cNvPr id="10" name="Text 6"/>
          <p:cNvSpPr/>
          <p:nvPr/>
        </p:nvSpPr>
        <p:spPr>
          <a:xfrm>
            <a:off x="9643110" y="4082653"/>
            <a:ext cx="4084201" cy="455533"/>
          </a:xfrm>
          <a:prstGeom prst="rect">
            <a:avLst/>
          </a:prstGeom>
          <a:noFill/>
          <a:ln/>
        </p:spPr>
        <p:txBody>
          <a:bodyPr wrap="square" lIns="0" tIns="0" rIns="0" bIns="0" rtlCol="0" anchor="t"/>
          <a:lstStyle/>
          <a:p>
            <a:pPr algn="l" indent="0" marL="0">
              <a:lnSpc>
                <a:spcPts val="1750"/>
              </a:lnSpc>
              <a:buNone/>
            </a:pPr>
            <a:r>
              <a:rPr lang="en-US" sz="1100" dirty="0">
                <a:solidFill>
                  <a:srgbClr val="272525"/>
                </a:solidFill>
                <a:highlight>
                  <a:srgbClr val="F0EDEA"/>
                </a:highlight>
                <a:latin typeface="Consolas" pitchFamily="34" charset="0"/>
                <a:ea typeface="Consolas" pitchFamily="34" charset="-122"/>
                <a:cs typeface="Consolas" pitchFamily="34" charset="-120"/>
              </a:rPr>
              <a:t>-torch.mean(sorted_pnl[:int(\alpha*N)])</a:t>
            </a:r>
            <a:pPr algn="l" indent="0" marL="0">
              <a:lnSpc>
                <a:spcPts val="1750"/>
              </a:lnSpc>
              <a:buNone/>
            </a:pPr>
            <a:r>
              <a:rPr lang="en-US" sz="1100" dirty="0">
                <a:solidFill>
                  <a:srgbClr val="272525"/>
                </a:solidFill>
                <a:latin typeface="Inter" pitchFamily="34" charset="0"/>
                <a:ea typeface="Inter" pitchFamily="34" charset="-122"/>
                <a:cs typeface="Inter" pitchFamily="34" charset="-120"/>
              </a:rPr>
              <a:t> - Minimizing this maximizes the average return in the worst scenarios.</a:t>
            </a:r>
            <a:endParaRPr lang="en-US" sz="1100" dirty="0"/>
          </a:p>
        </p:txBody>
      </p:sp>
      <p:sp>
        <p:nvSpPr>
          <p:cNvPr id="11" name="Shape 7"/>
          <p:cNvSpPr/>
          <p:nvPr/>
        </p:nvSpPr>
        <p:spPr>
          <a:xfrm>
            <a:off x="761643" y="4629745"/>
            <a:ext cx="13105686" cy="638651"/>
          </a:xfrm>
          <a:prstGeom prst="rect">
            <a:avLst/>
          </a:prstGeom>
          <a:solidFill>
            <a:srgbClr val="000000">
              <a:alpha val="4000"/>
            </a:srgbClr>
          </a:solidFill>
          <a:ln/>
        </p:spPr>
      </p:sp>
      <p:sp>
        <p:nvSpPr>
          <p:cNvPr id="12" name="Text 8"/>
          <p:cNvSpPr/>
          <p:nvPr/>
        </p:nvSpPr>
        <p:spPr>
          <a:xfrm>
            <a:off x="903208" y="4721304"/>
            <a:ext cx="4084201" cy="223957"/>
          </a:xfrm>
          <a:prstGeom prst="rect">
            <a:avLst/>
          </a:prstGeom>
          <a:noFill/>
          <a:ln/>
        </p:spPr>
        <p:txBody>
          <a:bodyPr wrap="none" lIns="0" tIns="0" rIns="0" bIns="0" rtlCol="0" anchor="t"/>
          <a:lstStyle/>
          <a:p>
            <a:pPr algn="l" indent="0" marL="0">
              <a:lnSpc>
                <a:spcPts val="1750"/>
              </a:lnSpc>
              <a:buNone/>
            </a:pPr>
            <a:r>
              <a:rPr lang="en-US" sz="1100" b="1" dirty="0">
                <a:solidFill>
                  <a:srgbClr val="272525"/>
                </a:solidFill>
                <a:latin typeface="Inter" pitchFamily="34" charset="0"/>
                <a:ea typeface="Inter" pitchFamily="34" charset="-122"/>
                <a:cs typeface="Inter" pitchFamily="34" charset="-120"/>
              </a:rPr>
              <a:t>Entropic Risk</a:t>
            </a:r>
            <a:endParaRPr lang="en-US" sz="1100" dirty="0"/>
          </a:p>
        </p:txBody>
      </p:sp>
      <p:sp>
        <p:nvSpPr>
          <p:cNvPr id="13" name="Text 9"/>
          <p:cNvSpPr/>
          <p:nvPr/>
        </p:nvSpPr>
        <p:spPr>
          <a:xfrm>
            <a:off x="5275064" y="4721304"/>
            <a:ext cx="4080391" cy="447913"/>
          </a:xfrm>
          <a:prstGeom prst="rect">
            <a:avLst/>
          </a:prstGeom>
          <a:noFill/>
          <a:ln/>
        </p:spPr>
        <p:txBody>
          <a:bodyPr wrap="square" lIns="0" tIns="0" rIns="0" bIns="0" rtlCol="0" anchor="t"/>
          <a:lstStyle/>
          <a:p>
            <a:pPr algn="l" indent="0" marL="0">
              <a:lnSpc>
                <a:spcPts val="1750"/>
              </a:lnSpc>
              <a:buNone/>
            </a:pPr>
            <a:r>
              <a:rPr lang="en-US" sz="1100" dirty="0">
                <a:solidFill>
                  <a:srgbClr val="272525"/>
                </a:solidFill>
                <a:latin typeface="Inter" pitchFamily="34" charset="0"/>
                <a:ea typeface="Inter" pitchFamily="34" charset="-122"/>
                <a:cs typeface="Inter" pitchFamily="34" charset="-120"/>
              </a:rPr>
              <a:t>A smooth, exponentially weighted average P&amp;L, representing a highly risk-averse expectation.</a:t>
            </a:r>
            <a:endParaRPr lang="en-US" sz="1100" dirty="0"/>
          </a:p>
        </p:txBody>
      </p:sp>
      <p:sp>
        <p:nvSpPr>
          <p:cNvPr id="14" name="Text 10"/>
          <p:cNvSpPr/>
          <p:nvPr/>
        </p:nvSpPr>
        <p:spPr>
          <a:xfrm>
            <a:off x="9643110" y="4721304"/>
            <a:ext cx="4084201" cy="455533"/>
          </a:xfrm>
          <a:prstGeom prst="rect">
            <a:avLst/>
          </a:prstGeom>
          <a:noFill/>
          <a:ln/>
        </p:spPr>
        <p:txBody>
          <a:bodyPr wrap="square" lIns="0" tIns="0" rIns="0" bIns="0" rtlCol="0" anchor="t"/>
          <a:lstStyle/>
          <a:p>
            <a:pPr algn="l" indent="0" marL="0">
              <a:lnSpc>
                <a:spcPts val="1750"/>
              </a:lnSpc>
              <a:buNone/>
            </a:pPr>
            <a:r>
              <a:rPr lang="en-US" sz="1100" dirty="0">
                <a:solidFill>
                  <a:srgbClr val="272525"/>
                </a:solidFill>
                <a:highlight>
                  <a:srgbClr val="F0EDEA"/>
                </a:highlight>
                <a:latin typeface="Consolas" pitchFamily="34" charset="0"/>
                <a:ea typeface="Consolas" pitchFamily="34" charset="-122"/>
                <a:cs typeface="Consolas" pitchFamily="34" charset="-120"/>
              </a:rPr>
              <a:t>\gamma \log E[e^{-X/\gamma}]</a:t>
            </a:r>
            <a:pPr algn="l" indent="0" marL="0">
              <a:lnSpc>
                <a:spcPts val="1750"/>
              </a:lnSpc>
              <a:buNone/>
            </a:pPr>
            <a:r>
              <a:rPr lang="en-US" sz="1100" dirty="0">
                <a:solidFill>
                  <a:srgbClr val="272525"/>
                </a:solidFill>
                <a:latin typeface="Inter" pitchFamily="34" charset="0"/>
                <a:ea typeface="Inter" pitchFamily="34" charset="-122"/>
                <a:cs typeface="Inter" pitchFamily="34" charset="-120"/>
              </a:rPr>
              <a:t> - Preferred for smooth optimization convergence during training.</a:t>
            </a:r>
            <a:endParaRPr lang="en-US" sz="1100" dirty="0"/>
          </a:p>
        </p:txBody>
      </p:sp>
      <p:sp>
        <p:nvSpPr>
          <p:cNvPr id="15" name="Shape 11"/>
          <p:cNvSpPr/>
          <p:nvPr/>
        </p:nvSpPr>
        <p:spPr>
          <a:xfrm>
            <a:off x="754023" y="5433536"/>
            <a:ext cx="13122354" cy="2225635"/>
          </a:xfrm>
          <a:prstGeom prst="roundRect">
            <a:avLst>
              <a:gd name="adj" fmla="val 2643"/>
            </a:avLst>
          </a:prstGeom>
          <a:solidFill>
            <a:srgbClr val="F0EDEA"/>
          </a:solidFill>
          <a:ln/>
        </p:spPr>
      </p:sp>
      <p:sp>
        <p:nvSpPr>
          <p:cNvPr id="16" name="Shape 12"/>
          <p:cNvSpPr/>
          <p:nvPr/>
        </p:nvSpPr>
        <p:spPr>
          <a:xfrm>
            <a:off x="747117" y="5433536"/>
            <a:ext cx="13136166" cy="2225635"/>
          </a:xfrm>
          <a:prstGeom prst="roundRect">
            <a:avLst>
              <a:gd name="adj" fmla="val 944"/>
            </a:avLst>
          </a:prstGeom>
          <a:solidFill>
            <a:srgbClr val="F0EDEA"/>
          </a:solidFill>
          <a:ln/>
        </p:spPr>
      </p:sp>
      <p:sp>
        <p:nvSpPr>
          <p:cNvPr id="17" name="Text 13"/>
          <p:cNvSpPr/>
          <p:nvPr/>
        </p:nvSpPr>
        <p:spPr>
          <a:xfrm>
            <a:off x="887135" y="5538549"/>
            <a:ext cx="12856131" cy="2015609"/>
          </a:xfrm>
          <a:prstGeom prst="rect">
            <a:avLst/>
          </a:prstGeom>
          <a:noFill/>
          <a:ln/>
        </p:spPr>
        <p:txBody>
          <a:bodyPr wrap="square" lIns="0" tIns="0" rIns="0" bIns="0" rtlCol="0" anchor="t"/>
          <a:lstStyle/>
          <a:p>
            <a:pPr algn="l" indent="0" marL="0">
              <a:lnSpc>
                <a:spcPts val="1750"/>
              </a:lnSpc>
              <a:buNone/>
            </a:pPr>
            <a:r>
              <a:rPr lang="en-US" sz="1100" dirty="0">
                <a:solidFill>
                  <a:srgbClr val="272525"/>
                </a:solidFill>
                <a:highlight>
                  <a:srgbClr val="F0EDEA"/>
                </a:highlight>
                <a:latin typeface="Consolas" pitchFamily="34" charset="0"/>
                <a:ea typeface="Consolas" pitchFamily="34" charset="-122"/>
                <a:cs typeface="Consolas" pitchFamily="34" charset="-120"/>
              </a:rPr>
              <a:t>def cvar_loss(pnl, alpha=0.05): s,_ = torch.sort(pnl) k = int(alpha * len(s)) return -s[:k].mean()def entropic_risk(pnl, gamma): x = -pnl / gamma m = x.max().detach() return gamma * (torch.log(torch.exp(x - m).mean()) + m)</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11279" y="558879"/>
            <a:ext cx="6652379" cy="453985"/>
          </a:xfrm>
          <a:prstGeom prst="rect">
            <a:avLst/>
          </a:prstGeom>
          <a:noFill/>
          <a:ln/>
        </p:spPr>
        <p:txBody>
          <a:bodyPr wrap="none" lIns="0" tIns="0" rIns="0" bIns="0" rtlCol="0" anchor="t"/>
          <a:lstStyle/>
          <a:p>
            <a:pPr algn="l" indent="0" marL="0">
              <a:lnSpc>
                <a:spcPts val="3550"/>
              </a:lnSpc>
              <a:buNone/>
            </a:pPr>
            <a:r>
              <a:rPr lang="en-US" sz="2850" b="1" dirty="0">
                <a:solidFill>
                  <a:srgbClr val="F95F88"/>
                </a:solidFill>
                <a:latin typeface="Petrona Bold" pitchFamily="34" charset="0"/>
                <a:ea typeface="Petrona Bold" pitchFamily="34" charset="-122"/>
                <a:cs typeface="Petrona Bold" pitchFamily="34" charset="-120"/>
              </a:rPr>
              <a:t>The Learning Component: Neural Policy</a:t>
            </a:r>
            <a:endParaRPr lang="en-US" sz="2850" dirty="0"/>
          </a:p>
        </p:txBody>
      </p:sp>
      <p:sp>
        <p:nvSpPr>
          <p:cNvPr id="3" name="Text 1"/>
          <p:cNvSpPr/>
          <p:nvPr/>
        </p:nvSpPr>
        <p:spPr>
          <a:xfrm>
            <a:off x="711279" y="1210985"/>
            <a:ext cx="13207841" cy="211455"/>
          </a:xfrm>
          <a:prstGeom prst="rect">
            <a:avLst/>
          </a:prstGeom>
          <a:noFill/>
          <a:ln/>
        </p:spPr>
        <p:txBody>
          <a:bodyPr wrap="none" lIns="0" tIns="0" rIns="0" bIns="0" rtlCol="0" anchor="t"/>
          <a:lstStyle/>
          <a:p>
            <a:pPr algn="l" indent="0" marL="0">
              <a:lnSpc>
                <a:spcPts val="1650"/>
              </a:lnSpc>
              <a:buNone/>
            </a:pPr>
            <a:r>
              <a:rPr lang="en-US" sz="1000" dirty="0">
                <a:solidFill>
                  <a:srgbClr val="272525"/>
                </a:solidFill>
                <a:latin typeface="Inter" pitchFamily="34" charset="0"/>
                <a:ea typeface="Inter" pitchFamily="34" charset="-122"/>
                <a:cs typeface="Inter" pitchFamily="34" charset="-120"/>
              </a:rPr>
              <a:t>The core of Deep Hedging is replacing the analytic delta with a neural network that learns the optimal hedge ratio </a:t>
            </a:r>
            <a:pPr algn="l" indent="0" marL="0">
              <a:lnSpc>
                <a:spcPts val="1650"/>
              </a:lnSpc>
              <a:buNone/>
            </a:pPr>
            <a:r>
              <a:rPr lang="en-US" sz="1000" i="1" dirty="0">
                <a:solidFill>
                  <a:srgbClr val="272525"/>
                </a:solidFill>
                <a:latin typeface="Inter" pitchFamily="34" charset="0"/>
                <a:ea typeface="Inter" pitchFamily="34" charset="-122"/>
                <a:cs typeface="Inter" pitchFamily="34" charset="-120"/>
              </a:rPr>
              <a:t>\delta_t</a:t>
            </a:r>
            <a:pPr algn="l" indent="0" marL="0">
              <a:lnSpc>
                <a:spcPts val="1650"/>
              </a:lnSpc>
              <a:buNone/>
            </a:pPr>
            <a:r>
              <a:rPr lang="en-US" sz="1000" dirty="0">
                <a:solidFill>
                  <a:srgbClr val="272525"/>
                </a:solidFill>
                <a:latin typeface="Inter" pitchFamily="34" charset="0"/>
                <a:ea typeface="Inter" pitchFamily="34" charset="-122"/>
                <a:cs typeface="Inter" pitchFamily="34" charset="-120"/>
              </a:rPr>
              <a:t> by processing real-time market features and previous actions.</a:t>
            </a:r>
            <a:endParaRPr lang="en-US" sz="1000" dirty="0"/>
          </a:p>
        </p:txBody>
      </p:sp>
      <p:sp>
        <p:nvSpPr>
          <p:cNvPr id="4" name="Text 2"/>
          <p:cNvSpPr/>
          <p:nvPr/>
        </p:nvSpPr>
        <p:spPr>
          <a:xfrm>
            <a:off x="711279" y="1703070"/>
            <a:ext cx="2286953" cy="272415"/>
          </a:xfrm>
          <a:prstGeom prst="rect">
            <a:avLst/>
          </a:prstGeom>
          <a:noFill/>
          <a:ln/>
        </p:spPr>
        <p:txBody>
          <a:bodyPr wrap="none" lIns="0" tIns="0" rIns="0" bIns="0" rtlCol="0" anchor="t"/>
          <a:lstStyle/>
          <a:p>
            <a:pPr algn="l" indent="0" marL="0">
              <a:lnSpc>
                <a:spcPts val="2100"/>
              </a:lnSpc>
              <a:buNone/>
            </a:pPr>
            <a:r>
              <a:rPr lang="en-US" sz="1700" b="1" dirty="0">
                <a:solidFill>
                  <a:srgbClr val="F95F88"/>
                </a:solidFill>
                <a:latin typeface="Petrona Bold" pitchFamily="34" charset="0"/>
                <a:ea typeface="Petrona Bold" pitchFamily="34" charset="-122"/>
                <a:cs typeface="Petrona Bold" pitchFamily="34" charset="-120"/>
              </a:rPr>
              <a:t>Neural Network Inputs</a:t>
            </a:r>
            <a:endParaRPr lang="en-US" sz="1700" dirty="0"/>
          </a:p>
        </p:txBody>
      </p:sp>
      <p:sp>
        <p:nvSpPr>
          <p:cNvPr id="5" name="Shape 3"/>
          <p:cNvSpPr/>
          <p:nvPr/>
        </p:nvSpPr>
        <p:spPr>
          <a:xfrm>
            <a:off x="711279" y="2322195"/>
            <a:ext cx="6442829" cy="1047988"/>
          </a:xfrm>
          <a:prstGeom prst="roundRect">
            <a:avLst>
              <a:gd name="adj" fmla="val 6980"/>
            </a:avLst>
          </a:prstGeom>
          <a:solidFill>
            <a:srgbClr val="FDFAF7"/>
          </a:solidFill>
          <a:ln/>
        </p:spPr>
      </p:sp>
      <p:sp>
        <p:nvSpPr>
          <p:cNvPr id="6" name="Shape 4"/>
          <p:cNvSpPr/>
          <p:nvPr/>
        </p:nvSpPr>
        <p:spPr>
          <a:xfrm>
            <a:off x="711279" y="2306955"/>
            <a:ext cx="6442829" cy="60960"/>
          </a:xfrm>
          <a:prstGeom prst="roundRect">
            <a:avLst>
              <a:gd name="adj" fmla="val 91017"/>
            </a:avLst>
          </a:prstGeom>
          <a:solidFill>
            <a:srgbClr val="6237C8"/>
          </a:solidFill>
          <a:ln/>
        </p:spPr>
      </p:sp>
      <p:sp>
        <p:nvSpPr>
          <p:cNvPr id="7" name="Shape 5"/>
          <p:cNvSpPr/>
          <p:nvPr/>
        </p:nvSpPr>
        <p:spPr>
          <a:xfrm>
            <a:off x="3734514" y="2124075"/>
            <a:ext cx="396240" cy="396240"/>
          </a:xfrm>
          <a:prstGeom prst="roundRect">
            <a:avLst>
              <a:gd name="adj" fmla="val 230769"/>
            </a:avLst>
          </a:prstGeom>
          <a:solidFill>
            <a:srgbClr val="6237C8"/>
          </a:solidFill>
          <a:ln/>
        </p:spPr>
      </p:sp>
      <p:pic>
        <p:nvPicPr>
          <p:cNvPr id="8" name="Image 0" descr="preencoded.png">    </p:cNvPr>
          <p:cNvPicPr>
            <a:picLocks noChangeAspect="1"/>
          </p:cNvPicPr>
          <p:nvPr/>
        </p:nvPicPr>
        <p:blipFill>
          <a:blip r:embed="Rc00ae31370624d74">
            <a:extLst>
              <a:ext uri="{96DAC541-7B7A-43D3-8B79-37D633B846F1}">
                <asvg:svgBlip xmlns:asvg="http://schemas.microsoft.com/office/drawing/2016/SVG/main" r:embed="R982936e37b3d4c0f"/>
              </a:ext>
            </a:extLst>
          </a:blip>
          <a:stretch>
            <a:fillRect/>
          </a:stretch>
        </p:blipFill>
        <p:spPr>
          <a:xfrm>
            <a:off x="3853339" y="2242899"/>
            <a:ext cx="158472" cy="158472"/>
          </a:xfrm>
          <a:prstGeom prst="rect">
            <a:avLst/>
          </a:prstGeom>
        </p:spPr>
      </p:pic>
      <p:sp>
        <p:nvSpPr>
          <p:cNvPr id="9" name="Text 6"/>
          <p:cNvSpPr/>
          <p:nvPr/>
        </p:nvSpPr>
        <p:spPr>
          <a:xfrm>
            <a:off x="858560" y="2652355"/>
            <a:ext cx="1816418" cy="227052"/>
          </a:xfrm>
          <a:prstGeom prst="rect">
            <a:avLst/>
          </a:prstGeom>
          <a:noFill/>
          <a:ln/>
        </p:spPr>
        <p:txBody>
          <a:bodyPr wrap="none" lIns="0" tIns="0" rIns="0" bIns="0" rtlCol="0" anchor="t"/>
          <a:lstStyle/>
          <a:p>
            <a:pPr algn="l" indent="0" marL="0">
              <a:lnSpc>
                <a:spcPts val="1750"/>
              </a:lnSpc>
              <a:buNone/>
            </a:pPr>
            <a:r>
              <a:rPr lang="en-US" sz="1400" b="1" dirty="0">
                <a:solidFill>
                  <a:srgbClr val="272525"/>
                </a:solidFill>
                <a:latin typeface="Petrona Bold" pitchFamily="34" charset="0"/>
                <a:ea typeface="Petrona Bold" pitchFamily="34" charset="-122"/>
                <a:cs typeface="Petrona Bold" pitchFamily="34" charset="-120"/>
              </a:rPr>
              <a:t>Price (Sₜ)</a:t>
            </a:r>
            <a:endParaRPr lang="en-US" sz="1400" dirty="0"/>
          </a:p>
        </p:txBody>
      </p:sp>
      <p:sp>
        <p:nvSpPr>
          <p:cNvPr id="10" name="Text 7"/>
          <p:cNvSpPr/>
          <p:nvPr/>
        </p:nvSpPr>
        <p:spPr>
          <a:xfrm>
            <a:off x="858560" y="3011448"/>
            <a:ext cx="6148268" cy="211455"/>
          </a:xfrm>
          <a:prstGeom prst="rect">
            <a:avLst/>
          </a:prstGeom>
          <a:noFill/>
          <a:ln/>
        </p:spPr>
        <p:txBody>
          <a:bodyPr wrap="none" lIns="0" tIns="0" rIns="0" bIns="0" rtlCol="0" anchor="t"/>
          <a:lstStyle/>
          <a:p>
            <a:pPr algn="l" indent="0" marL="0">
              <a:lnSpc>
                <a:spcPts val="1650"/>
              </a:lnSpc>
              <a:buNone/>
            </a:pPr>
            <a:r>
              <a:rPr lang="en-US" sz="1000" dirty="0">
                <a:solidFill>
                  <a:srgbClr val="272525"/>
                </a:solidFill>
                <a:latin typeface="Inter" pitchFamily="34" charset="0"/>
                <a:ea typeface="Inter" pitchFamily="34" charset="-122"/>
                <a:cs typeface="Inter" pitchFamily="34" charset="-120"/>
              </a:rPr>
              <a:t>The current price of the underlying asset.</a:t>
            </a:r>
            <a:endParaRPr lang="en-US" sz="1000" dirty="0"/>
          </a:p>
        </p:txBody>
      </p:sp>
      <p:sp>
        <p:nvSpPr>
          <p:cNvPr id="11" name="Shape 8"/>
          <p:cNvSpPr/>
          <p:nvPr/>
        </p:nvSpPr>
        <p:spPr>
          <a:xfrm>
            <a:off x="711279" y="3700343"/>
            <a:ext cx="6442829" cy="1055608"/>
          </a:xfrm>
          <a:prstGeom prst="roundRect">
            <a:avLst>
              <a:gd name="adj" fmla="val 6930"/>
            </a:avLst>
          </a:prstGeom>
          <a:solidFill>
            <a:srgbClr val="FDFAF7"/>
          </a:solidFill>
          <a:ln/>
        </p:spPr>
      </p:sp>
      <p:sp>
        <p:nvSpPr>
          <p:cNvPr id="12" name="Shape 9"/>
          <p:cNvSpPr/>
          <p:nvPr/>
        </p:nvSpPr>
        <p:spPr>
          <a:xfrm>
            <a:off x="711279" y="3685103"/>
            <a:ext cx="6442829" cy="60960"/>
          </a:xfrm>
          <a:prstGeom prst="roundRect">
            <a:avLst>
              <a:gd name="adj" fmla="val 91017"/>
            </a:avLst>
          </a:prstGeom>
          <a:solidFill>
            <a:srgbClr val="6237C8"/>
          </a:solidFill>
          <a:ln/>
        </p:spPr>
      </p:sp>
      <p:sp>
        <p:nvSpPr>
          <p:cNvPr id="13" name="Shape 10"/>
          <p:cNvSpPr/>
          <p:nvPr/>
        </p:nvSpPr>
        <p:spPr>
          <a:xfrm>
            <a:off x="3734514" y="3502223"/>
            <a:ext cx="396240" cy="396240"/>
          </a:xfrm>
          <a:prstGeom prst="roundRect">
            <a:avLst>
              <a:gd name="adj" fmla="val 230769"/>
            </a:avLst>
          </a:prstGeom>
          <a:solidFill>
            <a:srgbClr val="6237C8"/>
          </a:solidFill>
          <a:ln/>
        </p:spPr>
      </p:sp>
      <p:pic>
        <p:nvPicPr>
          <p:cNvPr id="14" name="Image 1" descr="preencoded.png">    </p:cNvPr>
          <p:cNvPicPr>
            <a:picLocks noChangeAspect="1"/>
          </p:cNvPicPr>
          <p:nvPr/>
        </p:nvPicPr>
        <p:blipFill>
          <a:blip r:embed="Rc00ae31370624d74">
            <a:extLst>
              <a:ext uri="{96DAC541-7B7A-43D3-8B79-37D633B846F1}">
                <asvg:svgBlip xmlns:asvg="http://schemas.microsoft.com/office/drawing/2016/SVG/main" r:embed="R4997518eff554a52"/>
              </a:ext>
            </a:extLst>
          </a:blip>
          <a:stretch>
            <a:fillRect/>
          </a:stretch>
        </p:blipFill>
        <p:spPr>
          <a:xfrm>
            <a:off x="3853339" y="3621048"/>
            <a:ext cx="158472" cy="158472"/>
          </a:xfrm>
          <a:prstGeom prst="rect">
            <a:avLst/>
          </a:prstGeom>
        </p:spPr>
      </p:pic>
      <p:sp>
        <p:nvSpPr>
          <p:cNvPr id="15" name="Text 11"/>
          <p:cNvSpPr/>
          <p:nvPr/>
        </p:nvSpPr>
        <p:spPr>
          <a:xfrm>
            <a:off x="858560" y="4030504"/>
            <a:ext cx="1816418" cy="234672"/>
          </a:xfrm>
          <a:prstGeom prst="rect">
            <a:avLst/>
          </a:prstGeom>
          <a:noFill/>
          <a:ln/>
        </p:spPr>
        <p:txBody>
          <a:bodyPr wrap="none" lIns="0" tIns="0" rIns="0" bIns="0" rtlCol="0" anchor="t"/>
          <a:lstStyle/>
          <a:p>
            <a:pPr algn="l" indent="0" marL="0">
              <a:lnSpc>
                <a:spcPts val="1750"/>
              </a:lnSpc>
              <a:buNone/>
            </a:pPr>
            <a:r>
              <a:rPr lang="en-US" sz="1400" b="1" dirty="0">
                <a:solidFill>
                  <a:srgbClr val="272525"/>
                </a:solidFill>
                <a:latin typeface="Petrona Bold" pitchFamily="34" charset="0"/>
                <a:ea typeface="Petrona Bold" pitchFamily="34" charset="-122"/>
                <a:cs typeface="Petrona Bold" pitchFamily="34" charset="-120"/>
              </a:rPr>
              <a:t>Volatility (</a:t>
            </a:r>
            <a:pPr algn="l" indent="0" marL="0">
              <a:lnSpc>
                <a:spcPts val="1750"/>
              </a:lnSpc>
              <a:buNone/>
            </a:pPr>
            <a:r>
              <a:rPr lang="en-US" sz="1400" b="1" i="1" dirty="0">
                <a:solidFill>
                  <a:srgbClr val="272525"/>
                </a:solidFill>
                <a:latin typeface="Petrona Bold" pitchFamily="34" charset="0"/>
                <a:ea typeface="Petrona Bold" pitchFamily="34" charset="-122"/>
                <a:cs typeface="Petrona Bold" pitchFamily="34" charset="-120"/>
              </a:rPr>
              <a:t>\sqrt{v_t}</a:t>
            </a:r>
            <a:pPr algn="l" indent="0" marL="0">
              <a:lnSpc>
                <a:spcPts val="1750"/>
              </a:lnSpc>
              <a:buNone/>
            </a:pPr>
            <a:r>
              <a:rPr lang="en-US" sz="1400" b="1" dirty="0">
                <a:solidFill>
                  <a:srgbClr val="272525"/>
                </a:solidFill>
                <a:latin typeface="Petrona Bold" pitchFamily="34" charset="0"/>
                <a:ea typeface="Petrona Bold" pitchFamily="34" charset="-122"/>
                <a:cs typeface="Petrona Bold" pitchFamily="34" charset="-120"/>
              </a:rPr>
              <a:t>)</a:t>
            </a:r>
            <a:endParaRPr lang="en-US" sz="1400" dirty="0"/>
          </a:p>
        </p:txBody>
      </p:sp>
      <p:pic>
        <p:nvPicPr>
          <p:cNvPr id="16" name="Image 2" descr="preencoded.png">    </p:cNvPr>
          <p:cNvPicPr>
            <a:picLocks noChangeAspect="1"/>
          </p:cNvPicPr>
          <p:nvPr/>
        </p:nvPicPr>
        <p:blipFill>
          <a:blip r:embed="R9f1ec67b497c4c1a"/>
          <a:stretch>
            <a:fillRect/>
          </a:stretch>
        </p:blipFill>
        <p:spPr>
          <a:xfrm>
            <a:off x="1727954" y="4062413"/>
            <a:ext cx="287536" cy="191572"/>
          </a:xfrm>
          <a:prstGeom prst="rect">
            <a:avLst/>
          </a:prstGeom>
        </p:spPr>
      </p:pic>
      <p:sp>
        <p:nvSpPr>
          <p:cNvPr id="17" name="Text 12"/>
          <p:cNvSpPr/>
          <p:nvPr/>
        </p:nvSpPr>
        <p:spPr>
          <a:xfrm>
            <a:off x="858560" y="4397216"/>
            <a:ext cx="6148268" cy="211455"/>
          </a:xfrm>
          <a:prstGeom prst="rect">
            <a:avLst/>
          </a:prstGeom>
          <a:noFill/>
          <a:ln/>
        </p:spPr>
        <p:txBody>
          <a:bodyPr wrap="none" lIns="0" tIns="0" rIns="0" bIns="0" rtlCol="0" anchor="t"/>
          <a:lstStyle/>
          <a:p>
            <a:pPr algn="l" indent="0" marL="0">
              <a:lnSpc>
                <a:spcPts val="1650"/>
              </a:lnSpc>
              <a:buNone/>
            </a:pPr>
            <a:r>
              <a:rPr lang="en-US" sz="1000" dirty="0">
                <a:solidFill>
                  <a:srgbClr val="272525"/>
                </a:solidFill>
                <a:latin typeface="Inter" pitchFamily="34" charset="0"/>
                <a:ea typeface="Inter" pitchFamily="34" charset="-122"/>
                <a:cs typeface="Inter" pitchFamily="34" charset="-120"/>
              </a:rPr>
              <a:t>The current instantaneous volatility (if using a stochastic model like Heston).</a:t>
            </a:r>
            <a:endParaRPr lang="en-US" sz="1000" dirty="0"/>
          </a:p>
        </p:txBody>
      </p:sp>
      <p:sp>
        <p:nvSpPr>
          <p:cNvPr id="18" name="Shape 13"/>
          <p:cNvSpPr/>
          <p:nvPr/>
        </p:nvSpPr>
        <p:spPr>
          <a:xfrm>
            <a:off x="711279" y="5086112"/>
            <a:ext cx="6442829" cy="1056799"/>
          </a:xfrm>
          <a:prstGeom prst="roundRect">
            <a:avLst>
              <a:gd name="adj" fmla="val 6922"/>
            </a:avLst>
          </a:prstGeom>
          <a:solidFill>
            <a:srgbClr val="FDFAF7"/>
          </a:solidFill>
          <a:ln/>
        </p:spPr>
      </p:sp>
      <p:sp>
        <p:nvSpPr>
          <p:cNvPr id="19" name="Shape 14"/>
          <p:cNvSpPr/>
          <p:nvPr/>
        </p:nvSpPr>
        <p:spPr>
          <a:xfrm>
            <a:off x="711279" y="5070872"/>
            <a:ext cx="6442829" cy="60960"/>
          </a:xfrm>
          <a:prstGeom prst="roundRect">
            <a:avLst>
              <a:gd name="adj" fmla="val 91017"/>
            </a:avLst>
          </a:prstGeom>
          <a:solidFill>
            <a:srgbClr val="6237C8"/>
          </a:solidFill>
          <a:ln/>
        </p:spPr>
      </p:sp>
      <p:sp>
        <p:nvSpPr>
          <p:cNvPr id="20" name="Shape 15"/>
          <p:cNvSpPr/>
          <p:nvPr/>
        </p:nvSpPr>
        <p:spPr>
          <a:xfrm>
            <a:off x="3734514" y="4887992"/>
            <a:ext cx="396240" cy="396240"/>
          </a:xfrm>
          <a:prstGeom prst="roundRect">
            <a:avLst>
              <a:gd name="adj" fmla="val 230769"/>
            </a:avLst>
          </a:prstGeom>
          <a:solidFill>
            <a:srgbClr val="6237C8"/>
          </a:solidFill>
          <a:ln/>
        </p:spPr>
      </p:sp>
      <p:pic>
        <p:nvPicPr>
          <p:cNvPr id="21" name="Image 3" descr="preencoded.png">    </p:cNvPr>
          <p:cNvPicPr>
            <a:picLocks noChangeAspect="1"/>
          </p:cNvPicPr>
          <p:nvPr/>
        </p:nvPicPr>
        <p:blipFill>
          <a:blip r:embed="Rc00ae31370624d74">
            <a:extLst>
              <a:ext uri="{96DAC541-7B7A-43D3-8B79-37D633B846F1}">
                <asvg:svgBlip xmlns:asvg="http://schemas.microsoft.com/office/drawing/2016/SVG/main" r:embed="R22229cdac62a48b7"/>
              </a:ext>
            </a:extLst>
          </a:blip>
          <a:stretch>
            <a:fillRect/>
          </a:stretch>
        </p:blipFill>
        <p:spPr>
          <a:xfrm>
            <a:off x="3853339" y="5006816"/>
            <a:ext cx="158472" cy="158472"/>
          </a:xfrm>
          <a:prstGeom prst="rect">
            <a:avLst/>
          </a:prstGeom>
        </p:spPr>
      </p:pic>
      <p:sp>
        <p:nvSpPr>
          <p:cNvPr id="22" name="Text 16"/>
          <p:cNvSpPr/>
          <p:nvPr/>
        </p:nvSpPr>
        <p:spPr>
          <a:xfrm>
            <a:off x="858560" y="5416272"/>
            <a:ext cx="1816418" cy="235863"/>
          </a:xfrm>
          <a:prstGeom prst="rect">
            <a:avLst/>
          </a:prstGeom>
          <a:noFill/>
          <a:ln/>
        </p:spPr>
        <p:txBody>
          <a:bodyPr wrap="none" lIns="0" tIns="0" rIns="0" bIns="0" rtlCol="0" anchor="t"/>
          <a:lstStyle/>
          <a:p>
            <a:pPr algn="l" indent="0" marL="0">
              <a:lnSpc>
                <a:spcPts val="1750"/>
              </a:lnSpc>
              <a:buNone/>
            </a:pPr>
            <a:r>
              <a:rPr lang="en-US" sz="1400" b="1" dirty="0">
                <a:solidFill>
                  <a:srgbClr val="272525"/>
                </a:solidFill>
                <a:latin typeface="Petrona Bold" pitchFamily="34" charset="0"/>
                <a:ea typeface="Petrona Bold" pitchFamily="34" charset="-122"/>
                <a:cs typeface="Petrona Bold" pitchFamily="34" charset="-120"/>
              </a:rPr>
              <a:t>Time-to-Expiry (</a:t>
            </a:r>
            <a:pPr algn="l" indent="0" marL="0">
              <a:lnSpc>
                <a:spcPts val="1750"/>
              </a:lnSpc>
              <a:buNone/>
            </a:pPr>
            <a:r>
              <a:rPr lang="en-US" sz="1400" b="1" i="1" dirty="0">
                <a:solidFill>
                  <a:srgbClr val="272525"/>
                </a:solidFill>
                <a:latin typeface="Petrona Bold" pitchFamily="34" charset="0"/>
                <a:ea typeface="Petrona Bold" pitchFamily="34" charset="-122"/>
                <a:cs typeface="Petrona Bold" pitchFamily="34" charset="-120"/>
              </a:rPr>
              <a:t>\tau_t</a:t>
            </a:r>
            <a:pPr algn="l" indent="0" marL="0">
              <a:lnSpc>
                <a:spcPts val="1750"/>
              </a:lnSpc>
              <a:buNone/>
            </a:pPr>
            <a:r>
              <a:rPr lang="en-US" sz="1400" b="1" dirty="0">
                <a:solidFill>
                  <a:srgbClr val="272525"/>
                </a:solidFill>
                <a:latin typeface="Petrona Bold" pitchFamily="34" charset="0"/>
                <a:ea typeface="Petrona Bold" pitchFamily="34" charset="-122"/>
                <a:cs typeface="Petrona Bold" pitchFamily="34" charset="-120"/>
              </a:rPr>
              <a:t>)</a:t>
            </a:r>
            <a:endParaRPr lang="en-US" sz="1400" dirty="0"/>
          </a:p>
        </p:txBody>
      </p:sp>
      <p:sp>
        <p:nvSpPr>
          <p:cNvPr id="23" name="Text 17"/>
          <p:cNvSpPr/>
          <p:nvPr/>
        </p:nvSpPr>
        <p:spPr>
          <a:xfrm>
            <a:off x="858560" y="5784175"/>
            <a:ext cx="6148268" cy="211455"/>
          </a:xfrm>
          <a:prstGeom prst="rect">
            <a:avLst/>
          </a:prstGeom>
          <a:noFill/>
          <a:ln/>
        </p:spPr>
        <p:txBody>
          <a:bodyPr wrap="none" lIns="0" tIns="0" rIns="0" bIns="0" rtlCol="0" anchor="t"/>
          <a:lstStyle/>
          <a:p>
            <a:pPr algn="l" indent="0" marL="0">
              <a:lnSpc>
                <a:spcPts val="1650"/>
              </a:lnSpc>
              <a:buNone/>
            </a:pPr>
            <a:r>
              <a:rPr lang="en-US" sz="1000" dirty="0">
                <a:solidFill>
                  <a:srgbClr val="272525"/>
                </a:solidFill>
                <a:latin typeface="Inter" pitchFamily="34" charset="0"/>
                <a:ea typeface="Inter" pitchFamily="34" charset="-122"/>
                <a:cs typeface="Inter" pitchFamily="34" charset="-120"/>
              </a:rPr>
              <a:t>Normalized time remaining until the option expires.</a:t>
            </a:r>
            <a:endParaRPr lang="en-US" sz="1000" dirty="0"/>
          </a:p>
        </p:txBody>
      </p:sp>
      <p:sp>
        <p:nvSpPr>
          <p:cNvPr id="24" name="Shape 18"/>
          <p:cNvSpPr/>
          <p:nvPr/>
        </p:nvSpPr>
        <p:spPr>
          <a:xfrm>
            <a:off x="711279" y="6473071"/>
            <a:ext cx="6442829" cy="1056799"/>
          </a:xfrm>
          <a:prstGeom prst="roundRect">
            <a:avLst>
              <a:gd name="adj" fmla="val 6922"/>
            </a:avLst>
          </a:prstGeom>
          <a:solidFill>
            <a:srgbClr val="FDFAF7"/>
          </a:solidFill>
          <a:ln/>
        </p:spPr>
      </p:sp>
      <p:sp>
        <p:nvSpPr>
          <p:cNvPr id="25" name="Shape 19"/>
          <p:cNvSpPr/>
          <p:nvPr/>
        </p:nvSpPr>
        <p:spPr>
          <a:xfrm>
            <a:off x="711279" y="6457831"/>
            <a:ext cx="6442829" cy="60960"/>
          </a:xfrm>
          <a:prstGeom prst="roundRect">
            <a:avLst>
              <a:gd name="adj" fmla="val 91017"/>
            </a:avLst>
          </a:prstGeom>
          <a:solidFill>
            <a:srgbClr val="6237C8"/>
          </a:solidFill>
          <a:ln/>
        </p:spPr>
      </p:sp>
      <p:sp>
        <p:nvSpPr>
          <p:cNvPr id="26" name="Shape 20"/>
          <p:cNvSpPr/>
          <p:nvPr/>
        </p:nvSpPr>
        <p:spPr>
          <a:xfrm>
            <a:off x="3734514" y="6274951"/>
            <a:ext cx="396240" cy="396240"/>
          </a:xfrm>
          <a:prstGeom prst="roundRect">
            <a:avLst>
              <a:gd name="adj" fmla="val 230769"/>
            </a:avLst>
          </a:prstGeom>
          <a:solidFill>
            <a:srgbClr val="6237C8"/>
          </a:solidFill>
          <a:ln/>
        </p:spPr>
      </p:sp>
      <p:pic>
        <p:nvPicPr>
          <p:cNvPr id="27" name="Image 4" descr="preencoded.png">    </p:cNvPr>
          <p:cNvPicPr>
            <a:picLocks noChangeAspect="1"/>
          </p:cNvPicPr>
          <p:nvPr/>
        </p:nvPicPr>
        <p:blipFill>
          <a:blip r:embed="Rc00ae31370624d74">
            <a:extLst>
              <a:ext uri="{96DAC541-7B7A-43D3-8B79-37D633B846F1}">
                <asvg:svgBlip xmlns:asvg="http://schemas.microsoft.com/office/drawing/2016/SVG/main" r:embed="Rb6887fbf5a4a4b30"/>
              </a:ext>
            </a:extLst>
          </a:blip>
          <a:stretch>
            <a:fillRect/>
          </a:stretch>
        </p:blipFill>
        <p:spPr>
          <a:xfrm>
            <a:off x="3853339" y="6393775"/>
            <a:ext cx="158472" cy="158472"/>
          </a:xfrm>
          <a:prstGeom prst="rect">
            <a:avLst/>
          </a:prstGeom>
        </p:spPr>
      </p:pic>
      <p:sp>
        <p:nvSpPr>
          <p:cNvPr id="28" name="Text 21"/>
          <p:cNvSpPr/>
          <p:nvPr/>
        </p:nvSpPr>
        <p:spPr>
          <a:xfrm>
            <a:off x="858560" y="6803231"/>
            <a:ext cx="1816418" cy="235863"/>
          </a:xfrm>
          <a:prstGeom prst="rect">
            <a:avLst/>
          </a:prstGeom>
          <a:noFill/>
          <a:ln/>
        </p:spPr>
        <p:txBody>
          <a:bodyPr wrap="none" lIns="0" tIns="0" rIns="0" bIns="0" rtlCol="0" anchor="t"/>
          <a:lstStyle/>
          <a:p>
            <a:pPr algn="l" indent="0" marL="0">
              <a:lnSpc>
                <a:spcPts val="1750"/>
              </a:lnSpc>
              <a:buNone/>
            </a:pPr>
            <a:r>
              <a:rPr lang="en-US" sz="1400" b="1" dirty="0">
                <a:solidFill>
                  <a:srgbClr val="272525"/>
                </a:solidFill>
                <a:latin typeface="Petrona Bold" pitchFamily="34" charset="0"/>
                <a:ea typeface="Petrona Bold" pitchFamily="34" charset="-122"/>
                <a:cs typeface="Petrona Bold" pitchFamily="34" charset="-120"/>
              </a:rPr>
              <a:t>Previous Hedge (</a:t>
            </a:r>
            <a:pPr algn="l" indent="0" marL="0">
              <a:lnSpc>
                <a:spcPts val="1750"/>
              </a:lnSpc>
              <a:buNone/>
            </a:pPr>
            <a:r>
              <a:rPr lang="en-US" sz="1400" b="1" i="1" dirty="0">
                <a:solidFill>
                  <a:srgbClr val="272525"/>
                </a:solidFill>
                <a:latin typeface="Petrona Bold" pitchFamily="34" charset="0"/>
                <a:ea typeface="Petrona Bold" pitchFamily="34" charset="-122"/>
                <a:cs typeface="Petrona Bold" pitchFamily="34" charset="-120"/>
              </a:rPr>
              <a:t>\delta_{t-1}</a:t>
            </a:r>
            <a:pPr algn="l" indent="0" marL="0">
              <a:lnSpc>
                <a:spcPts val="1750"/>
              </a:lnSpc>
              <a:buNone/>
            </a:pPr>
            <a:r>
              <a:rPr lang="en-US" sz="1400" b="1" dirty="0">
                <a:solidFill>
                  <a:srgbClr val="272525"/>
                </a:solidFill>
                <a:latin typeface="Petrona Bold" pitchFamily="34" charset="0"/>
                <a:ea typeface="Petrona Bold" pitchFamily="34" charset="-122"/>
                <a:cs typeface="Petrona Bold" pitchFamily="34" charset="-120"/>
              </a:rPr>
              <a:t>)</a:t>
            </a:r>
            <a:endParaRPr lang="en-US" sz="1400" dirty="0"/>
          </a:p>
        </p:txBody>
      </p:sp>
      <p:sp>
        <p:nvSpPr>
          <p:cNvPr id="29" name="Text 22"/>
          <p:cNvSpPr/>
          <p:nvPr/>
        </p:nvSpPr>
        <p:spPr>
          <a:xfrm>
            <a:off x="858560" y="7171134"/>
            <a:ext cx="6148268" cy="211455"/>
          </a:xfrm>
          <a:prstGeom prst="rect">
            <a:avLst/>
          </a:prstGeom>
          <a:noFill/>
          <a:ln/>
        </p:spPr>
        <p:txBody>
          <a:bodyPr wrap="none" lIns="0" tIns="0" rIns="0" bIns="0" rtlCol="0" anchor="t"/>
          <a:lstStyle/>
          <a:p>
            <a:pPr algn="l" indent="0" marL="0">
              <a:lnSpc>
                <a:spcPts val="1650"/>
              </a:lnSpc>
              <a:buNone/>
            </a:pPr>
            <a:r>
              <a:rPr lang="en-US" sz="1000" dirty="0">
                <a:solidFill>
                  <a:srgbClr val="272525"/>
                </a:solidFill>
                <a:latin typeface="Inter" pitchFamily="34" charset="0"/>
                <a:ea typeface="Inter" pitchFamily="34" charset="-122"/>
                <a:cs typeface="Inter" pitchFamily="34" charset="-120"/>
              </a:rPr>
              <a:t>The position held in the previous time step, crucial for cost calculation.</a:t>
            </a:r>
            <a:endParaRPr lang="en-US" sz="1000" dirty="0"/>
          </a:p>
        </p:txBody>
      </p:sp>
      <p:sp>
        <p:nvSpPr>
          <p:cNvPr id="30" name="Text 23"/>
          <p:cNvSpPr/>
          <p:nvPr/>
        </p:nvSpPr>
        <p:spPr>
          <a:xfrm>
            <a:off x="7483912" y="1703070"/>
            <a:ext cx="2789634" cy="272415"/>
          </a:xfrm>
          <a:prstGeom prst="rect">
            <a:avLst/>
          </a:prstGeom>
          <a:noFill/>
          <a:ln/>
        </p:spPr>
        <p:txBody>
          <a:bodyPr wrap="none" lIns="0" tIns="0" rIns="0" bIns="0" rtlCol="0" anchor="t"/>
          <a:lstStyle/>
          <a:p>
            <a:pPr algn="l" indent="0" marL="0">
              <a:lnSpc>
                <a:spcPts val="2100"/>
              </a:lnSpc>
              <a:buNone/>
            </a:pPr>
            <a:r>
              <a:rPr lang="en-US" sz="1700" b="1" dirty="0">
                <a:solidFill>
                  <a:srgbClr val="F95F88"/>
                </a:solidFill>
                <a:latin typeface="Petrona Bold" pitchFamily="34" charset="0"/>
                <a:ea typeface="Petrona Bold" pitchFamily="34" charset="-122"/>
                <a:cs typeface="Petrona Bold" pitchFamily="34" charset="-120"/>
              </a:rPr>
              <a:t>GRU Policy Implementation</a:t>
            </a:r>
            <a:endParaRPr lang="en-US" sz="1700" dirty="0"/>
          </a:p>
        </p:txBody>
      </p:sp>
      <p:sp>
        <p:nvSpPr>
          <p:cNvPr id="31" name="Shape 24"/>
          <p:cNvSpPr/>
          <p:nvPr/>
        </p:nvSpPr>
        <p:spPr>
          <a:xfrm>
            <a:off x="7483912" y="2124075"/>
            <a:ext cx="6442829" cy="1889760"/>
          </a:xfrm>
          <a:prstGeom prst="roundRect">
            <a:avLst>
              <a:gd name="adj" fmla="val 2936"/>
            </a:avLst>
          </a:prstGeom>
          <a:solidFill>
            <a:srgbClr val="F0EDEA"/>
          </a:solidFill>
          <a:ln/>
        </p:spPr>
      </p:sp>
      <p:sp>
        <p:nvSpPr>
          <p:cNvPr id="32" name="Shape 25"/>
          <p:cNvSpPr/>
          <p:nvPr/>
        </p:nvSpPr>
        <p:spPr>
          <a:xfrm>
            <a:off x="7477363" y="2124075"/>
            <a:ext cx="6455926" cy="1889760"/>
          </a:xfrm>
          <a:prstGeom prst="roundRect">
            <a:avLst>
              <a:gd name="adj" fmla="val 1049"/>
            </a:avLst>
          </a:prstGeom>
          <a:solidFill>
            <a:srgbClr val="F0EDEA"/>
          </a:solidFill>
          <a:ln/>
        </p:spPr>
      </p:sp>
      <p:sp>
        <p:nvSpPr>
          <p:cNvPr id="33" name="Text 26"/>
          <p:cNvSpPr/>
          <p:nvPr/>
        </p:nvSpPr>
        <p:spPr>
          <a:xfrm>
            <a:off x="7609403" y="2223135"/>
            <a:ext cx="6191845" cy="1691640"/>
          </a:xfrm>
          <a:prstGeom prst="rect">
            <a:avLst/>
          </a:prstGeom>
          <a:noFill/>
          <a:ln/>
        </p:spPr>
        <p:txBody>
          <a:bodyPr wrap="square" lIns="0" tIns="0" rIns="0" bIns="0" rtlCol="0" anchor="t"/>
          <a:lstStyle/>
          <a:p>
            <a:pPr algn="l" indent="0" marL="0">
              <a:lnSpc>
                <a:spcPts val="1650"/>
              </a:lnSpc>
              <a:buNone/>
            </a:pPr>
            <a:r>
              <a:rPr lang="en-US" sz="1000" dirty="0">
                <a:solidFill>
                  <a:srgbClr val="272525"/>
                </a:solidFill>
                <a:highlight>
                  <a:srgbClr val="F0EDEA"/>
                </a:highlight>
                <a:latin typeface="Consolas" pitchFamily="34" charset="0"/>
                <a:ea typeface="Consolas" pitchFamily="34" charset="-122"/>
                <a:cs typeface="Consolas" pitchFamily="34" charset="-120"/>
              </a:rPr>
              <a:t>class HedgePolicyGRU(nn.Module): def __init__(self, hidden=128, num_instr=2): super().__init__() self.gru = nn.GRU(input_size=3, hidden_size=hidden, batch_first=True) self.head = nn.Linear(hidden, num_instr) def forward(self, seq): h,_ = self.gru(seq) return self.head(h)</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667464"/>
            <a:ext cx="6280547" cy="545663"/>
          </a:xfrm>
          <a:prstGeom prst="rect">
            <a:avLst/>
          </a:prstGeom>
          <a:noFill/>
          <a:ln/>
        </p:spPr>
        <p:txBody>
          <a:bodyPr wrap="none" lIns="0" tIns="0" rIns="0" bIns="0" rtlCol="0" anchor="t"/>
          <a:lstStyle/>
          <a:p>
            <a:pPr algn="l" indent="0" marL="0">
              <a:lnSpc>
                <a:spcPts val="4250"/>
              </a:lnSpc>
              <a:buNone/>
            </a:pPr>
            <a:r>
              <a:rPr lang="en-US" sz="3400" b="1" dirty="0">
                <a:solidFill>
                  <a:srgbClr val="F95F88"/>
                </a:solidFill>
                <a:latin typeface="Petrona Bold" pitchFamily="34" charset="0"/>
                <a:ea typeface="Petrona Bold" pitchFamily="34" charset="-122"/>
                <a:cs typeface="Petrona Bold" pitchFamily="34" charset="-120"/>
              </a:rPr>
              <a:t>The Monte Carlo Training Loop</a:t>
            </a:r>
            <a:endParaRPr lang="en-US" sz="3400" dirty="0"/>
          </a:p>
        </p:txBody>
      </p:sp>
      <p:sp>
        <p:nvSpPr>
          <p:cNvPr id="3" name="Text 1"/>
          <p:cNvSpPr/>
          <p:nvPr/>
        </p:nvSpPr>
        <p:spPr>
          <a:xfrm>
            <a:off x="793790" y="1530668"/>
            <a:ext cx="13042821" cy="508159"/>
          </a:xfrm>
          <a:prstGeom prst="rect">
            <a:avLst/>
          </a:prstGeom>
          <a:noFill/>
          <a:ln/>
        </p:spPr>
        <p:txBody>
          <a:bodyPr wrap="square" lIns="0" tIns="0" rIns="0" bIns="0" rtlCol="0" anchor="t"/>
          <a:lstStyle/>
          <a:p>
            <a:pPr algn="l" indent="0" marL="0">
              <a:lnSpc>
                <a:spcPts val="2000"/>
              </a:lnSpc>
              <a:buNone/>
            </a:pPr>
            <a:r>
              <a:rPr lang="en-US" sz="1250" dirty="0">
                <a:solidFill>
                  <a:srgbClr val="272525"/>
                </a:solidFill>
                <a:latin typeface="Inter" pitchFamily="34" charset="0"/>
                <a:ea typeface="Inter" pitchFamily="34" charset="-122"/>
                <a:cs typeface="Inter" pitchFamily="34" charset="-120"/>
              </a:rPr>
              <a:t>The training procedure leverages Monte Carlo simulation to generate a diverse set of market scenarios (paths) and calculates the gradient of the risk objective function back through the rollout and the neural policy.</a:t>
            </a:r>
            <a:endParaRPr lang="en-US" sz="1250" dirty="0"/>
          </a:p>
        </p:txBody>
      </p:sp>
      <p:pic>
        <p:nvPicPr>
          <p:cNvPr id="4" name="Image 0" descr="preencoded.png">    </p:cNvPr>
          <p:cNvPicPr>
            <a:picLocks noChangeAspect="1"/>
          </p:cNvPicPr>
          <p:nvPr/>
        </p:nvPicPr>
        <p:blipFill>
          <a:blip r:embed="R60008db234064891"/>
          <a:stretch>
            <a:fillRect/>
          </a:stretch>
        </p:blipFill>
        <p:spPr>
          <a:xfrm>
            <a:off x="793790" y="2217420"/>
            <a:ext cx="6521410" cy="635079"/>
          </a:xfrm>
          <a:prstGeom prst="rect">
            <a:avLst/>
          </a:prstGeom>
        </p:spPr>
      </p:pic>
      <p:sp>
        <p:nvSpPr>
          <p:cNvPr id="5" name="Text 2"/>
          <p:cNvSpPr/>
          <p:nvPr/>
        </p:nvSpPr>
        <p:spPr>
          <a:xfrm>
            <a:off x="952500" y="3011210"/>
            <a:ext cx="2183130" cy="272891"/>
          </a:xfrm>
          <a:prstGeom prst="rect">
            <a:avLst/>
          </a:prstGeom>
          <a:noFill/>
          <a:ln/>
        </p:spPr>
        <p:txBody>
          <a:bodyPr wrap="none" lIns="0" tIns="0" rIns="0" bIns="0" rtlCol="0" anchor="t"/>
          <a:lstStyle/>
          <a:p>
            <a:pPr algn="l" indent="0" marL="0">
              <a:lnSpc>
                <a:spcPts val="2100"/>
              </a:lnSpc>
              <a:buNone/>
            </a:pPr>
            <a:r>
              <a:rPr lang="en-US" sz="1700" b="1" dirty="0">
                <a:solidFill>
                  <a:srgbClr val="272525"/>
                </a:solidFill>
                <a:latin typeface="Petrona Bold" pitchFamily="34" charset="0"/>
                <a:ea typeface="Petrona Bold" pitchFamily="34" charset="-122"/>
                <a:cs typeface="Petrona Bold" pitchFamily="34" charset="-120"/>
              </a:rPr>
              <a:t>1. Simulate Paths</a:t>
            </a:r>
            <a:endParaRPr lang="en-US" sz="1700" dirty="0"/>
          </a:p>
        </p:txBody>
      </p:sp>
      <p:sp>
        <p:nvSpPr>
          <p:cNvPr id="6" name="Text 3"/>
          <p:cNvSpPr/>
          <p:nvPr/>
        </p:nvSpPr>
        <p:spPr>
          <a:xfrm>
            <a:off x="952500" y="3379351"/>
            <a:ext cx="6203990" cy="508159"/>
          </a:xfrm>
          <a:prstGeom prst="rect">
            <a:avLst/>
          </a:prstGeom>
          <a:noFill/>
          <a:ln/>
        </p:spPr>
        <p:txBody>
          <a:bodyPr wrap="square" lIns="0" tIns="0" rIns="0" bIns="0" rtlCol="0" anchor="t"/>
          <a:lstStyle/>
          <a:p>
            <a:pPr algn="l" indent="0" marL="0">
              <a:lnSpc>
                <a:spcPts val="2000"/>
              </a:lnSpc>
              <a:buNone/>
            </a:pPr>
            <a:r>
              <a:rPr lang="en-US" sz="1250" dirty="0">
                <a:solidFill>
                  <a:srgbClr val="272525"/>
                </a:solidFill>
                <a:latin typeface="Inter" pitchFamily="34" charset="0"/>
                <a:ea typeface="Inter" pitchFamily="34" charset="-122"/>
                <a:cs typeface="Inter" pitchFamily="34" charset="-120"/>
              </a:rPr>
              <a:t>Generate asset paths (</a:t>
            </a:r>
            <a:pPr algn="l" indent="0" marL="0">
              <a:lnSpc>
                <a:spcPts val="2000"/>
              </a:lnSpc>
              <a:buNone/>
            </a:pPr>
            <a:r>
              <a:rPr lang="en-US" sz="1250" i="1" dirty="0">
                <a:solidFill>
                  <a:srgbClr val="272525"/>
                </a:solidFill>
                <a:latin typeface="Inter" pitchFamily="34" charset="0"/>
                <a:ea typeface="Inter" pitchFamily="34" charset="-122"/>
                <a:cs typeface="Inter" pitchFamily="34" charset="-120"/>
              </a:rPr>
              <a:t>S, v</a:t>
            </a:r>
            <a:pPr algn="l" indent="0" marL="0">
              <a:lnSpc>
                <a:spcPts val="2000"/>
              </a:lnSpc>
              <a:buNone/>
            </a:pPr>
            <a:r>
              <a:rPr lang="en-US" sz="1250" dirty="0">
                <a:solidFill>
                  <a:srgbClr val="272525"/>
                </a:solidFill>
                <a:latin typeface="Inter" pitchFamily="34" charset="0"/>
                <a:ea typeface="Inter" pitchFamily="34" charset="-122"/>
                <a:cs typeface="Inter" pitchFamily="34" charset="-120"/>
              </a:rPr>
              <a:t>) for an entire batch using the Heston model or other processes.</a:t>
            </a:r>
            <a:endParaRPr lang="en-US" sz="1250" dirty="0"/>
          </a:p>
        </p:txBody>
      </p:sp>
      <p:pic>
        <p:nvPicPr>
          <p:cNvPr id="7" name="Image 1" descr="preencoded.png">    </p:cNvPr>
          <p:cNvPicPr>
            <a:picLocks noChangeAspect="1"/>
          </p:cNvPicPr>
          <p:nvPr/>
        </p:nvPicPr>
        <p:blipFill>
          <a:blip r:embed="R998d62753fe840a5"/>
          <a:stretch>
            <a:fillRect/>
          </a:stretch>
        </p:blipFill>
        <p:spPr>
          <a:xfrm>
            <a:off x="7315200" y="2217420"/>
            <a:ext cx="6521410" cy="635079"/>
          </a:xfrm>
          <a:prstGeom prst="rect">
            <a:avLst/>
          </a:prstGeom>
        </p:spPr>
      </p:pic>
      <p:sp>
        <p:nvSpPr>
          <p:cNvPr id="8" name="Text 4"/>
          <p:cNvSpPr/>
          <p:nvPr/>
        </p:nvSpPr>
        <p:spPr>
          <a:xfrm>
            <a:off x="7473910" y="3011210"/>
            <a:ext cx="2183130" cy="272891"/>
          </a:xfrm>
          <a:prstGeom prst="rect">
            <a:avLst/>
          </a:prstGeom>
          <a:noFill/>
          <a:ln/>
        </p:spPr>
        <p:txBody>
          <a:bodyPr wrap="none" lIns="0" tIns="0" rIns="0" bIns="0" rtlCol="0" anchor="t"/>
          <a:lstStyle/>
          <a:p>
            <a:pPr algn="l" indent="0" marL="0">
              <a:lnSpc>
                <a:spcPts val="2100"/>
              </a:lnSpc>
              <a:buNone/>
            </a:pPr>
            <a:r>
              <a:rPr lang="en-US" sz="1700" b="1" dirty="0">
                <a:solidFill>
                  <a:srgbClr val="272525"/>
                </a:solidFill>
                <a:latin typeface="Petrona Bold" pitchFamily="34" charset="0"/>
                <a:ea typeface="Petrona Bold" pitchFamily="34" charset="-122"/>
                <a:cs typeface="Petrona Bold" pitchFamily="34" charset="-120"/>
              </a:rPr>
              <a:t>2. Rollout Policy</a:t>
            </a:r>
            <a:endParaRPr lang="en-US" sz="1700" dirty="0"/>
          </a:p>
        </p:txBody>
      </p:sp>
      <p:sp>
        <p:nvSpPr>
          <p:cNvPr id="9" name="Text 5"/>
          <p:cNvSpPr/>
          <p:nvPr/>
        </p:nvSpPr>
        <p:spPr>
          <a:xfrm>
            <a:off x="7473910" y="3379351"/>
            <a:ext cx="6203990" cy="254079"/>
          </a:xfrm>
          <a:prstGeom prst="rect">
            <a:avLst/>
          </a:prstGeom>
          <a:noFill/>
          <a:ln/>
        </p:spPr>
        <p:txBody>
          <a:bodyPr wrap="none" lIns="0" tIns="0" rIns="0" bIns="0" rtlCol="0" anchor="t"/>
          <a:lstStyle/>
          <a:p>
            <a:pPr algn="l" indent="0" marL="0">
              <a:lnSpc>
                <a:spcPts val="2000"/>
              </a:lnSpc>
              <a:buNone/>
            </a:pPr>
            <a:r>
              <a:rPr lang="en-US" sz="1250" dirty="0">
                <a:solidFill>
                  <a:srgbClr val="272525"/>
                </a:solidFill>
                <a:latin typeface="Inter" pitchFamily="34" charset="0"/>
                <a:ea typeface="Inter" pitchFamily="34" charset="-122"/>
                <a:cs typeface="Inter" pitchFamily="34" charset="-120"/>
              </a:rPr>
              <a:t>Execute the current policy </a:t>
            </a:r>
            <a:pPr algn="l" indent="0" marL="0">
              <a:lnSpc>
                <a:spcPts val="2000"/>
              </a:lnSpc>
              <a:buNone/>
            </a:pPr>
            <a:r>
              <a:rPr lang="en-US" sz="1250" i="1" dirty="0">
                <a:solidFill>
                  <a:srgbClr val="272525"/>
                </a:solidFill>
                <a:latin typeface="Inter" pitchFamily="34" charset="0"/>
                <a:ea typeface="Inter" pitchFamily="34" charset="-122"/>
                <a:cs typeface="Inter" pitchFamily="34" charset="-120"/>
              </a:rPr>
              <a:t>\delta_\theta</a:t>
            </a:r>
            <a:pPr algn="l" indent="0" marL="0">
              <a:lnSpc>
                <a:spcPts val="2000"/>
              </a:lnSpc>
              <a:buNone/>
            </a:pPr>
            <a:r>
              <a:rPr lang="en-US" sz="1250" dirty="0">
                <a:solidFill>
                  <a:srgbClr val="272525"/>
                </a:solidFill>
                <a:latin typeface="Inter" pitchFamily="34" charset="0"/>
                <a:ea typeface="Inter" pitchFamily="34" charset="-122"/>
                <a:cs typeface="Inter" pitchFamily="34" charset="-120"/>
              </a:rPr>
              <a:t> along all paths to compute the final P&amp;L distribution.</a:t>
            </a:r>
            <a:endParaRPr lang="en-US" sz="1250" dirty="0"/>
          </a:p>
        </p:txBody>
      </p:sp>
      <p:pic>
        <p:nvPicPr>
          <p:cNvPr id="10" name="Image 2" descr="preencoded.png">    </p:cNvPr>
          <p:cNvPicPr>
            <a:picLocks noChangeAspect="1"/>
          </p:cNvPicPr>
          <p:nvPr/>
        </p:nvPicPr>
        <p:blipFill>
          <a:blip r:embed="R01a1b565efa847f8"/>
          <a:stretch>
            <a:fillRect/>
          </a:stretch>
        </p:blipFill>
        <p:spPr>
          <a:xfrm>
            <a:off x="793790" y="4046220"/>
            <a:ext cx="6521410" cy="635079"/>
          </a:xfrm>
          <a:prstGeom prst="rect">
            <a:avLst/>
          </a:prstGeom>
        </p:spPr>
      </p:pic>
      <p:sp>
        <p:nvSpPr>
          <p:cNvPr id="11" name="Text 6"/>
          <p:cNvSpPr/>
          <p:nvPr/>
        </p:nvSpPr>
        <p:spPr>
          <a:xfrm>
            <a:off x="952500" y="4840010"/>
            <a:ext cx="2183130" cy="272891"/>
          </a:xfrm>
          <a:prstGeom prst="rect">
            <a:avLst/>
          </a:prstGeom>
          <a:noFill/>
          <a:ln/>
        </p:spPr>
        <p:txBody>
          <a:bodyPr wrap="none" lIns="0" tIns="0" rIns="0" bIns="0" rtlCol="0" anchor="t"/>
          <a:lstStyle/>
          <a:p>
            <a:pPr algn="l" indent="0" marL="0">
              <a:lnSpc>
                <a:spcPts val="2100"/>
              </a:lnSpc>
              <a:buNone/>
            </a:pPr>
            <a:r>
              <a:rPr lang="en-US" sz="1700" b="1" dirty="0">
                <a:solidFill>
                  <a:srgbClr val="272525"/>
                </a:solidFill>
                <a:latin typeface="Petrona Bold" pitchFamily="34" charset="0"/>
                <a:ea typeface="Petrona Bold" pitchFamily="34" charset="-122"/>
                <a:cs typeface="Petrona Bold" pitchFamily="34" charset="-120"/>
              </a:rPr>
              <a:t>3. Evaluate Risk</a:t>
            </a:r>
            <a:endParaRPr lang="en-US" sz="1700" dirty="0"/>
          </a:p>
        </p:txBody>
      </p:sp>
      <p:sp>
        <p:nvSpPr>
          <p:cNvPr id="12" name="Text 7"/>
          <p:cNvSpPr/>
          <p:nvPr/>
        </p:nvSpPr>
        <p:spPr>
          <a:xfrm>
            <a:off x="952500" y="5208151"/>
            <a:ext cx="6203990" cy="508159"/>
          </a:xfrm>
          <a:prstGeom prst="rect">
            <a:avLst/>
          </a:prstGeom>
          <a:noFill/>
          <a:ln/>
        </p:spPr>
        <p:txBody>
          <a:bodyPr wrap="square" lIns="0" tIns="0" rIns="0" bIns="0" rtlCol="0" anchor="t"/>
          <a:lstStyle/>
          <a:p>
            <a:pPr algn="l" indent="0" marL="0">
              <a:lnSpc>
                <a:spcPts val="2000"/>
              </a:lnSpc>
              <a:buNone/>
            </a:pPr>
            <a:r>
              <a:rPr lang="en-US" sz="1250" dirty="0">
                <a:solidFill>
                  <a:srgbClr val="272525"/>
                </a:solidFill>
                <a:latin typeface="Inter" pitchFamily="34" charset="0"/>
                <a:ea typeface="Inter" pitchFamily="34" charset="-122"/>
                <a:cs typeface="Inter" pitchFamily="34" charset="-120"/>
              </a:rPr>
              <a:t>Calculate the loss </a:t>
            </a:r>
            <a:pPr algn="l" indent="0" marL="0">
              <a:lnSpc>
                <a:spcPts val="2000"/>
              </a:lnSpc>
              <a:buNone/>
            </a:pPr>
            <a:r>
              <a:rPr lang="en-US" sz="1250" i="1" dirty="0">
                <a:solidFill>
                  <a:srgbClr val="272525"/>
                </a:solidFill>
                <a:latin typeface="Inter" pitchFamily="34" charset="0"/>
                <a:ea typeface="Inter" pitchFamily="34" charset="-122"/>
                <a:cs typeface="Inter" pitchFamily="34" charset="-120"/>
              </a:rPr>
              <a:t>\rho(\text{P\&amp;L})</a:t>
            </a:r>
            <a:pPr algn="l" indent="0" marL="0">
              <a:lnSpc>
                <a:spcPts val="2000"/>
              </a:lnSpc>
              <a:buNone/>
            </a:pPr>
            <a:r>
              <a:rPr lang="en-US" sz="1250" dirty="0">
                <a:solidFill>
                  <a:srgbClr val="272525"/>
                </a:solidFill>
                <a:latin typeface="Inter" pitchFamily="34" charset="0"/>
                <a:ea typeface="Inter" pitchFamily="34" charset="-122"/>
                <a:cs typeface="Inter" pitchFamily="34" charset="-120"/>
              </a:rPr>
              <a:t> (e.g., Entropic Risk) to capture the magnitude of tail events.</a:t>
            </a:r>
            <a:endParaRPr lang="en-US" sz="1250" dirty="0"/>
          </a:p>
        </p:txBody>
      </p:sp>
      <p:pic>
        <p:nvPicPr>
          <p:cNvPr id="13" name="Image 3" descr="preencoded.png">    </p:cNvPr>
          <p:cNvPicPr>
            <a:picLocks noChangeAspect="1"/>
          </p:cNvPicPr>
          <p:nvPr/>
        </p:nvPicPr>
        <p:blipFill>
          <a:blip r:embed="R8aa812840a9142e0"/>
          <a:stretch>
            <a:fillRect/>
          </a:stretch>
        </p:blipFill>
        <p:spPr>
          <a:xfrm>
            <a:off x="7315200" y="4046220"/>
            <a:ext cx="6521410" cy="635079"/>
          </a:xfrm>
          <a:prstGeom prst="rect">
            <a:avLst/>
          </a:prstGeom>
        </p:spPr>
      </p:pic>
      <p:sp>
        <p:nvSpPr>
          <p:cNvPr id="14" name="Text 8"/>
          <p:cNvSpPr/>
          <p:nvPr/>
        </p:nvSpPr>
        <p:spPr>
          <a:xfrm>
            <a:off x="7473910" y="4840010"/>
            <a:ext cx="2183130" cy="272891"/>
          </a:xfrm>
          <a:prstGeom prst="rect">
            <a:avLst/>
          </a:prstGeom>
          <a:noFill/>
          <a:ln/>
        </p:spPr>
        <p:txBody>
          <a:bodyPr wrap="none" lIns="0" tIns="0" rIns="0" bIns="0" rtlCol="0" anchor="t"/>
          <a:lstStyle/>
          <a:p>
            <a:pPr algn="l" indent="0" marL="0">
              <a:lnSpc>
                <a:spcPts val="2100"/>
              </a:lnSpc>
              <a:buNone/>
            </a:pPr>
            <a:r>
              <a:rPr lang="en-US" sz="1700" b="1" dirty="0">
                <a:solidFill>
                  <a:srgbClr val="272525"/>
                </a:solidFill>
                <a:latin typeface="Petrona Bold" pitchFamily="34" charset="0"/>
                <a:ea typeface="Petrona Bold" pitchFamily="34" charset="-122"/>
                <a:cs typeface="Petrona Bold" pitchFamily="34" charset="-120"/>
              </a:rPr>
              <a:t>4. Update Parameters</a:t>
            </a:r>
            <a:endParaRPr lang="en-US" sz="1700" dirty="0"/>
          </a:p>
        </p:txBody>
      </p:sp>
      <p:sp>
        <p:nvSpPr>
          <p:cNvPr id="15" name="Text 9"/>
          <p:cNvSpPr/>
          <p:nvPr/>
        </p:nvSpPr>
        <p:spPr>
          <a:xfrm>
            <a:off x="7473910" y="5208151"/>
            <a:ext cx="6203990" cy="508159"/>
          </a:xfrm>
          <a:prstGeom prst="rect">
            <a:avLst/>
          </a:prstGeom>
          <a:noFill/>
          <a:ln/>
        </p:spPr>
        <p:txBody>
          <a:bodyPr wrap="square" lIns="0" tIns="0" rIns="0" bIns="0" rtlCol="0" anchor="t"/>
          <a:lstStyle/>
          <a:p>
            <a:pPr algn="l" indent="0" marL="0">
              <a:lnSpc>
                <a:spcPts val="2000"/>
              </a:lnSpc>
              <a:buNone/>
            </a:pPr>
            <a:r>
              <a:rPr lang="en-US" sz="1250" dirty="0">
                <a:solidFill>
                  <a:srgbClr val="272525"/>
                </a:solidFill>
                <a:latin typeface="Inter" pitchFamily="34" charset="0"/>
                <a:ea typeface="Inter" pitchFamily="34" charset="-122"/>
                <a:cs typeface="Inter" pitchFamily="34" charset="-120"/>
              </a:rPr>
              <a:t>Use backpropagation (Adam optimizer) through the entire differentiable process to update </a:t>
            </a:r>
            <a:pPr algn="l" indent="0" marL="0">
              <a:lnSpc>
                <a:spcPts val="2000"/>
              </a:lnSpc>
              <a:buNone/>
            </a:pPr>
            <a:r>
              <a:rPr lang="en-US" sz="1250" i="1" dirty="0">
                <a:solidFill>
                  <a:srgbClr val="272525"/>
                </a:solidFill>
                <a:latin typeface="Inter" pitchFamily="34" charset="0"/>
                <a:ea typeface="Inter" pitchFamily="34" charset="-122"/>
                <a:cs typeface="Inter" pitchFamily="34" charset="-120"/>
              </a:rPr>
              <a:t>\theta</a:t>
            </a:r>
            <a:pPr algn="l" indent="0" marL="0">
              <a:lnSpc>
                <a:spcPts val="2000"/>
              </a:lnSpc>
              <a:buNone/>
            </a:pPr>
            <a:r>
              <a:rPr lang="en-US" sz="1250" dirty="0">
                <a:solidFill>
                  <a:srgbClr val="272525"/>
                </a:solidFill>
                <a:latin typeface="Inter" pitchFamily="34" charset="0"/>
                <a:ea typeface="Inter" pitchFamily="34" charset="-122"/>
                <a:cs typeface="Inter" pitchFamily="34" charset="-120"/>
              </a:rPr>
              <a:t>.</a:t>
            </a:r>
            <a:endParaRPr lang="en-US" sz="1250" dirty="0"/>
          </a:p>
        </p:txBody>
      </p:sp>
      <p:sp>
        <p:nvSpPr>
          <p:cNvPr id="16" name="Shape 10"/>
          <p:cNvSpPr/>
          <p:nvPr/>
        </p:nvSpPr>
        <p:spPr>
          <a:xfrm>
            <a:off x="793790" y="6053614"/>
            <a:ext cx="13042821" cy="1508522"/>
          </a:xfrm>
          <a:prstGeom prst="roundRect">
            <a:avLst>
              <a:gd name="adj" fmla="val 4421"/>
            </a:avLst>
          </a:prstGeom>
          <a:solidFill>
            <a:srgbClr val="F0EDEA"/>
          </a:solidFill>
          <a:ln/>
        </p:spPr>
      </p:sp>
      <p:sp>
        <p:nvSpPr>
          <p:cNvPr id="17" name="Shape 11"/>
          <p:cNvSpPr/>
          <p:nvPr/>
        </p:nvSpPr>
        <p:spPr>
          <a:xfrm>
            <a:off x="785932" y="6053614"/>
            <a:ext cx="13058537" cy="1508522"/>
          </a:xfrm>
          <a:prstGeom prst="roundRect">
            <a:avLst>
              <a:gd name="adj" fmla="val 1579"/>
            </a:avLst>
          </a:prstGeom>
          <a:solidFill>
            <a:srgbClr val="F0EDEA"/>
          </a:solidFill>
          <a:ln/>
        </p:spPr>
      </p:sp>
      <p:sp>
        <p:nvSpPr>
          <p:cNvPr id="18" name="Text 12"/>
          <p:cNvSpPr/>
          <p:nvPr/>
        </p:nvSpPr>
        <p:spPr>
          <a:xfrm>
            <a:off x="944642" y="6172676"/>
            <a:ext cx="12741116" cy="1270397"/>
          </a:xfrm>
          <a:prstGeom prst="rect">
            <a:avLst/>
          </a:prstGeom>
          <a:noFill/>
          <a:ln/>
        </p:spPr>
        <p:txBody>
          <a:bodyPr wrap="square" lIns="0" tIns="0" rIns="0" bIns="0" rtlCol="0" anchor="t"/>
          <a:lstStyle/>
          <a:p>
            <a:pPr algn="l" indent="0" marL="0">
              <a:lnSpc>
                <a:spcPts val="2000"/>
              </a:lnSpc>
              <a:buNone/>
            </a:pPr>
            <a:r>
              <a:rPr lang="en-US" sz="1250" dirty="0">
                <a:solidFill>
                  <a:srgbClr val="272525"/>
                </a:solidFill>
                <a:highlight>
                  <a:srgbClr val="F0EDEA"/>
                </a:highlight>
                <a:latin typeface="Consolas" pitchFamily="34" charset="0"/>
                <a:ea typeface="Consolas" pitchFamily="34" charset="-122"/>
                <a:cs typeface="Consolas" pitchFamily="34" charset="-120"/>
              </a:rPr>
              <a:t>for epoch in range(epochs): S,v = simulate_heston(batch_size) pnl = rollout(policy, S, v) loss = entropic_risk(pnl, v) opt.zero_grad(); loss.backward(); opt.step()</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0775298c5bf94270"/>
          <a:stretch>
            <a:fillRect/>
          </a:stretch>
        </p:blipFill>
        <p:spPr>
          <a:xfrm>
            <a:off x="9144000" y="0"/>
            <a:ext cx="5486400" cy="8229600"/>
          </a:xfrm>
          <a:prstGeom prst="rect">
            <a:avLst/>
          </a:prstGeom>
        </p:spPr>
      </p:pic>
      <p:sp>
        <p:nvSpPr>
          <p:cNvPr id="3" name="Text 0"/>
          <p:cNvSpPr/>
          <p:nvPr/>
        </p:nvSpPr>
        <p:spPr>
          <a:xfrm>
            <a:off x="793790" y="2202418"/>
            <a:ext cx="7556421" cy="1013460"/>
          </a:xfrm>
          <a:prstGeom prst="rect">
            <a:avLst/>
          </a:prstGeom>
          <a:noFill/>
          <a:ln/>
        </p:spPr>
        <p:txBody>
          <a:bodyPr wrap="square" lIns="0" tIns="0" rIns="0" bIns="0" rtlCol="0" anchor="t"/>
          <a:lstStyle/>
          <a:p>
            <a:pPr algn="l" indent="0" marL="0">
              <a:lnSpc>
                <a:spcPts val="3950"/>
              </a:lnSpc>
              <a:buNone/>
            </a:pPr>
            <a:r>
              <a:rPr lang="en-US" sz="3150" b="1" dirty="0">
                <a:solidFill>
                  <a:srgbClr val="F95F88"/>
                </a:solidFill>
                <a:latin typeface="Petrona Bold" pitchFamily="34" charset="0"/>
                <a:ea typeface="Petrona Bold" pitchFamily="34" charset="-122"/>
                <a:cs typeface="Petrona Bold" pitchFamily="34" charset="-120"/>
              </a:rPr>
              <a:t>Training Curve: Risk Reduction Dynamics</a:t>
            </a:r>
            <a:endParaRPr lang="en-US" sz="3150" dirty="0"/>
          </a:p>
        </p:txBody>
      </p:sp>
      <p:sp>
        <p:nvSpPr>
          <p:cNvPr id="4" name="Shape 1"/>
          <p:cNvSpPr/>
          <p:nvPr/>
        </p:nvSpPr>
        <p:spPr>
          <a:xfrm>
            <a:off x="793790" y="3436977"/>
            <a:ext cx="3704511" cy="902732"/>
          </a:xfrm>
          <a:prstGeom prst="roundRect">
            <a:avLst>
              <a:gd name="adj" fmla="val 8103"/>
            </a:avLst>
          </a:prstGeom>
          <a:solidFill>
            <a:srgbClr val="FDFAF7"/>
          </a:solidFill>
          <a:ln w="15240">
            <a:solidFill>
              <a:srgbClr val="C6BDDA"/>
            </a:solidFill>
            <a:prstDash val="solid"/>
          </a:ln>
        </p:spPr>
      </p:sp>
      <p:sp>
        <p:nvSpPr>
          <p:cNvPr id="5" name="Shape 2"/>
          <p:cNvSpPr/>
          <p:nvPr/>
        </p:nvSpPr>
        <p:spPr>
          <a:xfrm>
            <a:off x="778550" y="3436977"/>
            <a:ext cx="60960" cy="902732"/>
          </a:xfrm>
          <a:prstGeom prst="roundRect">
            <a:avLst>
              <a:gd name="adj" fmla="val 101581"/>
            </a:avLst>
          </a:prstGeom>
          <a:solidFill>
            <a:srgbClr val="6237C8"/>
          </a:solidFill>
          <a:ln/>
        </p:spPr>
      </p:sp>
      <p:sp>
        <p:nvSpPr>
          <p:cNvPr id="6" name="Text 3"/>
          <p:cNvSpPr/>
          <p:nvPr/>
        </p:nvSpPr>
        <p:spPr>
          <a:xfrm>
            <a:off x="1002149" y="3599617"/>
            <a:ext cx="2027158" cy="253365"/>
          </a:xfrm>
          <a:prstGeom prst="rect">
            <a:avLst/>
          </a:prstGeom>
          <a:noFill/>
          <a:ln/>
        </p:spPr>
        <p:txBody>
          <a:bodyPr wrap="none" lIns="0" tIns="0" rIns="0" bIns="0" rtlCol="0" anchor="t"/>
          <a:lstStyle/>
          <a:p>
            <a:pPr algn="l" indent="0" marL="0">
              <a:lnSpc>
                <a:spcPts val="1950"/>
              </a:lnSpc>
              <a:buNone/>
            </a:pPr>
            <a:r>
              <a:rPr lang="en-US" sz="1550" b="1" dirty="0">
                <a:solidFill>
                  <a:srgbClr val="272525"/>
                </a:solidFill>
                <a:latin typeface="Petrona Bold" pitchFamily="34" charset="0"/>
                <a:ea typeface="Petrona Bold" pitchFamily="34" charset="-122"/>
                <a:cs typeface="Petrona Bold" pitchFamily="34" charset="-120"/>
              </a:rPr>
              <a:t>Risk Metric</a:t>
            </a:r>
            <a:endParaRPr lang="en-US" sz="1550" dirty="0"/>
          </a:p>
        </p:txBody>
      </p:sp>
      <p:sp>
        <p:nvSpPr>
          <p:cNvPr id="7" name="Text 4"/>
          <p:cNvSpPr/>
          <p:nvPr/>
        </p:nvSpPr>
        <p:spPr>
          <a:xfrm>
            <a:off x="1002149" y="3941326"/>
            <a:ext cx="3333512" cy="235744"/>
          </a:xfrm>
          <a:prstGeom prst="rect">
            <a:avLst/>
          </a:prstGeom>
          <a:noFill/>
          <a:ln/>
        </p:spPr>
        <p:txBody>
          <a:bodyPr wrap="none" lIns="0" tIns="0" rIns="0" bIns="0" rtlCol="0" anchor="t"/>
          <a:lstStyle/>
          <a:p>
            <a:pPr algn="l" indent="0" marL="0">
              <a:lnSpc>
                <a:spcPts val="1850"/>
              </a:lnSpc>
              <a:buNone/>
            </a:pPr>
            <a:r>
              <a:rPr lang="en-US" sz="1150" dirty="0">
                <a:solidFill>
                  <a:srgbClr val="272525"/>
                </a:solidFill>
                <a:latin typeface="Inter" pitchFamily="34" charset="0"/>
                <a:ea typeface="Inter" pitchFamily="34" charset="-122"/>
                <a:cs typeface="Inter" pitchFamily="34" charset="-120"/>
              </a:rPr>
              <a:t>Entropic Risk (</a:t>
            </a:r>
            <a:pPr algn="l" indent="0" marL="0">
              <a:lnSpc>
                <a:spcPts val="1850"/>
              </a:lnSpc>
              <a:buNone/>
            </a:pPr>
            <a:r>
              <a:rPr lang="en-US" sz="1150" i="1" dirty="0">
                <a:solidFill>
                  <a:srgbClr val="272525"/>
                </a:solidFill>
                <a:latin typeface="Inter" pitchFamily="34" charset="0"/>
                <a:ea typeface="Inter" pitchFamily="34" charset="-122"/>
                <a:cs typeface="Inter" pitchFamily="34" charset="-120"/>
              </a:rPr>
              <a:t>\rho</a:t>
            </a:r>
            <a:pPr algn="l" indent="0" marL="0">
              <a:lnSpc>
                <a:spcPts val="1850"/>
              </a:lnSpc>
              <a:buNone/>
            </a:pPr>
            <a:r>
              <a:rPr lang="en-US" sz="1150" dirty="0">
                <a:solidFill>
                  <a:srgbClr val="272525"/>
                </a:solidFill>
                <a:latin typeface="Inter" pitchFamily="34" charset="0"/>
                <a:ea typeface="Inter" pitchFamily="34" charset="-122"/>
                <a:cs typeface="Inter" pitchFamily="34" charset="-120"/>
              </a:rPr>
              <a:t>) used as convex measure.</a:t>
            </a:r>
            <a:endParaRPr lang="en-US" sz="1150" dirty="0"/>
          </a:p>
        </p:txBody>
      </p:sp>
      <p:sp>
        <p:nvSpPr>
          <p:cNvPr id="8" name="Shape 5"/>
          <p:cNvSpPr/>
          <p:nvPr/>
        </p:nvSpPr>
        <p:spPr>
          <a:xfrm>
            <a:off x="4645700" y="3436977"/>
            <a:ext cx="3704511" cy="902732"/>
          </a:xfrm>
          <a:prstGeom prst="roundRect">
            <a:avLst>
              <a:gd name="adj" fmla="val 8103"/>
            </a:avLst>
          </a:prstGeom>
          <a:solidFill>
            <a:srgbClr val="FDFAF7"/>
          </a:solidFill>
          <a:ln w="15240">
            <a:solidFill>
              <a:srgbClr val="C6BDDA"/>
            </a:solidFill>
            <a:prstDash val="solid"/>
          </a:ln>
        </p:spPr>
      </p:sp>
      <p:sp>
        <p:nvSpPr>
          <p:cNvPr id="9" name="Shape 6"/>
          <p:cNvSpPr/>
          <p:nvPr/>
        </p:nvSpPr>
        <p:spPr>
          <a:xfrm>
            <a:off x="4630460" y="3436977"/>
            <a:ext cx="60960" cy="902732"/>
          </a:xfrm>
          <a:prstGeom prst="roundRect">
            <a:avLst>
              <a:gd name="adj" fmla="val 101581"/>
            </a:avLst>
          </a:prstGeom>
          <a:solidFill>
            <a:srgbClr val="6237C8"/>
          </a:solidFill>
          <a:ln/>
        </p:spPr>
      </p:sp>
      <p:sp>
        <p:nvSpPr>
          <p:cNvPr id="10" name="Text 7"/>
          <p:cNvSpPr/>
          <p:nvPr/>
        </p:nvSpPr>
        <p:spPr>
          <a:xfrm>
            <a:off x="4854059" y="3599617"/>
            <a:ext cx="2027158" cy="253365"/>
          </a:xfrm>
          <a:prstGeom prst="rect">
            <a:avLst/>
          </a:prstGeom>
          <a:noFill/>
          <a:ln/>
        </p:spPr>
        <p:txBody>
          <a:bodyPr wrap="none" lIns="0" tIns="0" rIns="0" bIns="0" rtlCol="0" anchor="t"/>
          <a:lstStyle/>
          <a:p>
            <a:pPr algn="l" indent="0" marL="0">
              <a:lnSpc>
                <a:spcPts val="1950"/>
              </a:lnSpc>
              <a:buNone/>
            </a:pPr>
            <a:r>
              <a:rPr lang="en-US" sz="1550" b="1" dirty="0">
                <a:solidFill>
                  <a:srgbClr val="272525"/>
                </a:solidFill>
                <a:latin typeface="Petrona Bold" pitchFamily="34" charset="0"/>
                <a:ea typeface="Petrona Bold" pitchFamily="34" charset="-122"/>
                <a:cs typeface="Petrona Bold" pitchFamily="34" charset="-120"/>
              </a:rPr>
              <a:t>Significant Drop</a:t>
            </a:r>
            <a:endParaRPr lang="en-US" sz="1550" dirty="0"/>
          </a:p>
        </p:txBody>
      </p:sp>
      <p:sp>
        <p:nvSpPr>
          <p:cNvPr id="11" name="Text 8"/>
          <p:cNvSpPr/>
          <p:nvPr/>
        </p:nvSpPr>
        <p:spPr>
          <a:xfrm>
            <a:off x="4854059" y="3941326"/>
            <a:ext cx="3333512" cy="235744"/>
          </a:xfrm>
          <a:prstGeom prst="rect">
            <a:avLst/>
          </a:prstGeom>
          <a:noFill/>
          <a:ln/>
        </p:spPr>
        <p:txBody>
          <a:bodyPr wrap="none" lIns="0" tIns="0" rIns="0" bIns="0" rtlCol="0" anchor="t"/>
          <a:lstStyle/>
          <a:p>
            <a:pPr algn="l" indent="0" marL="0">
              <a:lnSpc>
                <a:spcPts val="1850"/>
              </a:lnSpc>
              <a:buNone/>
            </a:pPr>
            <a:r>
              <a:rPr lang="en-US" sz="1150" dirty="0">
                <a:solidFill>
                  <a:srgbClr val="272525"/>
                </a:solidFill>
                <a:latin typeface="Inter" pitchFamily="34" charset="0"/>
                <a:ea typeface="Inter" pitchFamily="34" charset="-122"/>
                <a:cs typeface="Inter" pitchFamily="34" charset="-120"/>
              </a:rPr>
              <a:t>Risk reduces sharply from ≈ 120 down to ≈ 8.</a:t>
            </a:r>
            <a:endParaRPr lang="en-US" sz="1150" dirty="0"/>
          </a:p>
        </p:txBody>
      </p:sp>
      <p:sp>
        <p:nvSpPr>
          <p:cNvPr id="12" name="Shape 9"/>
          <p:cNvSpPr/>
          <p:nvPr/>
        </p:nvSpPr>
        <p:spPr>
          <a:xfrm>
            <a:off x="793790" y="4487108"/>
            <a:ext cx="3704511" cy="1138476"/>
          </a:xfrm>
          <a:prstGeom prst="roundRect">
            <a:avLst>
              <a:gd name="adj" fmla="val 6425"/>
            </a:avLst>
          </a:prstGeom>
          <a:solidFill>
            <a:srgbClr val="FDFAF7"/>
          </a:solidFill>
          <a:ln w="15240">
            <a:solidFill>
              <a:srgbClr val="C6BDDA"/>
            </a:solidFill>
            <a:prstDash val="solid"/>
          </a:ln>
        </p:spPr>
      </p:sp>
      <p:sp>
        <p:nvSpPr>
          <p:cNvPr id="13" name="Shape 10"/>
          <p:cNvSpPr/>
          <p:nvPr/>
        </p:nvSpPr>
        <p:spPr>
          <a:xfrm>
            <a:off x="778550" y="4487108"/>
            <a:ext cx="60960" cy="1138476"/>
          </a:xfrm>
          <a:prstGeom prst="roundRect">
            <a:avLst>
              <a:gd name="adj" fmla="val 101581"/>
            </a:avLst>
          </a:prstGeom>
          <a:solidFill>
            <a:srgbClr val="6237C8"/>
          </a:solidFill>
          <a:ln/>
        </p:spPr>
      </p:sp>
      <p:sp>
        <p:nvSpPr>
          <p:cNvPr id="14" name="Text 11"/>
          <p:cNvSpPr/>
          <p:nvPr/>
        </p:nvSpPr>
        <p:spPr>
          <a:xfrm>
            <a:off x="1002149" y="4649748"/>
            <a:ext cx="2027158" cy="253365"/>
          </a:xfrm>
          <a:prstGeom prst="rect">
            <a:avLst/>
          </a:prstGeom>
          <a:noFill/>
          <a:ln/>
        </p:spPr>
        <p:txBody>
          <a:bodyPr wrap="none" lIns="0" tIns="0" rIns="0" bIns="0" rtlCol="0" anchor="t"/>
          <a:lstStyle/>
          <a:p>
            <a:pPr algn="l" indent="0" marL="0">
              <a:lnSpc>
                <a:spcPts val="1950"/>
              </a:lnSpc>
              <a:buNone/>
            </a:pPr>
            <a:r>
              <a:rPr lang="en-US" sz="1550" b="1" dirty="0">
                <a:solidFill>
                  <a:srgbClr val="272525"/>
                </a:solidFill>
                <a:latin typeface="Petrona Bold" pitchFamily="34" charset="0"/>
                <a:ea typeface="Petrona Bold" pitchFamily="34" charset="-122"/>
                <a:cs typeface="Petrona Bold" pitchFamily="34" charset="-120"/>
              </a:rPr>
              <a:t>Convergence</a:t>
            </a:r>
            <a:endParaRPr lang="en-US" sz="1550" dirty="0"/>
          </a:p>
        </p:txBody>
      </p:sp>
      <p:sp>
        <p:nvSpPr>
          <p:cNvPr id="15" name="Text 12"/>
          <p:cNvSpPr/>
          <p:nvPr/>
        </p:nvSpPr>
        <p:spPr>
          <a:xfrm>
            <a:off x="1002149" y="4991457"/>
            <a:ext cx="3333512" cy="471488"/>
          </a:xfrm>
          <a:prstGeom prst="rect">
            <a:avLst/>
          </a:prstGeom>
          <a:noFill/>
          <a:ln/>
        </p:spPr>
        <p:txBody>
          <a:bodyPr wrap="square" lIns="0" tIns="0" rIns="0" bIns="0" rtlCol="0" anchor="t"/>
          <a:lstStyle/>
          <a:p>
            <a:pPr algn="l" indent="0" marL="0">
              <a:lnSpc>
                <a:spcPts val="1850"/>
              </a:lnSpc>
              <a:buNone/>
            </a:pPr>
            <a:r>
              <a:rPr lang="en-US" sz="1150" dirty="0">
                <a:solidFill>
                  <a:srgbClr val="272525"/>
                </a:solidFill>
                <a:latin typeface="Inter" pitchFamily="34" charset="0"/>
                <a:ea typeface="Inter" pitchFamily="34" charset="-122"/>
                <a:cs typeface="Inter" pitchFamily="34" charset="-120"/>
              </a:rPr>
              <a:t>Model stabilizes around epoch 150, achieving a stable, risk-minimized policy.</a:t>
            </a:r>
            <a:endParaRPr lang="en-US" sz="1150" dirty="0"/>
          </a:p>
        </p:txBody>
      </p:sp>
      <p:sp>
        <p:nvSpPr>
          <p:cNvPr id="16" name="Text 13"/>
          <p:cNvSpPr/>
          <p:nvPr/>
        </p:nvSpPr>
        <p:spPr>
          <a:xfrm>
            <a:off x="793790" y="5791438"/>
            <a:ext cx="7556421" cy="235744"/>
          </a:xfrm>
          <a:prstGeom prst="rect">
            <a:avLst/>
          </a:prstGeom>
          <a:noFill/>
          <a:ln/>
        </p:spPr>
        <p:txBody>
          <a:bodyPr wrap="none" lIns="0" tIns="0" rIns="0" bIns="0" rtlCol="0" anchor="t"/>
          <a:lstStyle/>
          <a:p>
            <a:pPr algn="l" indent="0" marL="0">
              <a:lnSpc>
                <a:spcPts val="1850"/>
              </a:lnSpc>
              <a:buNone/>
            </a:pPr>
            <a:r>
              <a:rPr lang="en-US" sz="1150" dirty="0">
                <a:solidFill>
                  <a:srgbClr val="272525"/>
                </a:solidFill>
                <a:latin typeface="Inter" pitchFamily="34" charset="0"/>
                <a:ea typeface="Inter" pitchFamily="34" charset="-122"/>
                <a:cs typeface="Inter" pitchFamily="34" charset="-120"/>
              </a:rPr>
              <a:t>This demonstrates the network's ability to minimize tail risk during scenario-based training.</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227415"/>
            <a:ext cx="13042821" cy="1559243"/>
          </a:xfrm>
          <a:prstGeom prst="rect">
            <a:avLst/>
          </a:prstGeom>
          <a:noFill/>
          <a:ln/>
        </p:spPr>
        <p:txBody>
          <a:bodyPr wrap="square" lIns="0" tIns="0" rIns="0" bIns="0" rtlCol="0" anchor="t"/>
          <a:lstStyle/>
          <a:p>
            <a:pPr algn="l" indent="0" marL="0">
              <a:lnSpc>
                <a:spcPts val="6100"/>
              </a:lnSpc>
              <a:buNone/>
            </a:pPr>
            <a:r>
              <a:rPr lang="en-US" sz="4900" b="1" dirty="0">
                <a:solidFill>
                  <a:srgbClr val="F95F88"/>
                </a:solidFill>
                <a:latin typeface="Petrona Bold" pitchFamily="34" charset="0"/>
                <a:ea typeface="Petrona Bold" pitchFamily="34" charset="-122"/>
                <a:cs typeface="Petrona Bold" pitchFamily="34" charset="-120"/>
              </a:rPr>
              <a:t>Out-of-Sample P&amp;L Distribution: Superior Risk Control</a:t>
            </a:r>
            <a:endParaRPr lang="en-US" sz="4900" dirty="0"/>
          </a:p>
        </p:txBody>
      </p:sp>
      <p:sp>
        <p:nvSpPr>
          <p:cNvPr id="3" name="Text 1"/>
          <p:cNvSpPr/>
          <p:nvPr/>
        </p:nvSpPr>
        <p:spPr>
          <a:xfrm>
            <a:off x="793790" y="3330893"/>
            <a:ext cx="1486019" cy="362903"/>
          </a:xfrm>
          <a:prstGeom prst="rect">
            <a:avLst/>
          </a:prstGeom>
          <a:noFill/>
          <a:ln/>
        </p:spPr>
        <p:txBody>
          <a:bodyPr wrap="none" lIns="0" tIns="0" rIns="0" bIns="0" rtlCol="0" anchor="t"/>
          <a:lstStyle/>
          <a:p>
            <a:pPr algn="l" indent="0" marL="0">
              <a:lnSpc>
                <a:spcPts val="2850"/>
              </a:lnSpc>
              <a:buNone/>
            </a:pPr>
            <a:endParaRPr lang="en-US" sz="1750" dirty="0"/>
          </a:p>
        </p:txBody>
      </p:sp>
      <p:sp>
        <p:nvSpPr>
          <p:cNvPr id="4" name="Text 2"/>
          <p:cNvSpPr/>
          <p:nvPr/>
        </p:nvSpPr>
        <p:spPr>
          <a:xfrm>
            <a:off x="2840831" y="3353633"/>
            <a:ext cx="3742611" cy="467678"/>
          </a:xfrm>
          <a:prstGeom prst="rect">
            <a:avLst/>
          </a:prstGeom>
          <a:noFill/>
          <a:ln/>
        </p:spPr>
        <p:txBody>
          <a:bodyPr wrap="none" lIns="0" tIns="0" rIns="0" bIns="0" rtlCol="0" anchor="t"/>
          <a:lstStyle/>
          <a:p>
            <a:pPr algn="l" indent="0" marL="0">
              <a:lnSpc>
                <a:spcPts val="3650"/>
              </a:lnSpc>
              <a:buNone/>
            </a:pPr>
            <a:r>
              <a:rPr lang="en-US" sz="2900" b="1" dirty="0">
                <a:solidFill>
                  <a:srgbClr val="F95F88"/>
                </a:solidFill>
                <a:latin typeface="Petrona Bold" pitchFamily="34" charset="0"/>
                <a:ea typeface="Petrona Bold" pitchFamily="34" charset="-122"/>
                <a:cs typeface="Petrona Bold" pitchFamily="34" charset="-120"/>
              </a:rPr>
              <a:t>Interpretation</a:t>
            </a:r>
            <a:endParaRPr lang="en-US" sz="2900" dirty="0"/>
          </a:p>
        </p:txBody>
      </p:sp>
      <p:pic>
        <p:nvPicPr>
          <p:cNvPr id="5" name="Image 0" descr="preencoded.png">    </p:cNvPr>
          <p:cNvPicPr>
            <a:picLocks noChangeAspect="1"/>
          </p:cNvPicPr>
          <p:nvPr/>
        </p:nvPicPr>
        <p:blipFill>
          <a:blip r:embed="R94aec72d8d6145f0">
            <a:extLst>
              <a:ext uri="{96DAC541-7B7A-43D3-8B79-37D633B846F1}">
                <asvg:svgBlip xmlns:asvg="http://schemas.microsoft.com/office/drawing/2016/SVG/main" r:embed="R424af88bd5c84877"/>
              </a:ext>
            </a:extLst>
          </a:blip>
          <a:stretch>
            <a:fillRect/>
          </a:stretch>
        </p:blipFill>
        <p:spPr>
          <a:xfrm>
            <a:off x="2925842" y="4087773"/>
            <a:ext cx="340162" cy="340162"/>
          </a:xfrm>
          <a:prstGeom prst="rect">
            <a:avLst/>
          </a:prstGeom>
        </p:spPr>
      </p:pic>
      <p:sp>
        <p:nvSpPr>
          <p:cNvPr id="6" name="Text 3"/>
          <p:cNvSpPr/>
          <p:nvPr/>
        </p:nvSpPr>
        <p:spPr>
          <a:xfrm>
            <a:off x="3577947" y="4076462"/>
            <a:ext cx="2741652" cy="1088708"/>
          </a:xfrm>
          <a:prstGeom prst="rect">
            <a:avLst/>
          </a:prstGeom>
          <a:noFill/>
          <a:ln/>
        </p:spPr>
        <p:txBody>
          <a:bodyPr wrap="square" lIns="0" tIns="0" rIns="0" bIns="0" rtlCol="0" anchor="t"/>
          <a:lstStyle/>
          <a:p>
            <a:pPr algn="l" indent="0" marL="0">
              <a:lnSpc>
                <a:spcPts val="2850"/>
              </a:lnSpc>
              <a:buNone/>
            </a:pPr>
            <a:r>
              <a:rPr lang="en-US" sz="1750" b="1" dirty="0">
                <a:solidFill>
                  <a:srgbClr val="272525"/>
                </a:solidFill>
                <a:latin typeface="Inter" pitchFamily="34" charset="0"/>
                <a:ea typeface="Inter" pitchFamily="34" charset="-122"/>
                <a:cs typeface="Inter" pitchFamily="34" charset="-120"/>
              </a:rPr>
              <a:t>Narrower Distribution:</a:t>
            </a:r>
            <a:pPr algn="l" indent="0" marL="0">
              <a:lnSpc>
                <a:spcPts val="2850"/>
              </a:lnSpc>
              <a:buNone/>
            </a:pPr>
            <a:r>
              <a:rPr lang="en-US" sz="1750" dirty="0">
                <a:solidFill>
                  <a:srgbClr val="272525"/>
                </a:solidFill>
                <a:latin typeface="Inter" pitchFamily="34" charset="0"/>
                <a:ea typeface="Inter" pitchFamily="34" charset="-122"/>
                <a:cs typeface="Inter" pitchFamily="34" charset="-120"/>
              </a:rPr>
              <a:t> Deep Hedging NN reduces P&amp;L variance.</a:t>
            </a:r>
            <a:endParaRPr lang="en-US" sz="1750" dirty="0"/>
          </a:p>
        </p:txBody>
      </p:sp>
      <p:pic>
        <p:nvPicPr>
          <p:cNvPr id="7" name="Image 1" descr="preencoded.png">    </p:cNvPr>
          <p:cNvPicPr>
            <a:picLocks noChangeAspect="1"/>
          </p:cNvPicPr>
          <p:nvPr/>
        </p:nvPicPr>
        <p:blipFill>
          <a:blip r:embed="R94aec72d8d6145f0">
            <a:extLst>
              <a:ext uri="{96DAC541-7B7A-43D3-8B79-37D633B846F1}">
                <asvg:svgBlip xmlns:asvg="http://schemas.microsoft.com/office/drawing/2016/SVG/main" r:embed="R424af88bd5c84877"/>
              </a:ext>
            </a:extLst>
          </a:blip>
          <a:stretch>
            <a:fillRect/>
          </a:stretch>
        </p:blipFill>
        <p:spPr>
          <a:xfrm>
            <a:off x="6688098" y="4087773"/>
            <a:ext cx="340162" cy="340162"/>
          </a:xfrm>
          <a:prstGeom prst="rect">
            <a:avLst/>
          </a:prstGeom>
        </p:spPr>
      </p:pic>
      <p:sp>
        <p:nvSpPr>
          <p:cNvPr id="8" name="Text 4"/>
          <p:cNvSpPr/>
          <p:nvPr/>
        </p:nvSpPr>
        <p:spPr>
          <a:xfrm>
            <a:off x="7340203" y="4076462"/>
            <a:ext cx="2741652" cy="1451610"/>
          </a:xfrm>
          <a:prstGeom prst="rect">
            <a:avLst/>
          </a:prstGeom>
          <a:noFill/>
          <a:ln/>
        </p:spPr>
        <p:txBody>
          <a:bodyPr wrap="square" lIns="0" tIns="0" rIns="0" bIns="0" rtlCol="0" anchor="t"/>
          <a:lstStyle/>
          <a:p>
            <a:pPr algn="l" indent="0" marL="0">
              <a:lnSpc>
                <a:spcPts val="2850"/>
              </a:lnSpc>
              <a:buNone/>
            </a:pPr>
            <a:r>
              <a:rPr lang="en-US" sz="1750" b="1" dirty="0">
                <a:solidFill>
                  <a:srgbClr val="272525"/>
                </a:solidFill>
                <a:latin typeface="Inter" pitchFamily="34" charset="0"/>
                <a:ea typeface="Inter" pitchFamily="34" charset="-122"/>
                <a:cs typeface="Inter" pitchFamily="34" charset="-120"/>
              </a:rPr>
              <a:t>Downside Compression:</a:t>
            </a:r>
            <a:pPr algn="l" indent="0" marL="0">
              <a:lnSpc>
                <a:spcPts val="2850"/>
              </a:lnSpc>
              <a:buNone/>
            </a:pPr>
            <a:r>
              <a:rPr lang="en-US" sz="1750" dirty="0">
                <a:solidFill>
                  <a:srgbClr val="272525"/>
                </a:solidFill>
                <a:latin typeface="Inter" pitchFamily="34" charset="0"/>
                <a:ea typeface="Inter" pitchFamily="34" charset="-122"/>
                <a:cs typeface="Inter" pitchFamily="34" charset="-120"/>
              </a:rPr>
              <a:t> Fewer large negative P&amp;L events (tail risk minimized).</a:t>
            </a:r>
            <a:endParaRPr lang="en-US" sz="1750" dirty="0"/>
          </a:p>
        </p:txBody>
      </p:sp>
      <p:pic>
        <p:nvPicPr>
          <p:cNvPr id="9" name="Image 2" descr="preencoded.png">    </p:cNvPr>
          <p:cNvPicPr>
            <a:picLocks noChangeAspect="1"/>
          </p:cNvPicPr>
          <p:nvPr/>
        </p:nvPicPr>
        <p:blipFill>
          <a:blip r:embed="R94aec72d8d6145f0">
            <a:extLst>
              <a:ext uri="{96DAC541-7B7A-43D3-8B79-37D633B846F1}">
                <asvg:svgBlip xmlns:asvg="http://schemas.microsoft.com/office/drawing/2016/SVG/main" r:embed="R424af88bd5c84877"/>
              </a:ext>
            </a:extLst>
          </a:blip>
          <a:stretch>
            <a:fillRect/>
          </a:stretch>
        </p:blipFill>
        <p:spPr>
          <a:xfrm>
            <a:off x="10450354" y="4087773"/>
            <a:ext cx="340162" cy="340162"/>
          </a:xfrm>
          <a:prstGeom prst="rect">
            <a:avLst/>
          </a:prstGeom>
        </p:spPr>
      </p:pic>
      <p:sp>
        <p:nvSpPr>
          <p:cNvPr id="10" name="Text 5"/>
          <p:cNvSpPr/>
          <p:nvPr/>
        </p:nvSpPr>
        <p:spPr>
          <a:xfrm>
            <a:off x="11102459" y="4076462"/>
            <a:ext cx="2741652" cy="1451610"/>
          </a:xfrm>
          <a:prstGeom prst="rect">
            <a:avLst/>
          </a:prstGeom>
          <a:noFill/>
          <a:ln/>
        </p:spPr>
        <p:txBody>
          <a:bodyPr wrap="square" lIns="0" tIns="0" rIns="0" bIns="0" rtlCol="0" anchor="t"/>
          <a:lstStyle/>
          <a:p>
            <a:pPr algn="l" indent="0" marL="0">
              <a:lnSpc>
                <a:spcPts val="2850"/>
              </a:lnSpc>
              <a:buNone/>
            </a:pPr>
            <a:r>
              <a:rPr lang="en-US" sz="1750" b="1" dirty="0">
                <a:solidFill>
                  <a:srgbClr val="272525"/>
                </a:solidFill>
                <a:latin typeface="Inter" pitchFamily="34" charset="0"/>
                <a:ea typeface="Inter" pitchFamily="34" charset="-122"/>
                <a:cs typeface="Inter" pitchFamily="34" charset="-120"/>
              </a:rPr>
              <a:t>Cost-Aware:</a:t>
            </a:r>
            <a:pPr algn="l" indent="0" marL="0">
              <a:lnSpc>
                <a:spcPts val="2850"/>
              </a:lnSpc>
              <a:buNone/>
            </a:pPr>
            <a:r>
              <a:rPr lang="en-US" sz="1750" dirty="0">
                <a:solidFill>
                  <a:srgbClr val="272525"/>
                </a:solidFill>
                <a:latin typeface="Inter" pitchFamily="34" charset="0"/>
                <a:ea typeface="Inter" pitchFamily="34" charset="-122"/>
                <a:cs typeface="Inter" pitchFamily="34" charset="-120"/>
              </a:rPr>
              <a:t> Achieves superior risk control, matching claims on cost-aware hedging.</a:t>
            </a:r>
            <a:endParaRPr lang="en-US" sz="1750" dirty="0"/>
          </a:p>
        </p:txBody>
      </p:sp>
      <p:sp>
        <p:nvSpPr>
          <p:cNvPr id="11" name="Shape 6"/>
          <p:cNvSpPr/>
          <p:nvPr/>
        </p:nvSpPr>
        <p:spPr>
          <a:xfrm>
            <a:off x="2840831" y="5783223"/>
            <a:ext cx="11003280" cy="963811"/>
          </a:xfrm>
          <a:prstGeom prst="roundRect">
            <a:avLst>
              <a:gd name="adj" fmla="val 9884"/>
            </a:avLst>
          </a:prstGeom>
          <a:solidFill>
            <a:srgbClr val="D0C3EE"/>
          </a:solidFill>
          <a:ln/>
        </p:spPr>
      </p:sp>
      <p:pic>
        <p:nvPicPr>
          <p:cNvPr id="12" name="Image 3" descr="preencoded.png">    </p:cNvPr>
          <p:cNvPicPr>
            <a:picLocks noChangeAspect="1"/>
          </p:cNvPicPr>
          <p:nvPr/>
        </p:nvPicPr>
        <p:blipFill>
          <a:blip r:embed="Raab9e09b572f456f"/>
          <a:stretch>
            <a:fillRect/>
          </a:stretch>
        </p:blipFill>
        <p:spPr>
          <a:xfrm>
            <a:off x="3067645" y="6127313"/>
            <a:ext cx="283488" cy="226814"/>
          </a:xfrm>
          <a:prstGeom prst="rect">
            <a:avLst/>
          </a:prstGeom>
        </p:spPr>
      </p:pic>
      <p:sp>
        <p:nvSpPr>
          <p:cNvPr id="13" name="Text 7"/>
          <p:cNvSpPr/>
          <p:nvPr/>
        </p:nvSpPr>
        <p:spPr>
          <a:xfrm>
            <a:off x="3577947" y="6066711"/>
            <a:ext cx="10039350" cy="362903"/>
          </a:xfrm>
          <a:prstGeom prst="rect">
            <a:avLst/>
          </a:prstGeom>
          <a:noFill/>
          <a:ln/>
        </p:spPr>
        <p:txBody>
          <a:bodyPr wrap="none" lIns="0" tIns="0" rIns="0" bIns="0" rtlCol="0" anchor="t"/>
          <a:lstStyle/>
          <a:p>
            <a:pPr algn="l" indent="0" marL="0">
              <a:lnSpc>
                <a:spcPts val="2850"/>
              </a:lnSpc>
              <a:buNone/>
            </a:pPr>
            <a:r>
              <a:rPr lang="en-US" sz="1750" dirty="0">
                <a:solidFill>
                  <a:srgbClr val="000000"/>
                </a:solidFill>
                <a:latin typeface="Inter" pitchFamily="34" charset="0"/>
                <a:ea typeface="Inter" pitchFamily="34" charset="-122"/>
                <a:cs typeface="Inter" pitchFamily="34" charset="-120"/>
              </a:rPr>
              <a:t>The Deep Hedging policy actively learns to avoid high-cost, high-variance trades.</a:t>
            </a:r>
            <a:endParaRPr lang="en-US" sz="1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699849"/>
            <a:ext cx="13042821" cy="1559243"/>
          </a:xfrm>
          <a:prstGeom prst="rect">
            <a:avLst/>
          </a:prstGeom>
          <a:noFill/>
          <a:ln/>
        </p:spPr>
        <p:txBody>
          <a:bodyPr wrap="square" lIns="0" tIns="0" rIns="0" bIns="0" rtlCol="0" anchor="t"/>
          <a:lstStyle/>
          <a:p>
            <a:pPr algn="l" indent="0" marL="0">
              <a:lnSpc>
                <a:spcPts val="6100"/>
              </a:lnSpc>
              <a:buNone/>
            </a:pPr>
            <a:r>
              <a:rPr lang="en-US" sz="4900" b="1" dirty="0">
                <a:solidFill>
                  <a:srgbClr val="F95F88"/>
                </a:solidFill>
                <a:latin typeface="Petrona Bold" pitchFamily="34" charset="0"/>
                <a:ea typeface="Petrona Bold" pitchFamily="34" charset="-122"/>
                <a:cs typeface="Petrona Bold" pitchFamily="34" charset="-120"/>
              </a:rPr>
              <a:t>Deep Hedging vs. Black-Scholes Delta (Benchmark)</a:t>
            </a:r>
            <a:endParaRPr lang="en-US" sz="4900" dirty="0"/>
          </a:p>
        </p:txBody>
      </p:sp>
      <p:sp>
        <p:nvSpPr>
          <p:cNvPr id="3" name="Text 1"/>
          <p:cNvSpPr/>
          <p:nvPr/>
        </p:nvSpPr>
        <p:spPr>
          <a:xfrm>
            <a:off x="793790" y="2712720"/>
            <a:ext cx="13042821" cy="362903"/>
          </a:xfrm>
          <a:prstGeom prst="rect">
            <a:avLst/>
          </a:prstGeom>
          <a:noFill/>
          <a:ln/>
        </p:spPr>
        <p:txBody>
          <a:bodyPr wrap="none" lIns="0" tIns="0" rIns="0" bIns="0" rtlCol="0" anchor="t"/>
          <a:lstStyle/>
          <a:p>
            <a:pPr algn="l" indent="0" marL="0">
              <a:lnSpc>
                <a:spcPts val="2850"/>
              </a:lnSpc>
              <a:buNone/>
            </a:pPr>
            <a:r>
              <a:rPr lang="en-US" sz="1750" dirty="0">
                <a:solidFill>
                  <a:srgbClr val="272525"/>
                </a:solidFill>
                <a:latin typeface="Inter" pitchFamily="34" charset="0"/>
                <a:ea typeface="Inter" pitchFamily="34" charset="-122"/>
                <a:cs typeface="Inter" pitchFamily="34" charset="-120"/>
              </a:rPr>
              <a:t>Quantifying the effectiveness of the learned hedging policy over the traditional analytical approach.</a:t>
            </a:r>
            <a:endParaRPr lang="en-US" sz="1750" dirty="0"/>
          </a:p>
        </p:txBody>
      </p:sp>
      <p:sp>
        <p:nvSpPr>
          <p:cNvPr id="4" name="Shape 2"/>
          <p:cNvSpPr/>
          <p:nvPr/>
        </p:nvSpPr>
        <p:spPr>
          <a:xfrm>
            <a:off x="793790" y="3330773"/>
            <a:ext cx="13042821" cy="1315879"/>
          </a:xfrm>
          <a:prstGeom prst="roundRect">
            <a:avLst>
              <a:gd name="adj" fmla="val 7240"/>
            </a:avLst>
          </a:prstGeom>
          <a:noFill/>
          <a:ln w="7620">
            <a:solidFill>
              <a:srgbClr val="000000">
                <a:alpha val="8000"/>
              </a:srgbClr>
            </a:solidFill>
            <a:prstDash val="solid"/>
          </a:ln>
        </p:spPr>
      </p:sp>
      <p:sp>
        <p:nvSpPr>
          <p:cNvPr id="5" name="Shape 3"/>
          <p:cNvSpPr/>
          <p:nvPr/>
        </p:nvSpPr>
        <p:spPr>
          <a:xfrm>
            <a:off x="801410" y="3338393"/>
            <a:ext cx="13027581" cy="650319"/>
          </a:xfrm>
          <a:prstGeom prst="rect">
            <a:avLst/>
          </a:prstGeom>
          <a:solidFill>
            <a:srgbClr val="FFFFFF">
              <a:alpha val="4000"/>
            </a:srgbClr>
          </a:solidFill>
          <a:ln/>
        </p:spPr>
      </p:sp>
      <p:sp>
        <p:nvSpPr>
          <p:cNvPr id="6" name="Text 4"/>
          <p:cNvSpPr/>
          <p:nvPr/>
        </p:nvSpPr>
        <p:spPr>
          <a:xfrm>
            <a:off x="1028462" y="3482102"/>
            <a:ext cx="4753570" cy="362903"/>
          </a:xfrm>
          <a:prstGeom prst="rect">
            <a:avLst/>
          </a:prstGeom>
          <a:noFill/>
          <a:ln/>
        </p:spPr>
        <p:txBody>
          <a:bodyPr wrap="none" lIns="0" tIns="0" rIns="0" bIns="0" rtlCol="0" anchor="t"/>
          <a:lstStyle/>
          <a:p>
            <a:pPr algn="l" indent="0" marL="0">
              <a:lnSpc>
                <a:spcPts val="2850"/>
              </a:lnSpc>
              <a:buNone/>
            </a:pPr>
            <a:r>
              <a:rPr lang="en-US" sz="1750" dirty="0">
                <a:solidFill>
                  <a:srgbClr val="272525"/>
                </a:solidFill>
                <a:latin typeface="Inter" pitchFamily="34" charset="0"/>
                <a:ea typeface="Inter" pitchFamily="34" charset="-122"/>
                <a:cs typeface="Inter" pitchFamily="34" charset="-120"/>
              </a:rPr>
              <a:t>Deep Hedging (GRU, Stock + Call)</a:t>
            </a:r>
            <a:endParaRPr lang="en-US" sz="1750" dirty="0"/>
          </a:p>
        </p:txBody>
      </p:sp>
      <p:sp>
        <p:nvSpPr>
          <p:cNvPr id="7" name="Text 5"/>
          <p:cNvSpPr/>
          <p:nvPr/>
        </p:nvSpPr>
        <p:spPr>
          <a:xfrm>
            <a:off x="6243280" y="3482102"/>
            <a:ext cx="2144197" cy="362903"/>
          </a:xfrm>
          <a:prstGeom prst="rect">
            <a:avLst/>
          </a:prstGeom>
          <a:noFill/>
          <a:ln/>
        </p:spPr>
        <p:txBody>
          <a:bodyPr wrap="none" lIns="0" tIns="0" rIns="0" bIns="0" rtlCol="0" anchor="t"/>
          <a:lstStyle/>
          <a:p>
            <a:pPr algn="l" indent="0" marL="0">
              <a:lnSpc>
                <a:spcPts val="2850"/>
              </a:lnSpc>
              <a:buNone/>
            </a:pPr>
            <a:r>
              <a:rPr lang="en-US" sz="1750" dirty="0">
                <a:solidFill>
                  <a:srgbClr val="272525"/>
                </a:solidFill>
                <a:latin typeface="Inter" pitchFamily="34" charset="0"/>
                <a:ea typeface="Inter" pitchFamily="34" charset="-122"/>
                <a:cs typeface="Inter" pitchFamily="34" charset="-120"/>
              </a:rPr>
              <a:t>-8.02</a:t>
            </a:r>
            <a:endParaRPr lang="en-US" sz="1750" dirty="0"/>
          </a:p>
        </p:txBody>
      </p:sp>
      <p:sp>
        <p:nvSpPr>
          <p:cNvPr id="8" name="Text 6"/>
          <p:cNvSpPr/>
          <p:nvPr/>
        </p:nvSpPr>
        <p:spPr>
          <a:xfrm>
            <a:off x="8848725" y="3482102"/>
            <a:ext cx="2144197" cy="362903"/>
          </a:xfrm>
          <a:prstGeom prst="rect">
            <a:avLst/>
          </a:prstGeom>
          <a:noFill/>
          <a:ln/>
        </p:spPr>
        <p:txBody>
          <a:bodyPr wrap="none" lIns="0" tIns="0" rIns="0" bIns="0" rtlCol="0" anchor="t"/>
          <a:lstStyle/>
          <a:p>
            <a:pPr algn="l" indent="0" marL="0">
              <a:lnSpc>
                <a:spcPts val="2850"/>
              </a:lnSpc>
              <a:buNone/>
            </a:pPr>
            <a:r>
              <a:rPr lang="en-US" sz="1750" dirty="0">
                <a:solidFill>
                  <a:srgbClr val="272525"/>
                </a:solidFill>
                <a:latin typeface="Inter" pitchFamily="34" charset="0"/>
                <a:ea typeface="Inter" pitchFamily="34" charset="-122"/>
                <a:cs typeface="Inter" pitchFamily="34" charset="-120"/>
              </a:rPr>
              <a:t>0.79</a:t>
            </a:r>
            <a:endParaRPr lang="en-US" sz="1750" dirty="0"/>
          </a:p>
        </p:txBody>
      </p:sp>
      <p:sp>
        <p:nvSpPr>
          <p:cNvPr id="9" name="Text 7"/>
          <p:cNvSpPr/>
          <p:nvPr/>
        </p:nvSpPr>
        <p:spPr>
          <a:xfrm>
            <a:off x="11454170" y="3482102"/>
            <a:ext cx="2148007" cy="362903"/>
          </a:xfrm>
          <a:prstGeom prst="rect">
            <a:avLst/>
          </a:prstGeom>
          <a:noFill/>
          <a:ln/>
        </p:spPr>
        <p:txBody>
          <a:bodyPr wrap="none" lIns="0" tIns="0" rIns="0" bIns="0" rtlCol="0" anchor="t"/>
          <a:lstStyle/>
          <a:p>
            <a:pPr algn="l" indent="0" marL="0">
              <a:lnSpc>
                <a:spcPts val="2850"/>
              </a:lnSpc>
              <a:buNone/>
            </a:pPr>
            <a:r>
              <a:rPr lang="en-US" sz="1750" dirty="0">
                <a:solidFill>
                  <a:srgbClr val="272525"/>
                </a:solidFill>
                <a:latin typeface="Inter" pitchFamily="34" charset="0"/>
                <a:ea typeface="Inter" pitchFamily="34" charset="-122"/>
                <a:cs typeface="Inter" pitchFamily="34" charset="-120"/>
              </a:rPr>
              <a:t>8.68</a:t>
            </a:r>
            <a:endParaRPr lang="en-US" sz="1750" dirty="0"/>
          </a:p>
        </p:txBody>
      </p:sp>
      <p:sp>
        <p:nvSpPr>
          <p:cNvPr id="10" name="Shape 8"/>
          <p:cNvSpPr/>
          <p:nvPr/>
        </p:nvSpPr>
        <p:spPr>
          <a:xfrm>
            <a:off x="801410" y="3988713"/>
            <a:ext cx="13027581" cy="650319"/>
          </a:xfrm>
          <a:prstGeom prst="rect">
            <a:avLst/>
          </a:prstGeom>
          <a:solidFill>
            <a:srgbClr val="000000">
              <a:alpha val="4000"/>
            </a:srgbClr>
          </a:solidFill>
          <a:ln/>
        </p:spPr>
      </p:sp>
      <p:sp>
        <p:nvSpPr>
          <p:cNvPr id="11" name="Text 9"/>
          <p:cNvSpPr/>
          <p:nvPr/>
        </p:nvSpPr>
        <p:spPr>
          <a:xfrm>
            <a:off x="1028462" y="4132421"/>
            <a:ext cx="4753570" cy="362903"/>
          </a:xfrm>
          <a:prstGeom prst="rect">
            <a:avLst/>
          </a:prstGeom>
          <a:noFill/>
          <a:ln/>
        </p:spPr>
        <p:txBody>
          <a:bodyPr wrap="none" lIns="0" tIns="0" rIns="0" bIns="0" rtlCol="0" anchor="t"/>
          <a:lstStyle/>
          <a:p>
            <a:pPr algn="l" indent="0" marL="0">
              <a:lnSpc>
                <a:spcPts val="2850"/>
              </a:lnSpc>
              <a:buNone/>
            </a:pPr>
            <a:r>
              <a:rPr lang="en-US" sz="1750" dirty="0">
                <a:solidFill>
                  <a:srgbClr val="272525"/>
                </a:solidFill>
                <a:latin typeface="Inter" pitchFamily="34" charset="0"/>
                <a:ea typeface="Inter" pitchFamily="34" charset="-122"/>
                <a:cs typeface="Inter" pitchFamily="34" charset="-120"/>
              </a:rPr>
              <a:t>Baseline (BS </a:t>
            </a:r>
            <a:pPr algn="l" indent="0" marL="0">
              <a:lnSpc>
                <a:spcPts val="2850"/>
              </a:lnSpc>
              <a:buNone/>
            </a:pPr>
            <a:r>
              <a:rPr lang="en-US" sz="1750" i="1" dirty="0">
                <a:solidFill>
                  <a:srgbClr val="272525"/>
                </a:solidFill>
                <a:latin typeface="Inter" pitchFamily="34" charset="0"/>
                <a:ea typeface="Inter" pitchFamily="34" charset="-122"/>
                <a:cs typeface="Inter" pitchFamily="34" charset="-120"/>
              </a:rPr>
              <a:t>\Delta</a:t>
            </a:r>
            <a:pPr algn="l" indent="0" marL="0">
              <a:lnSpc>
                <a:spcPts val="2850"/>
              </a:lnSpc>
              <a:buNone/>
            </a:pPr>
            <a:r>
              <a:rPr lang="en-US" sz="1750" dirty="0">
                <a:solidFill>
                  <a:srgbClr val="272525"/>
                </a:solidFill>
                <a:latin typeface="Inter" pitchFamily="34" charset="0"/>
                <a:ea typeface="Inter" pitchFamily="34" charset="-122"/>
                <a:cs typeface="Inter" pitchFamily="34" charset="-120"/>
              </a:rPr>
              <a:t>, Stock only)</a:t>
            </a:r>
            <a:endParaRPr lang="en-US" sz="1750" dirty="0"/>
          </a:p>
        </p:txBody>
      </p:sp>
      <p:sp>
        <p:nvSpPr>
          <p:cNvPr id="12" name="Text 10"/>
          <p:cNvSpPr/>
          <p:nvPr/>
        </p:nvSpPr>
        <p:spPr>
          <a:xfrm>
            <a:off x="6243280" y="4132421"/>
            <a:ext cx="2144197" cy="362903"/>
          </a:xfrm>
          <a:prstGeom prst="rect">
            <a:avLst/>
          </a:prstGeom>
          <a:noFill/>
          <a:ln/>
        </p:spPr>
        <p:txBody>
          <a:bodyPr wrap="none" lIns="0" tIns="0" rIns="0" bIns="0" rtlCol="0" anchor="t"/>
          <a:lstStyle/>
          <a:p>
            <a:pPr algn="l" indent="0" marL="0">
              <a:lnSpc>
                <a:spcPts val="2850"/>
              </a:lnSpc>
              <a:buNone/>
            </a:pPr>
            <a:r>
              <a:rPr lang="en-US" sz="1750" dirty="0">
                <a:solidFill>
                  <a:srgbClr val="272525"/>
                </a:solidFill>
                <a:latin typeface="Inter" pitchFamily="34" charset="0"/>
                <a:ea typeface="Inter" pitchFamily="34" charset="-122"/>
                <a:cs typeface="Inter" pitchFamily="34" charset="-120"/>
              </a:rPr>
              <a:t>-7.81</a:t>
            </a:r>
            <a:endParaRPr lang="en-US" sz="1750" dirty="0"/>
          </a:p>
        </p:txBody>
      </p:sp>
      <p:sp>
        <p:nvSpPr>
          <p:cNvPr id="13" name="Text 11"/>
          <p:cNvSpPr/>
          <p:nvPr/>
        </p:nvSpPr>
        <p:spPr>
          <a:xfrm>
            <a:off x="8848725" y="4132421"/>
            <a:ext cx="2144197" cy="362903"/>
          </a:xfrm>
          <a:prstGeom prst="rect">
            <a:avLst/>
          </a:prstGeom>
          <a:noFill/>
          <a:ln/>
        </p:spPr>
        <p:txBody>
          <a:bodyPr wrap="none" lIns="0" tIns="0" rIns="0" bIns="0" rtlCol="0" anchor="t"/>
          <a:lstStyle/>
          <a:p>
            <a:pPr algn="l" indent="0" marL="0">
              <a:lnSpc>
                <a:spcPts val="2850"/>
              </a:lnSpc>
              <a:buNone/>
            </a:pPr>
            <a:r>
              <a:rPr lang="en-US" sz="1750" dirty="0">
                <a:solidFill>
                  <a:srgbClr val="272525"/>
                </a:solidFill>
                <a:latin typeface="Inter" pitchFamily="34" charset="0"/>
                <a:ea typeface="Inter" pitchFamily="34" charset="-122"/>
                <a:cs typeface="Inter" pitchFamily="34" charset="-120"/>
              </a:rPr>
              <a:t>2.19</a:t>
            </a:r>
            <a:endParaRPr lang="en-US" sz="1750" dirty="0"/>
          </a:p>
        </p:txBody>
      </p:sp>
      <p:sp>
        <p:nvSpPr>
          <p:cNvPr id="14" name="Text 12"/>
          <p:cNvSpPr/>
          <p:nvPr/>
        </p:nvSpPr>
        <p:spPr>
          <a:xfrm>
            <a:off x="11454170" y="4132421"/>
            <a:ext cx="2148007" cy="362903"/>
          </a:xfrm>
          <a:prstGeom prst="rect">
            <a:avLst/>
          </a:prstGeom>
          <a:noFill/>
          <a:ln/>
        </p:spPr>
        <p:txBody>
          <a:bodyPr wrap="none" lIns="0" tIns="0" rIns="0" bIns="0" rtlCol="0" anchor="t"/>
          <a:lstStyle/>
          <a:p>
            <a:pPr algn="l" indent="0" marL="0">
              <a:lnSpc>
                <a:spcPts val="2850"/>
              </a:lnSpc>
              <a:buNone/>
            </a:pPr>
            <a:r>
              <a:rPr lang="en-US" sz="1750" dirty="0">
                <a:solidFill>
                  <a:srgbClr val="272525"/>
                </a:solidFill>
                <a:latin typeface="Inter" pitchFamily="34" charset="0"/>
                <a:ea typeface="Inter" pitchFamily="34" charset="-122"/>
                <a:cs typeface="Inter" pitchFamily="34" charset="-120"/>
              </a:rPr>
              <a:t>12.99</a:t>
            </a:r>
            <a:endParaRPr lang="en-US" sz="1750" dirty="0"/>
          </a:p>
        </p:txBody>
      </p:sp>
      <p:sp>
        <p:nvSpPr>
          <p:cNvPr id="15" name="Shape 13"/>
          <p:cNvSpPr/>
          <p:nvPr/>
        </p:nvSpPr>
        <p:spPr>
          <a:xfrm>
            <a:off x="793790" y="4901803"/>
            <a:ext cx="6407944" cy="2627948"/>
          </a:xfrm>
          <a:prstGeom prst="roundRect">
            <a:avLst>
              <a:gd name="adj" fmla="val 3625"/>
            </a:avLst>
          </a:prstGeom>
          <a:solidFill>
            <a:srgbClr val="E0D7F4"/>
          </a:solidFill>
          <a:ln w="7620">
            <a:solidFill>
              <a:srgbClr val="6237C8"/>
            </a:solidFill>
            <a:prstDash val="solid"/>
          </a:ln>
        </p:spPr>
      </p:sp>
      <p:sp>
        <p:nvSpPr>
          <p:cNvPr id="16" name="Shape 14"/>
          <p:cNvSpPr/>
          <p:nvPr/>
        </p:nvSpPr>
        <p:spPr>
          <a:xfrm>
            <a:off x="1028224" y="5136237"/>
            <a:ext cx="680442" cy="680442"/>
          </a:xfrm>
          <a:prstGeom prst="roundRect">
            <a:avLst>
              <a:gd name="adj" fmla="val 13436980"/>
            </a:avLst>
          </a:prstGeom>
          <a:solidFill>
            <a:srgbClr val="6237C8"/>
          </a:solidFill>
          <a:ln/>
        </p:spPr>
      </p:sp>
      <p:pic>
        <p:nvPicPr>
          <p:cNvPr id="17" name="Image 0" descr="preencoded.png">    </p:cNvPr>
          <p:cNvPicPr>
            <a:picLocks noChangeAspect="1"/>
          </p:cNvPicPr>
          <p:nvPr/>
        </p:nvPicPr>
        <p:blipFill>
          <a:blip r:embed="Rab775a3ff3ad4803">
            <a:extLst>
              <a:ext uri="{96DAC541-7B7A-43D3-8B79-37D633B846F1}">
                <asvg:svgBlip xmlns:asvg="http://schemas.microsoft.com/office/drawing/2016/SVG/main" r:embed="R89f16e93c26744a4"/>
              </a:ext>
            </a:extLst>
          </a:blip>
          <a:stretch>
            <a:fillRect/>
          </a:stretch>
        </p:blipFill>
        <p:spPr>
          <a:xfrm>
            <a:off x="1215390" y="5323284"/>
            <a:ext cx="306110" cy="306110"/>
          </a:xfrm>
          <a:prstGeom prst="rect">
            <a:avLst/>
          </a:prstGeom>
        </p:spPr>
      </p:pic>
      <p:sp>
        <p:nvSpPr>
          <p:cNvPr id="18" name="Text 15"/>
          <p:cNvSpPr/>
          <p:nvPr/>
        </p:nvSpPr>
        <p:spPr>
          <a:xfrm>
            <a:off x="1028224" y="6043493"/>
            <a:ext cx="3118842" cy="389930"/>
          </a:xfrm>
          <a:prstGeom prst="rect">
            <a:avLst/>
          </a:prstGeom>
          <a:noFill/>
          <a:ln/>
        </p:spPr>
        <p:txBody>
          <a:bodyPr wrap="none" lIns="0" tIns="0" rIns="0" bIns="0" rtlCol="0" anchor="t"/>
          <a:lstStyle/>
          <a:p>
            <a:pPr algn="l" indent="0" marL="0">
              <a:lnSpc>
                <a:spcPts val="3050"/>
              </a:lnSpc>
              <a:buNone/>
            </a:pPr>
            <a:r>
              <a:rPr lang="en-US" sz="2450" b="1" dirty="0">
                <a:solidFill>
                  <a:srgbClr val="272525"/>
                </a:solidFill>
                <a:latin typeface="Petrona Bold" pitchFamily="34" charset="0"/>
                <a:ea typeface="Petrona Bold" pitchFamily="34" charset="-122"/>
                <a:cs typeface="Petrona Bold" pitchFamily="34" charset="-120"/>
              </a:rPr>
              <a:t>Tail Risk Reduction</a:t>
            </a:r>
            <a:endParaRPr lang="en-US" sz="2450" dirty="0"/>
          </a:p>
        </p:txBody>
      </p:sp>
      <p:sp>
        <p:nvSpPr>
          <p:cNvPr id="19" name="Text 16"/>
          <p:cNvSpPr/>
          <p:nvPr/>
        </p:nvSpPr>
        <p:spPr>
          <a:xfrm>
            <a:off x="1028224" y="6569512"/>
            <a:ext cx="5939076" cy="725805"/>
          </a:xfrm>
          <a:prstGeom prst="rect">
            <a:avLst/>
          </a:prstGeom>
          <a:noFill/>
          <a:ln/>
        </p:spPr>
        <p:txBody>
          <a:bodyPr wrap="square" lIns="0" tIns="0" rIns="0" bIns="0" rtlCol="0" anchor="t"/>
          <a:lstStyle/>
          <a:p>
            <a:pPr algn="l" indent="0" marL="0">
              <a:lnSpc>
                <a:spcPts val="2850"/>
              </a:lnSpc>
              <a:buNone/>
            </a:pPr>
            <a:r>
              <a:rPr lang="en-US" sz="1750" dirty="0">
                <a:solidFill>
                  <a:srgbClr val="272525"/>
                </a:solidFill>
                <a:latin typeface="Inter" pitchFamily="34" charset="0"/>
                <a:ea typeface="Inter" pitchFamily="34" charset="-122"/>
                <a:cs typeface="Inter" pitchFamily="34" charset="-120"/>
              </a:rPr>
              <a:t>Deep Hedging reduces CVaR (tail risk) by approximately 33%.</a:t>
            </a:r>
            <a:endParaRPr lang="en-US" sz="1750" dirty="0"/>
          </a:p>
        </p:txBody>
      </p:sp>
      <p:sp>
        <p:nvSpPr>
          <p:cNvPr id="20" name="Shape 17"/>
          <p:cNvSpPr/>
          <p:nvPr/>
        </p:nvSpPr>
        <p:spPr>
          <a:xfrm>
            <a:off x="7428548" y="4901803"/>
            <a:ext cx="6408063" cy="2627948"/>
          </a:xfrm>
          <a:prstGeom prst="roundRect">
            <a:avLst>
              <a:gd name="adj" fmla="val 3625"/>
            </a:avLst>
          </a:prstGeom>
          <a:solidFill>
            <a:srgbClr val="E0D7F4"/>
          </a:solidFill>
          <a:ln w="7620">
            <a:solidFill>
              <a:srgbClr val="6237C8"/>
            </a:solidFill>
            <a:prstDash val="solid"/>
          </a:ln>
        </p:spPr>
      </p:sp>
      <p:sp>
        <p:nvSpPr>
          <p:cNvPr id="21" name="Shape 18"/>
          <p:cNvSpPr/>
          <p:nvPr/>
        </p:nvSpPr>
        <p:spPr>
          <a:xfrm>
            <a:off x="7662982" y="5136237"/>
            <a:ext cx="680442" cy="680442"/>
          </a:xfrm>
          <a:prstGeom prst="roundRect">
            <a:avLst>
              <a:gd name="adj" fmla="val 13436980"/>
            </a:avLst>
          </a:prstGeom>
          <a:solidFill>
            <a:srgbClr val="6237C8"/>
          </a:solidFill>
          <a:ln/>
        </p:spPr>
      </p:sp>
      <p:pic>
        <p:nvPicPr>
          <p:cNvPr id="22" name="Image 1" descr="preencoded.png">    </p:cNvPr>
          <p:cNvPicPr>
            <a:picLocks noChangeAspect="1"/>
          </p:cNvPicPr>
          <p:nvPr/>
        </p:nvPicPr>
        <p:blipFill>
          <a:blip r:embed="Rab775a3ff3ad4803">
            <a:extLst>
              <a:ext uri="{96DAC541-7B7A-43D3-8B79-37D633B846F1}">
                <asvg:svgBlip xmlns:asvg="http://schemas.microsoft.com/office/drawing/2016/SVG/main" r:embed="Rd2c97c8e90f14a19"/>
              </a:ext>
            </a:extLst>
          </a:blip>
          <a:stretch>
            <a:fillRect/>
          </a:stretch>
        </p:blipFill>
        <p:spPr>
          <a:xfrm>
            <a:off x="7850148" y="5323284"/>
            <a:ext cx="306110" cy="306110"/>
          </a:xfrm>
          <a:prstGeom prst="rect">
            <a:avLst/>
          </a:prstGeom>
        </p:spPr>
      </p:pic>
      <p:sp>
        <p:nvSpPr>
          <p:cNvPr id="23" name="Text 19"/>
          <p:cNvSpPr/>
          <p:nvPr/>
        </p:nvSpPr>
        <p:spPr>
          <a:xfrm>
            <a:off x="7662982" y="6043493"/>
            <a:ext cx="3118842" cy="389930"/>
          </a:xfrm>
          <a:prstGeom prst="rect">
            <a:avLst/>
          </a:prstGeom>
          <a:noFill/>
          <a:ln/>
        </p:spPr>
        <p:txBody>
          <a:bodyPr wrap="none" lIns="0" tIns="0" rIns="0" bIns="0" rtlCol="0" anchor="t"/>
          <a:lstStyle/>
          <a:p>
            <a:pPr algn="l" indent="0" marL="0">
              <a:lnSpc>
                <a:spcPts val="3050"/>
              </a:lnSpc>
              <a:buNone/>
            </a:pPr>
            <a:r>
              <a:rPr lang="en-US" sz="2450" b="1" dirty="0">
                <a:solidFill>
                  <a:srgbClr val="272525"/>
                </a:solidFill>
                <a:latin typeface="Petrona Bold" pitchFamily="34" charset="0"/>
                <a:ea typeface="Petrona Bold" pitchFamily="34" charset="-122"/>
                <a:cs typeface="Petrona Bold" pitchFamily="34" charset="-120"/>
              </a:rPr>
              <a:t>Lower Trading Cost</a:t>
            </a:r>
            <a:endParaRPr lang="en-US" sz="2450" dirty="0"/>
          </a:p>
        </p:txBody>
      </p:sp>
      <p:sp>
        <p:nvSpPr>
          <p:cNvPr id="24" name="Text 20"/>
          <p:cNvSpPr/>
          <p:nvPr/>
        </p:nvSpPr>
        <p:spPr>
          <a:xfrm>
            <a:off x="7662982" y="6569512"/>
            <a:ext cx="5939195" cy="725805"/>
          </a:xfrm>
          <a:prstGeom prst="rect">
            <a:avLst/>
          </a:prstGeom>
          <a:noFill/>
          <a:ln/>
        </p:spPr>
        <p:txBody>
          <a:bodyPr wrap="square" lIns="0" tIns="0" rIns="0" bIns="0" rtlCol="0" anchor="t"/>
          <a:lstStyle/>
          <a:p>
            <a:pPr algn="l" indent="0" marL="0">
              <a:lnSpc>
                <a:spcPts val="2850"/>
              </a:lnSpc>
              <a:buNone/>
            </a:pPr>
            <a:r>
              <a:rPr lang="en-US" sz="1750" dirty="0">
                <a:solidFill>
                  <a:srgbClr val="272525"/>
                </a:solidFill>
                <a:latin typeface="Inter" pitchFamily="34" charset="0"/>
                <a:ea typeface="Inter" pitchFamily="34" charset="-122"/>
                <a:cs typeface="Inter" pitchFamily="34" charset="-120"/>
              </a:rPr>
              <a:t>The learned policy trades less frequently, resulting in lower transaction costs.</a:t>
            </a:r>
            <a:endParaRPr lang="en-US" sz="1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1727240"/>
            <a:ext cx="12876490" cy="779621"/>
          </a:xfrm>
          <a:prstGeom prst="rect">
            <a:avLst/>
          </a:prstGeom>
          <a:noFill/>
          <a:ln/>
        </p:spPr>
        <p:txBody>
          <a:bodyPr wrap="none" lIns="0" tIns="0" rIns="0" bIns="0" rtlCol="0" anchor="t"/>
          <a:lstStyle/>
          <a:p>
            <a:pPr algn="l" indent="0" marL="0">
              <a:lnSpc>
                <a:spcPts val="6100"/>
              </a:lnSpc>
              <a:buNone/>
            </a:pPr>
            <a:r>
              <a:rPr lang="en-US" sz="4900" b="1" dirty="0">
                <a:solidFill>
                  <a:srgbClr val="F95F88"/>
                </a:solidFill>
                <a:latin typeface="Petrona Bold" pitchFamily="34" charset="0"/>
                <a:ea typeface="Petrona Bold" pitchFamily="34" charset="-122"/>
                <a:cs typeface="Petrona Bold" pitchFamily="34" charset="-120"/>
              </a:rPr>
              <a:t>Risk–Return Frontier: Tunable Risk Aversion</a:t>
            </a:r>
            <a:endParaRPr lang="en-US" sz="4900" dirty="0"/>
          </a:p>
        </p:txBody>
      </p:sp>
      <p:sp>
        <p:nvSpPr>
          <p:cNvPr id="3" name="Text 1"/>
          <p:cNvSpPr/>
          <p:nvPr/>
        </p:nvSpPr>
        <p:spPr>
          <a:xfrm>
            <a:off x="793790" y="3051096"/>
            <a:ext cx="1486019" cy="362903"/>
          </a:xfrm>
          <a:prstGeom prst="rect">
            <a:avLst/>
          </a:prstGeom>
          <a:noFill/>
          <a:ln/>
        </p:spPr>
        <p:txBody>
          <a:bodyPr wrap="none" lIns="0" tIns="0" rIns="0" bIns="0" rtlCol="0" anchor="t"/>
          <a:lstStyle/>
          <a:p>
            <a:pPr algn="l" indent="0" marL="0">
              <a:lnSpc>
                <a:spcPts val="2850"/>
              </a:lnSpc>
              <a:buNone/>
            </a:pPr>
            <a:endParaRPr lang="en-US" sz="1750" dirty="0"/>
          </a:p>
        </p:txBody>
      </p:sp>
      <p:sp>
        <p:nvSpPr>
          <p:cNvPr id="4" name="Text 2"/>
          <p:cNvSpPr/>
          <p:nvPr/>
        </p:nvSpPr>
        <p:spPr>
          <a:xfrm>
            <a:off x="2840831" y="3073837"/>
            <a:ext cx="4725353" cy="492085"/>
          </a:xfrm>
          <a:prstGeom prst="rect">
            <a:avLst/>
          </a:prstGeom>
          <a:noFill/>
          <a:ln/>
        </p:spPr>
        <p:txBody>
          <a:bodyPr wrap="none" lIns="0" tIns="0" rIns="0" bIns="0" rtlCol="0" anchor="t"/>
          <a:lstStyle/>
          <a:p>
            <a:pPr algn="l" indent="0" marL="0">
              <a:lnSpc>
                <a:spcPts val="3650"/>
              </a:lnSpc>
              <a:buNone/>
            </a:pPr>
            <a:r>
              <a:rPr lang="en-US" sz="2900" b="1" dirty="0">
                <a:solidFill>
                  <a:srgbClr val="F95F88"/>
                </a:solidFill>
                <a:latin typeface="Petrona Bold" pitchFamily="34" charset="0"/>
                <a:ea typeface="Petrona Bold" pitchFamily="34" charset="-122"/>
                <a:cs typeface="Petrona Bold" pitchFamily="34" charset="-120"/>
              </a:rPr>
              <a:t>The Role of the </a:t>
            </a:r>
            <a:pPr algn="l" indent="0" marL="0">
              <a:lnSpc>
                <a:spcPts val="3650"/>
              </a:lnSpc>
              <a:buNone/>
            </a:pPr>
            <a:r>
              <a:rPr lang="en-US" sz="2900" b="1" i="1" dirty="0">
                <a:solidFill>
                  <a:srgbClr val="F95F88"/>
                </a:solidFill>
                <a:latin typeface="Petrona Bold" pitchFamily="34" charset="0"/>
                <a:ea typeface="Petrona Bold" pitchFamily="34" charset="-122"/>
                <a:cs typeface="Petrona Bold" pitchFamily="34" charset="-120"/>
              </a:rPr>
              <a:t>\gamma</a:t>
            </a:r>
            <a:pPr algn="l" indent="0" marL="0">
              <a:lnSpc>
                <a:spcPts val="3650"/>
              </a:lnSpc>
              <a:buNone/>
            </a:pPr>
            <a:r>
              <a:rPr lang="en-US" sz="2900" b="1" dirty="0">
                <a:solidFill>
                  <a:srgbClr val="F95F88"/>
                </a:solidFill>
                <a:latin typeface="Petrona Bold" pitchFamily="34" charset="0"/>
                <a:ea typeface="Petrona Bold" pitchFamily="34" charset="-122"/>
                <a:cs typeface="Petrona Bold" pitchFamily="34" charset="-120"/>
              </a:rPr>
              <a:t> Parameter</a:t>
            </a:r>
            <a:endParaRPr lang="en-US" sz="2900" dirty="0"/>
          </a:p>
        </p:txBody>
      </p:sp>
      <p:pic>
        <p:nvPicPr>
          <p:cNvPr id="5" name="Image 0" descr="preencoded.png">    </p:cNvPr>
          <p:cNvPicPr>
            <a:picLocks noChangeAspect="1"/>
          </p:cNvPicPr>
          <p:nvPr/>
        </p:nvPicPr>
        <p:blipFill>
          <a:blip r:embed="R8d014b2bf69740ec">
            <a:extLst>
              <a:ext uri="{96DAC541-7B7A-43D3-8B79-37D633B846F1}">
                <asvg:svgBlip xmlns:asvg="http://schemas.microsoft.com/office/drawing/2016/SVG/main" r:embed="Rd524d8b3ea594851"/>
              </a:ext>
            </a:extLst>
          </a:blip>
          <a:stretch>
            <a:fillRect/>
          </a:stretch>
        </p:blipFill>
        <p:spPr>
          <a:xfrm>
            <a:off x="2840831" y="3849410"/>
            <a:ext cx="226814" cy="226814"/>
          </a:xfrm>
          <a:prstGeom prst="rect">
            <a:avLst/>
          </a:prstGeom>
        </p:spPr>
      </p:pic>
      <p:sp>
        <p:nvSpPr>
          <p:cNvPr id="6" name="Shape 3"/>
          <p:cNvSpPr/>
          <p:nvPr/>
        </p:nvSpPr>
        <p:spPr>
          <a:xfrm>
            <a:off x="2840831" y="4176117"/>
            <a:ext cx="3516511" cy="30480"/>
          </a:xfrm>
          <a:prstGeom prst="rect">
            <a:avLst/>
          </a:prstGeom>
          <a:solidFill>
            <a:srgbClr val="6237C8"/>
          </a:solidFill>
          <a:ln/>
        </p:spPr>
      </p:sp>
      <p:sp>
        <p:nvSpPr>
          <p:cNvPr id="7" name="Text 4"/>
          <p:cNvSpPr/>
          <p:nvPr/>
        </p:nvSpPr>
        <p:spPr>
          <a:xfrm>
            <a:off x="2840831" y="4350425"/>
            <a:ext cx="3118842" cy="411242"/>
          </a:xfrm>
          <a:prstGeom prst="rect">
            <a:avLst/>
          </a:prstGeom>
          <a:noFill/>
          <a:ln/>
        </p:spPr>
        <p:txBody>
          <a:bodyPr wrap="none" lIns="0" tIns="0" rIns="0" bIns="0" rtlCol="0" anchor="t"/>
          <a:lstStyle/>
          <a:p>
            <a:pPr algn="l" indent="0" marL="0">
              <a:lnSpc>
                <a:spcPts val="3050"/>
              </a:lnSpc>
              <a:buNone/>
            </a:pPr>
            <a:r>
              <a:rPr lang="en-US" sz="2450" b="1" dirty="0">
                <a:solidFill>
                  <a:srgbClr val="272525"/>
                </a:solidFill>
                <a:latin typeface="Petrona Bold" pitchFamily="34" charset="0"/>
                <a:ea typeface="Petrona Bold" pitchFamily="34" charset="-122"/>
                <a:cs typeface="Petrona Bold" pitchFamily="34" charset="-120"/>
              </a:rPr>
              <a:t>Smaller </a:t>
            </a:r>
            <a:pPr algn="l" indent="0" marL="0">
              <a:lnSpc>
                <a:spcPts val="3050"/>
              </a:lnSpc>
              <a:buNone/>
            </a:pPr>
            <a:r>
              <a:rPr lang="en-US" sz="2450" b="1" i="1" dirty="0">
                <a:solidFill>
                  <a:srgbClr val="272525"/>
                </a:solidFill>
                <a:latin typeface="Petrona Bold" pitchFamily="34" charset="0"/>
                <a:ea typeface="Petrona Bold" pitchFamily="34" charset="-122"/>
                <a:cs typeface="Petrona Bold" pitchFamily="34" charset="-120"/>
              </a:rPr>
              <a:t>\gamma</a:t>
            </a:r>
            <a:endParaRPr lang="en-US" sz="2450" dirty="0"/>
          </a:p>
        </p:txBody>
      </p:sp>
      <p:sp>
        <p:nvSpPr>
          <p:cNvPr id="8" name="Text 5"/>
          <p:cNvSpPr/>
          <p:nvPr/>
        </p:nvSpPr>
        <p:spPr>
          <a:xfrm>
            <a:off x="2840831" y="4988481"/>
            <a:ext cx="3516511" cy="1088708"/>
          </a:xfrm>
          <a:prstGeom prst="rect">
            <a:avLst/>
          </a:prstGeom>
          <a:noFill/>
          <a:ln/>
        </p:spPr>
        <p:txBody>
          <a:bodyPr wrap="square" lIns="0" tIns="0" rIns="0" bIns="0" rtlCol="0" anchor="t"/>
          <a:lstStyle/>
          <a:p>
            <a:pPr algn="l" indent="0" marL="0">
              <a:lnSpc>
                <a:spcPts val="2850"/>
              </a:lnSpc>
              <a:buNone/>
            </a:pPr>
            <a:r>
              <a:rPr lang="en-US" sz="1750" dirty="0">
                <a:solidFill>
                  <a:srgbClr val="272525"/>
                </a:solidFill>
                <a:latin typeface="Inter" pitchFamily="34" charset="0"/>
                <a:ea typeface="Inter" pitchFamily="34" charset="-122"/>
                <a:cs typeface="Inter" pitchFamily="34" charset="-120"/>
              </a:rPr>
              <a:t>More risk-averse behavior. Tighter tail loss control but slightly lower mean P&amp;L.</a:t>
            </a:r>
            <a:endParaRPr lang="en-US" sz="1750" dirty="0"/>
          </a:p>
        </p:txBody>
      </p:sp>
      <p:pic>
        <p:nvPicPr>
          <p:cNvPr id="9" name="Image 1" descr="preencoded.png">    </p:cNvPr>
          <p:cNvPicPr>
            <a:picLocks noChangeAspect="1"/>
          </p:cNvPicPr>
          <p:nvPr/>
        </p:nvPicPr>
        <p:blipFill>
          <a:blip r:embed="R8d014b2bf69740ec">
            <a:extLst>
              <a:ext uri="{96DAC541-7B7A-43D3-8B79-37D633B846F1}">
                <asvg:svgBlip xmlns:asvg="http://schemas.microsoft.com/office/drawing/2016/SVG/main" r:embed="R5b3ea7c5143744d4"/>
              </a:ext>
            </a:extLst>
          </a:blip>
          <a:stretch>
            <a:fillRect/>
          </a:stretch>
        </p:blipFill>
        <p:spPr>
          <a:xfrm>
            <a:off x="6584156" y="3849410"/>
            <a:ext cx="226814" cy="226814"/>
          </a:xfrm>
          <a:prstGeom prst="rect">
            <a:avLst/>
          </a:prstGeom>
        </p:spPr>
      </p:pic>
      <p:sp>
        <p:nvSpPr>
          <p:cNvPr id="10" name="Shape 6"/>
          <p:cNvSpPr/>
          <p:nvPr/>
        </p:nvSpPr>
        <p:spPr>
          <a:xfrm>
            <a:off x="6584156" y="4176117"/>
            <a:ext cx="3516511" cy="30480"/>
          </a:xfrm>
          <a:prstGeom prst="rect">
            <a:avLst/>
          </a:prstGeom>
          <a:solidFill>
            <a:srgbClr val="6237C8"/>
          </a:solidFill>
          <a:ln/>
        </p:spPr>
      </p:sp>
      <p:sp>
        <p:nvSpPr>
          <p:cNvPr id="11" name="Text 7"/>
          <p:cNvSpPr/>
          <p:nvPr/>
        </p:nvSpPr>
        <p:spPr>
          <a:xfrm>
            <a:off x="6584156" y="4350425"/>
            <a:ext cx="3118842" cy="411242"/>
          </a:xfrm>
          <a:prstGeom prst="rect">
            <a:avLst/>
          </a:prstGeom>
          <a:noFill/>
          <a:ln/>
        </p:spPr>
        <p:txBody>
          <a:bodyPr wrap="none" lIns="0" tIns="0" rIns="0" bIns="0" rtlCol="0" anchor="t"/>
          <a:lstStyle/>
          <a:p>
            <a:pPr algn="l" indent="0" marL="0">
              <a:lnSpc>
                <a:spcPts val="3050"/>
              </a:lnSpc>
              <a:buNone/>
            </a:pPr>
            <a:r>
              <a:rPr lang="en-US" sz="2450" b="1" dirty="0">
                <a:solidFill>
                  <a:srgbClr val="272525"/>
                </a:solidFill>
                <a:latin typeface="Petrona Bold" pitchFamily="34" charset="0"/>
                <a:ea typeface="Petrona Bold" pitchFamily="34" charset="-122"/>
                <a:cs typeface="Petrona Bold" pitchFamily="34" charset="-120"/>
              </a:rPr>
              <a:t>Larger </a:t>
            </a:r>
            <a:pPr algn="l" indent="0" marL="0">
              <a:lnSpc>
                <a:spcPts val="3050"/>
              </a:lnSpc>
              <a:buNone/>
            </a:pPr>
            <a:r>
              <a:rPr lang="en-US" sz="2450" b="1" i="1" dirty="0">
                <a:solidFill>
                  <a:srgbClr val="272525"/>
                </a:solidFill>
                <a:latin typeface="Petrona Bold" pitchFamily="34" charset="0"/>
                <a:ea typeface="Petrona Bold" pitchFamily="34" charset="-122"/>
                <a:cs typeface="Petrona Bold" pitchFamily="34" charset="-120"/>
              </a:rPr>
              <a:t>\gamma</a:t>
            </a:r>
            <a:endParaRPr lang="en-US" sz="2450" dirty="0"/>
          </a:p>
        </p:txBody>
      </p:sp>
      <p:sp>
        <p:nvSpPr>
          <p:cNvPr id="12" name="Text 8"/>
          <p:cNvSpPr/>
          <p:nvPr/>
        </p:nvSpPr>
        <p:spPr>
          <a:xfrm>
            <a:off x="6584156" y="4988481"/>
            <a:ext cx="3516511" cy="1088708"/>
          </a:xfrm>
          <a:prstGeom prst="rect">
            <a:avLst/>
          </a:prstGeom>
          <a:noFill/>
          <a:ln/>
        </p:spPr>
        <p:txBody>
          <a:bodyPr wrap="square" lIns="0" tIns="0" rIns="0" bIns="0" rtlCol="0" anchor="t"/>
          <a:lstStyle/>
          <a:p>
            <a:pPr algn="l" indent="0" marL="0">
              <a:lnSpc>
                <a:spcPts val="2850"/>
              </a:lnSpc>
              <a:buNone/>
            </a:pPr>
            <a:r>
              <a:rPr lang="en-US" sz="1750" dirty="0">
                <a:solidFill>
                  <a:srgbClr val="272525"/>
                </a:solidFill>
                <a:latin typeface="Inter" pitchFamily="34" charset="0"/>
                <a:ea typeface="Inter" pitchFamily="34" charset="-122"/>
                <a:cs typeface="Inter" pitchFamily="34" charset="-120"/>
              </a:rPr>
              <a:t>Approaches risk-neutrality. Increased variance and potentially higher tail losses.</a:t>
            </a:r>
            <a:endParaRPr lang="en-US" sz="1750" dirty="0"/>
          </a:p>
        </p:txBody>
      </p:sp>
      <p:pic>
        <p:nvPicPr>
          <p:cNvPr id="13" name="Image 2" descr="preencoded.png">    </p:cNvPr>
          <p:cNvPicPr>
            <a:picLocks noChangeAspect="1"/>
          </p:cNvPicPr>
          <p:nvPr/>
        </p:nvPicPr>
        <p:blipFill>
          <a:blip r:embed="R8d014b2bf69740ec">
            <a:extLst>
              <a:ext uri="{96DAC541-7B7A-43D3-8B79-37D633B846F1}">
                <asvg:svgBlip xmlns:asvg="http://schemas.microsoft.com/office/drawing/2016/SVG/main" r:embed="R9b7ac9dfad3b4ec2"/>
              </a:ext>
            </a:extLst>
          </a:blip>
          <a:stretch>
            <a:fillRect/>
          </a:stretch>
        </p:blipFill>
        <p:spPr>
          <a:xfrm>
            <a:off x="10327481" y="3849410"/>
            <a:ext cx="226814" cy="226814"/>
          </a:xfrm>
          <a:prstGeom prst="rect">
            <a:avLst/>
          </a:prstGeom>
        </p:spPr>
      </p:pic>
      <p:sp>
        <p:nvSpPr>
          <p:cNvPr id="14" name="Shape 9"/>
          <p:cNvSpPr/>
          <p:nvPr/>
        </p:nvSpPr>
        <p:spPr>
          <a:xfrm>
            <a:off x="10327481" y="4176117"/>
            <a:ext cx="3516630" cy="30480"/>
          </a:xfrm>
          <a:prstGeom prst="rect">
            <a:avLst/>
          </a:prstGeom>
          <a:solidFill>
            <a:srgbClr val="6237C8"/>
          </a:solidFill>
          <a:ln/>
        </p:spPr>
      </p:sp>
      <p:sp>
        <p:nvSpPr>
          <p:cNvPr id="15" name="Text 10"/>
          <p:cNvSpPr/>
          <p:nvPr/>
        </p:nvSpPr>
        <p:spPr>
          <a:xfrm>
            <a:off x="10327481" y="4350425"/>
            <a:ext cx="3118842" cy="389930"/>
          </a:xfrm>
          <a:prstGeom prst="rect">
            <a:avLst/>
          </a:prstGeom>
          <a:noFill/>
          <a:ln/>
        </p:spPr>
        <p:txBody>
          <a:bodyPr wrap="none" lIns="0" tIns="0" rIns="0" bIns="0" rtlCol="0" anchor="t"/>
          <a:lstStyle/>
          <a:p>
            <a:pPr algn="l" indent="0" marL="0">
              <a:lnSpc>
                <a:spcPts val="3050"/>
              </a:lnSpc>
              <a:buNone/>
            </a:pPr>
            <a:r>
              <a:rPr lang="en-US" sz="2450" b="1" dirty="0">
                <a:solidFill>
                  <a:srgbClr val="272525"/>
                </a:solidFill>
                <a:latin typeface="Petrona Bold" pitchFamily="34" charset="0"/>
                <a:ea typeface="Petrona Bold" pitchFamily="34" charset="-122"/>
                <a:cs typeface="Petrona Bold" pitchFamily="34" charset="-120"/>
              </a:rPr>
              <a:t>Policy Tuning</a:t>
            </a:r>
            <a:endParaRPr lang="en-US" sz="2450" dirty="0"/>
          </a:p>
        </p:txBody>
      </p:sp>
      <p:sp>
        <p:nvSpPr>
          <p:cNvPr id="16" name="Text 11"/>
          <p:cNvSpPr/>
          <p:nvPr/>
        </p:nvSpPr>
        <p:spPr>
          <a:xfrm>
            <a:off x="10327481" y="4967168"/>
            <a:ext cx="3516630" cy="1088708"/>
          </a:xfrm>
          <a:prstGeom prst="rect">
            <a:avLst/>
          </a:prstGeom>
          <a:noFill/>
          <a:ln/>
        </p:spPr>
        <p:txBody>
          <a:bodyPr wrap="square" lIns="0" tIns="0" rIns="0" bIns="0" rtlCol="0" anchor="t"/>
          <a:lstStyle/>
          <a:p>
            <a:pPr algn="l" indent="0" marL="0">
              <a:lnSpc>
                <a:spcPts val="2850"/>
              </a:lnSpc>
              <a:buNone/>
            </a:pPr>
            <a:r>
              <a:rPr lang="en-US" sz="1750" dirty="0">
                <a:solidFill>
                  <a:srgbClr val="272525"/>
                </a:solidFill>
                <a:latin typeface="Inter" pitchFamily="34" charset="0"/>
                <a:ea typeface="Inter" pitchFamily="34" charset="-122"/>
                <a:cs typeface="Inter" pitchFamily="34" charset="-120"/>
              </a:rPr>
              <a:t>The frontier allows calibration of the hedge policy for specific institutional risk mandates.</a:t>
            </a:r>
            <a:endParaRPr lang="en-US" sz="17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463040" cy="8229600"/>
          </a:xfrm>
          <a:prstGeom prst="rect">
            <a:avLst/>
          </a:prstGeom>
          <a:solidFill>
            <a:srgbClr val="DFDFE0"/>
          </a:solidFill>
          <a:ln/>
        </p:spPr>
      </p:sp>
      <p:pic>
        <p:nvPicPr>
          <p:cNvPr id="3" name="Image 0" descr="preencoded.png">    </p:cNvPr>
          <p:cNvPicPr>
            <a:picLocks noChangeAspect="1"/>
          </p:cNvPicPr>
          <p:nvPr/>
        </p:nvPicPr>
        <p:blipFill>
          <a:blip r:embed="R4de3cbac29a446f2"/>
          <a:stretch>
            <a:fillRect/>
          </a:stretch>
        </p:blipFill>
        <p:spPr>
          <a:xfrm>
            <a:off x="0" y="0"/>
            <a:ext cx="1463040" cy="8229600"/>
          </a:xfrm>
          <a:prstGeom prst="rect">
            <a:avLst/>
          </a:prstGeom>
        </p:spPr>
      </p:pic>
      <p:sp>
        <p:nvSpPr>
          <p:cNvPr id="4" name="Text 1"/>
          <p:cNvSpPr/>
          <p:nvPr/>
        </p:nvSpPr>
        <p:spPr>
          <a:xfrm>
            <a:off x="2256830" y="1381363"/>
            <a:ext cx="11579781" cy="1594723"/>
          </a:xfrm>
          <a:prstGeom prst="rect">
            <a:avLst/>
          </a:prstGeom>
          <a:noFill/>
          <a:ln/>
        </p:spPr>
        <p:txBody>
          <a:bodyPr wrap="square" lIns="0" tIns="0" rIns="0" bIns="0" rtlCol="0" anchor="t"/>
          <a:lstStyle/>
          <a:p>
            <a:pPr algn="l" indent="0" marL="0">
              <a:lnSpc>
                <a:spcPts val="6100"/>
              </a:lnSpc>
              <a:buNone/>
            </a:pPr>
            <a:r>
              <a:rPr lang="en-US" sz="4900" b="1" dirty="0">
                <a:solidFill>
                  <a:srgbClr val="F95F88"/>
                </a:solidFill>
                <a:latin typeface="Petrona Bold" pitchFamily="34" charset="0"/>
                <a:ea typeface="Petrona Bold" pitchFamily="34" charset="-122"/>
                <a:cs typeface="Petrona Bold" pitchFamily="34" charset="-120"/>
              </a:rPr>
              <a:t>Hedge Behaviour: Smoother </a:t>
            </a:r>
            <a:pPr algn="l" indent="0" marL="0">
              <a:lnSpc>
                <a:spcPts val="6100"/>
              </a:lnSpc>
              <a:buNone/>
            </a:pPr>
            <a:r>
              <a:rPr lang="en-US" sz="4900" b="1" i="1" dirty="0">
                <a:solidFill>
                  <a:srgbClr val="F95F88"/>
                </a:solidFill>
                <a:latin typeface="Petrona Bold" pitchFamily="34" charset="0"/>
                <a:ea typeface="Petrona Bold" pitchFamily="34" charset="-122"/>
                <a:cs typeface="Petrona Bold" pitchFamily="34" charset="-120"/>
              </a:rPr>
              <a:t>\delta_t</a:t>
            </a:r>
            <a:pPr algn="l" indent="0" marL="0">
              <a:lnSpc>
                <a:spcPts val="6100"/>
              </a:lnSpc>
              <a:buNone/>
            </a:pPr>
            <a:r>
              <a:rPr lang="en-US" sz="4900" b="1" dirty="0">
                <a:solidFill>
                  <a:srgbClr val="F95F88"/>
                </a:solidFill>
                <a:latin typeface="Petrona Bold" pitchFamily="34" charset="0"/>
                <a:ea typeface="Petrona Bold" pitchFamily="34" charset="-122"/>
                <a:cs typeface="Petrona Bold" pitchFamily="34" charset="-120"/>
              </a:rPr>
              <a:t> Trajectories</a:t>
            </a:r>
            <a:endParaRPr lang="en-US" sz="4900" dirty="0"/>
          </a:p>
        </p:txBody>
      </p:sp>
      <p:sp>
        <p:nvSpPr>
          <p:cNvPr id="5" name="Shape 2"/>
          <p:cNvSpPr/>
          <p:nvPr/>
        </p:nvSpPr>
        <p:spPr>
          <a:xfrm>
            <a:off x="2256830" y="3656409"/>
            <a:ext cx="3708678" cy="3191828"/>
          </a:xfrm>
          <a:prstGeom prst="roundRect">
            <a:avLst>
              <a:gd name="adj" fmla="val 4584"/>
            </a:avLst>
          </a:prstGeom>
          <a:solidFill>
            <a:srgbClr val="FDFAF7"/>
          </a:solidFill>
          <a:ln/>
        </p:spPr>
      </p:sp>
      <p:sp>
        <p:nvSpPr>
          <p:cNvPr id="6" name="Shape 3"/>
          <p:cNvSpPr/>
          <p:nvPr/>
        </p:nvSpPr>
        <p:spPr>
          <a:xfrm>
            <a:off x="2256830" y="3625929"/>
            <a:ext cx="3708678" cy="121920"/>
          </a:xfrm>
          <a:prstGeom prst="roundRect">
            <a:avLst>
              <a:gd name="adj" fmla="val 78139"/>
            </a:avLst>
          </a:prstGeom>
          <a:solidFill>
            <a:srgbClr val="6237C8"/>
          </a:solidFill>
          <a:ln/>
        </p:spPr>
      </p:sp>
      <p:sp>
        <p:nvSpPr>
          <p:cNvPr id="7" name="Shape 4"/>
          <p:cNvSpPr/>
          <p:nvPr/>
        </p:nvSpPr>
        <p:spPr>
          <a:xfrm>
            <a:off x="3770888" y="3316248"/>
            <a:ext cx="680442" cy="680442"/>
          </a:xfrm>
          <a:prstGeom prst="roundRect">
            <a:avLst>
              <a:gd name="adj" fmla="val 134383"/>
            </a:avLst>
          </a:prstGeom>
          <a:solidFill>
            <a:srgbClr val="6237C8"/>
          </a:solidFill>
          <a:ln/>
        </p:spPr>
      </p:sp>
      <p:pic>
        <p:nvPicPr>
          <p:cNvPr id="8" name="Image 1" descr="preencoded.png">    </p:cNvPr>
          <p:cNvPicPr>
            <a:picLocks noChangeAspect="1"/>
          </p:cNvPicPr>
          <p:nvPr/>
        </p:nvPicPr>
        <p:blipFill>
          <a:blip r:embed="Ree14ddee1d014d24">
            <a:extLst>
              <a:ext uri="{96DAC541-7B7A-43D3-8B79-37D633B846F1}">
                <asvg:svgBlip xmlns:asvg="http://schemas.microsoft.com/office/drawing/2016/SVG/main" r:embed="Refa46224b66d40f4"/>
              </a:ext>
            </a:extLst>
          </a:blip>
          <a:stretch>
            <a:fillRect/>
          </a:stretch>
        </p:blipFill>
        <p:spPr>
          <a:xfrm>
            <a:off x="3974961" y="3520321"/>
            <a:ext cx="272177" cy="272177"/>
          </a:xfrm>
          <a:prstGeom prst="rect">
            <a:avLst/>
          </a:prstGeom>
        </p:spPr>
      </p:pic>
      <p:sp>
        <p:nvSpPr>
          <p:cNvPr id="9" name="Text 5"/>
          <p:cNvSpPr/>
          <p:nvPr/>
        </p:nvSpPr>
        <p:spPr>
          <a:xfrm>
            <a:off x="2514124" y="4223385"/>
            <a:ext cx="3118842" cy="405170"/>
          </a:xfrm>
          <a:prstGeom prst="rect">
            <a:avLst/>
          </a:prstGeom>
          <a:noFill/>
          <a:ln/>
        </p:spPr>
        <p:txBody>
          <a:bodyPr wrap="none" lIns="0" tIns="0" rIns="0" bIns="0" rtlCol="0" anchor="t"/>
          <a:lstStyle/>
          <a:p>
            <a:pPr algn="l" indent="0" marL="0">
              <a:lnSpc>
                <a:spcPts val="3050"/>
              </a:lnSpc>
              <a:buNone/>
            </a:pPr>
            <a:r>
              <a:rPr lang="en-US" sz="2450" b="1" dirty="0">
                <a:solidFill>
                  <a:srgbClr val="272525"/>
                </a:solidFill>
                <a:latin typeface="Petrona Bold" pitchFamily="34" charset="0"/>
                <a:ea typeface="Petrona Bold" pitchFamily="34" charset="-122"/>
                <a:cs typeface="Petrona Bold" pitchFamily="34" charset="-120"/>
              </a:rPr>
              <a:t>BS </a:t>
            </a:r>
            <a:pPr algn="l" indent="0" marL="0">
              <a:lnSpc>
                <a:spcPts val="3050"/>
              </a:lnSpc>
              <a:buNone/>
            </a:pPr>
            <a:r>
              <a:rPr lang="en-US" sz="2450" b="1" i="1" dirty="0">
                <a:solidFill>
                  <a:srgbClr val="272525"/>
                </a:solidFill>
                <a:latin typeface="Petrona Bold" pitchFamily="34" charset="0"/>
                <a:ea typeface="Petrona Bold" pitchFamily="34" charset="-122"/>
                <a:cs typeface="Petrona Bold" pitchFamily="34" charset="-120"/>
              </a:rPr>
              <a:t>\Delta</a:t>
            </a:r>
            <a:pPr algn="l" indent="0" marL="0">
              <a:lnSpc>
                <a:spcPts val="3050"/>
              </a:lnSpc>
              <a:buNone/>
            </a:pPr>
            <a:r>
              <a:rPr lang="en-US" sz="2450" b="1" dirty="0">
                <a:solidFill>
                  <a:srgbClr val="272525"/>
                </a:solidFill>
                <a:latin typeface="Petrona Bold" pitchFamily="34" charset="0"/>
                <a:ea typeface="Petrona Bold" pitchFamily="34" charset="-122"/>
                <a:cs typeface="Petrona Bold" pitchFamily="34" charset="-120"/>
              </a:rPr>
              <a:t> Trajectory</a:t>
            </a:r>
            <a:endParaRPr lang="en-US" sz="2450" dirty="0"/>
          </a:p>
        </p:txBody>
      </p:sp>
      <p:sp>
        <p:nvSpPr>
          <p:cNvPr id="10" name="Text 6"/>
          <p:cNvSpPr/>
          <p:nvPr/>
        </p:nvSpPr>
        <p:spPr>
          <a:xfrm>
            <a:off x="2514124" y="4764643"/>
            <a:ext cx="3194090" cy="1451610"/>
          </a:xfrm>
          <a:prstGeom prst="rect">
            <a:avLst/>
          </a:prstGeom>
          <a:noFill/>
          <a:ln/>
        </p:spPr>
        <p:txBody>
          <a:bodyPr wrap="square" lIns="0" tIns="0" rIns="0" bIns="0" rtlCol="0" anchor="t"/>
          <a:lstStyle/>
          <a:p>
            <a:pPr algn="l" indent="0" marL="0">
              <a:lnSpc>
                <a:spcPts val="2850"/>
              </a:lnSpc>
              <a:buNone/>
            </a:pPr>
            <a:r>
              <a:rPr lang="en-US" sz="1750" dirty="0">
                <a:solidFill>
                  <a:srgbClr val="272525"/>
                </a:solidFill>
                <a:latin typeface="Inter" pitchFamily="34" charset="0"/>
                <a:ea typeface="Inter" pitchFamily="34" charset="-122"/>
                <a:cs typeface="Inter" pitchFamily="34" charset="-120"/>
              </a:rPr>
              <a:t>Oscillates wildly. Implies continuous rebalancing, which is unrealistic under friction.</a:t>
            </a:r>
            <a:endParaRPr lang="en-US" sz="1750" dirty="0"/>
          </a:p>
        </p:txBody>
      </p:sp>
      <p:sp>
        <p:nvSpPr>
          <p:cNvPr id="11" name="Shape 7"/>
          <p:cNvSpPr/>
          <p:nvPr/>
        </p:nvSpPr>
        <p:spPr>
          <a:xfrm>
            <a:off x="6192322" y="3656409"/>
            <a:ext cx="3708678" cy="3191828"/>
          </a:xfrm>
          <a:prstGeom prst="roundRect">
            <a:avLst>
              <a:gd name="adj" fmla="val 4584"/>
            </a:avLst>
          </a:prstGeom>
          <a:solidFill>
            <a:srgbClr val="FDFAF7"/>
          </a:solidFill>
          <a:ln/>
        </p:spPr>
      </p:sp>
      <p:sp>
        <p:nvSpPr>
          <p:cNvPr id="12" name="Shape 8"/>
          <p:cNvSpPr/>
          <p:nvPr/>
        </p:nvSpPr>
        <p:spPr>
          <a:xfrm>
            <a:off x="6192322" y="3625929"/>
            <a:ext cx="3708678" cy="121920"/>
          </a:xfrm>
          <a:prstGeom prst="roundRect">
            <a:avLst>
              <a:gd name="adj" fmla="val 78139"/>
            </a:avLst>
          </a:prstGeom>
          <a:solidFill>
            <a:srgbClr val="6237C8"/>
          </a:solidFill>
          <a:ln/>
        </p:spPr>
      </p:sp>
      <p:sp>
        <p:nvSpPr>
          <p:cNvPr id="13" name="Shape 9"/>
          <p:cNvSpPr/>
          <p:nvPr/>
        </p:nvSpPr>
        <p:spPr>
          <a:xfrm>
            <a:off x="7706380" y="3316248"/>
            <a:ext cx="680442" cy="680442"/>
          </a:xfrm>
          <a:prstGeom prst="roundRect">
            <a:avLst>
              <a:gd name="adj" fmla="val 134383"/>
            </a:avLst>
          </a:prstGeom>
          <a:solidFill>
            <a:srgbClr val="6237C8"/>
          </a:solidFill>
          <a:ln/>
        </p:spPr>
      </p:sp>
      <p:pic>
        <p:nvPicPr>
          <p:cNvPr id="14" name="Image 2" descr="preencoded.png">    </p:cNvPr>
          <p:cNvPicPr>
            <a:picLocks noChangeAspect="1"/>
          </p:cNvPicPr>
          <p:nvPr/>
        </p:nvPicPr>
        <p:blipFill>
          <a:blip r:embed="Ree14ddee1d014d24">
            <a:extLst>
              <a:ext uri="{96DAC541-7B7A-43D3-8B79-37D633B846F1}">
                <asvg:svgBlip xmlns:asvg="http://schemas.microsoft.com/office/drawing/2016/SVG/main" r:embed="R46f2899468d04ba1"/>
              </a:ext>
            </a:extLst>
          </a:blip>
          <a:stretch>
            <a:fillRect/>
          </a:stretch>
        </p:blipFill>
        <p:spPr>
          <a:xfrm>
            <a:off x="7910453" y="3520321"/>
            <a:ext cx="272177" cy="272177"/>
          </a:xfrm>
          <a:prstGeom prst="rect">
            <a:avLst/>
          </a:prstGeom>
        </p:spPr>
      </p:pic>
      <p:sp>
        <p:nvSpPr>
          <p:cNvPr id="15" name="Text 10"/>
          <p:cNvSpPr/>
          <p:nvPr/>
        </p:nvSpPr>
        <p:spPr>
          <a:xfrm>
            <a:off x="6449616" y="4223385"/>
            <a:ext cx="3118842" cy="411242"/>
          </a:xfrm>
          <a:prstGeom prst="rect">
            <a:avLst/>
          </a:prstGeom>
          <a:noFill/>
          <a:ln/>
        </p:spPr>
        <p:txBody>
          <a:bodyPr wrap="none" lIns="0" tIns="0" rIns="0" bIns="0" rtlCol="0" anchor="t"/>
          <a:lstStyle/>
          <a:p>
            <a:pPr algn="l" indent="0" marL="0">
              <a:lnSpc>
                <a:spcPts val="3050"/>
              </a:lnSpc>
              <a:buNone/>
            </a:pPr>
            <a:r>
              <a:rPr lang="en-US" sz="2450" b="1" dirty="0">
                <a:solidFill>
                  <a:srgbClr val="272525"/>
                </a:solidFill>
                <a:latin typeface="Petrona Bold" pitchFamily="34" charset="0"/>
                <a:ea typeface="Petrona Bold" pitchFamily="34" charset="-122"/>
                <a:cs typeface="Petrona Bold" pitchFamily="34" charset="-120"/>
              </a:rPr>
              <a:t>Trained </a:t>
            </a:r>
            <a:pPr algn="l" indent="0" marL="0">
              <a:lnSpc>
                <a:spcPts val="3050"/>
              </a:lnSpc>
              <a:buNone/>
            </a:pPr>
            <a:r>
              <a:rPr lang="en-US" sz="2450" b="1" i="1" dirty="0">
                <a:solidFill>
                  <a:srgbClr val="272525"/>
                </a:solidFill>
                <a:latin typeface="Petrona Bold" pitchFamily="34" charset="0"/>
                <a:ea typeface="Petrona Bold" pitchFamily="34" charset="-122"/>
                <a:cs typeface="Petrona Bold" pitchFamily="34" charset="-120"/>
              </a:rPr>
              <a:t>\delta_t</a:t>
            </a:r>
            <a:pPr algn="l" indent="0" marL="0">
              <a:lnSpc>
                <a:spcPts val="3050"/>
              </a:lnSpc>
              <a:buNone/>
            </a:pPr>
            <a:r>
              <a:rPr lang="en-US" sz="2450" b="1" dirty="0">
                <a:solidFill>
                  <a:srgbClr val="272525"/>
                </a:solidFill>
                <a:latin typeface="Petrona Bold" pitchFamily="34" charset="0"/>
                <a:ea typeface="Petrona Bold" pitchFamily="34" charset="-122"/>
                <a:cs typeface="Petrona Bold" pitchFamily="34" charset="-120"/>
              </a:rPr>
              <a:t> Policy</a:t>
            </a:r>
            <a:endParaRPr lang="en-US" sz="2450" dirty="0"/>
          </a:p>
        </p:txBody>
      </p:sp>
      <p:sp>
        <p:nvSpPr>
          <p:cNvPr id="16" name="Text 11"/>
          <p:cNvSpPr/>
          <p:nvPr/>
        </p:nvSpPr>
        <p:spPr>
          <a:xfrm>
            <a:off x="6449616" y="4770715"/>
            <a:ext cx="3194090" cy="1451610"/>
          </a:xfrm>
          <a:prstGeom prst="rect">
            <a:avLst/>
          </a:prstGeom>
          <a:noFill/>
          <a:ln/>
        </p:spPr>
        <p:txBody>
          <a:bodyPr wrap="square" lIns="0" tIns="0" rIns="0" bIns="0" rtlCol="0" anchor="t"/>
          <a:lstStyle/>
          <a:p>
            <a:pPr algn="l" indent="0" marL="0">
              <a:lnSpc>
                <a:spcPts val="2850"/>
              </a:lnSpc>
              <a:buNone/>
            </a:pPr>
            <a:r>
              <a:rPr lang="en-US" sz="1750" dirty="0">
                <a:solidFill>
                  <a:srgbClr val="272525"/>
                </a:solidFill>
                <a:latin typeface="Inter" pitchFamily="34" charset="0"/>
                <a:ea typeface="Inter" pitchFamily="34" charset="-122"/>
                <a:cs typeface="Inter" pitchFamily="34" charset="-120"/>
              </a:rPr>
              <a:t>Significantly smoother. Trades only when the entropic risk justifies the transaction cost.</a:t>
            </a:r>
            <a:endParaRPr lang="en-US" sz="1750" dirty="0"/>
          </a:p>
        </p:txBody>
      </p:sp>
      <p:sp>
        <p:nvSpPr>
          <p:cNvPr id="17" name="Shape 12"/>
          <p:cNvSpPr/>
          <p:nvPr/>
        </p:nvSpPr>
        <p:spPr>
          <a:xfrm>
            <a:off x="10127813" y="3656409"/>
            <a:ext cx="3708797" cy="3191828"/>
          </a:xfrm>
          <a:prstGeom prst="roundRect">
            <a:avLst>
              <a:gd name="adj" fmla="val 4584"/>
            </a:avLst>
          </a:prstGeom>
          <a:solidFill>
            <a:srgbClr val="FDFAF7"/>
          </a:solidFill>
          <a:ln/>
        </p:spPr>
      </p:sp>
      <p:sp>
        <p:nvSpPr>
          <p:cNvPr id="18" name="Shape 13"/>
          <p:cNvSpPr/>
          <p:nvPr/>
        </p:nvSpPr>
        <p:spPr>
          <a:xfrm>
            <a:off x="10127813" y="3625929"/>
            <a:ext cx="3708797" cy="121920"/>
          </a:xfrm>
          <a:prstGeom prst="roundRect">
            <a:avLst>
              <a:gd name="adj" fmla="val 78139"/>
            </a:avLst>
          </a:prstGeom>
          <a:solidFill>
            <a:srgbClr val="6237C8"/>
          </a:solidFill>
          <a:ln/>
        </p:spPr>
      </p:sp>
      <p:sp>
        <p:nvSpPr>
          <p:cNvPr id="19" name="Shape 14"/>
          <p:cNvSpPr/>
          <p:nvPr/>
        </p:nvSpPr>
        <p:spPr>
          <a:xfrm>
            <a:off x="11641991" y="3316248"/>
            <a:ext cx="680442" cy="680442"/>
          </a:xfrm>
          <a:prstGeom prst="roundRect">
            <a:avLst>
              <a:gd name="adj" fmla="val 134383"/>
            </a:avLst>
          </a:prstGeom>
          <a:solidFill>
            <a:srgbClr val="6237C8"/>
          </a:solidFill>
          <a:ln/>
        </p:spPr>
      </p:sp>
      <p:pic>
        <p:nvPicPr>
          <p:cNvPr id="20" name="Image 3" descr="preencoded.png">    </p:cNvPr>
          <p:cNvPicPr>
            <a:picLocks noChangeAspect="1"/>
          </p:cNvPicPr>
          <p:nvPr/>
        </p:nvPicPr>
        <p:blipFill>
          <a:blip r:embed="Ree14ddee1d014d24">
            <a:extLst>
              <a:ext uri="{96DAC541-7B7A-43D3-8B79-37D633B846F1}">
                <asvg:svgBlip xmlns:asvg="http://schemas.microsoft.com/office/drawing/2016/SVG/main" r:embed="Rd780d55ddfc24f28"/>
              </a:ext>
            </a:extLst>
          </a:blip>
          <a:stretch>
            <a:fillRect/>
          </a:stretch>
        </p:blipFill>
        <p:spPr>
          <a:xfrm>
            <a:off x="11846064" y="3520321"/>
            <a:ext cx="272177" cy="272177"/>
          </a:xfrm>
          <a:prstGeom prst="rect">
            <a:avLst/>
          </a:prstGeom>
        </p:spPr>
      </p:pic>
      <p:sp>
        <p:nvSpPr>
          <p:cNvPr id="21" name="Text 15"/>
          <p:cNvSpPr/>
          <p:nvPr/>
        </p:nvSpPr>
        <p:spPr>
          <a:xfrm>
            <a:off x="10385108" y="4223385"/>
            <a:ext cx="3194209" cy="779859"/>
          </a:xfrm>
          <a:prstGeom prst="rect">
            <a:avLst/>
          </a:prstGeom>
          <a:noFill/>
          <a:ln/>
        </p:spPr>
        <p:txBody>
          <a:bodyPr wrap="square" lIns="0" tIns="0" rIns="0" bIns="0" rtlCol="0" anchor="t"/>
          <a:lstStyle/>
          <a:p>
            <a:pPr algn="l" indent="0" marL="0">
              <a:lnSpc>
                <a:spcPts val="3050"/>
              </a:lnSpc>
              <a:buNone/>
            </a:pPr>
            <a:r>
              <a:rPr lang="en-US" sz="2450" b="1" dirty="0">
                <a:solidFill>
                  <a:srgbClr val="272525"/>
                </a:solidFill>
                <a:latin typeface="Petrona Bold" pitchFamily="34" charset="0"/>
                <a:ea typeface="Petrona Bold" pitchFamily="34" charset="-122"/>
                <a:cs typeface="Petrona Bold" pitchFamily="34" charset="-120"/>
              </a:rPr>
              <a:t>Realism Under Friction</a:t>
            </a:r>
            <a:endParaRPr lang="en-US" sz="2450" dirty="0"/>
          </a:p>
        </p:txBody>
      </p:sp>
      <p:sp>
        <p:nvSpPr>
          <p:cNvPr id="22" name="Text 16"/>
          <p:cNvSpPr/>
          <p:nvPr/>
        </p:nvSpPr>
        <p:spPr>
          <a:xfrm>
            <a:off x="10385108" y="5139333"/>
            <a:ext cx="3194209" cy="1451610"/>
          </a:xfrm>
          <a:prstGeom prst="rect">
            <a:avLst/>
          </a:prstGeom>
          <a:noFill/>
          <a:ln/>
        </p:spPr>
        <p:txBody>
          <a:bodyPr wrap="square" lIns="0" tIns="0" rIns="0" bIns="0" rtlCol="0" anchor="t"/>
          <a:lstStyle/>
          <a:p>
            <a:pPr algn="l" indent="0" marL="0">
              <a:lnSpc>
                <a:spcPts val="2850"/>
              </a:lnSpc>
              <a:buNone/>
            </a:pPr>
            <a:r>
              <a:rPr lang="en-US" sz="1750" dirty="0">
                <a:solidFill>
                  <a:srgbClr val="272525"/>
                </a:solidFill>
                <a:latin typeface="Inter" pitchFamily="34" charset="0"/>
                <a:ea typeface="Inter" pitchFamily="34" charset="-122"/>
                <a:cs typeface="Inter" pitchFamily="34" charset="-120"/>
              </a:rPr>
              <a:t>The deep hedging policy naturally incorporates cost awareness into its decision process.</a:t>
            </a:r>
            <a:endParaRPr lang="en-US" sz="17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1525905"/>
            <a:ext cx="11632763" cy="779621"/>
          </a:xfrm>
          <a:prstGeom prst="rect">
            <a:avLst/>
          </a:prstGeom>
          <a:noFill/>
          <a:ln/>
        </p:spPr>
        <p:txBody>
          <a:bodyPr wrap="none" lIns="0" tIns="0" rIns="0" bIns="0" rtlCol="0" anchor="t"/>
          <a:lstStyle/>
          <a:p>
            <a:pPr algn="l" indent="0" marL="0">
              <a:lnSpc>
                <a:spcPts val="6100"/>
              </a:lnSpc>
              <a:buNone/>
            </a:pPr>
            <a:r>
              <a:rPr lang="en-US" sz="4900" b="1" dirty="0">
                <a:solidFill>
                  <a:srgbClr val="F95F88"/>
                </a:solidFill>
                <a:latin typeface="Petrona Bold" pitchFamily="34" charset="0"/>
                <a:ea typeface="Petrona Bold" pitchFamily="34" charset="-122"/>
                <a:cs typeface="Petrona Bold" pitchFamily="34" charset="-120"/>
              </a:rPr>
              <a:t>Key Findings: Validation and Replication</a:t>
            </a:r>
            <a:endParaRPr lang="en-US" sz="4900" dirty="0"/>
          </a:p>
        </p:txBody>
      </p:sp>
      <p:sp>
        <p:nvSpPr>
          <p:cNvPr id="3" name="Shape 1"/>
          <p:cNvSpPr/>
          <p:nvPr/>
        </p:nvSpPr>
        <p:spPr>
          <a:xfrm>
            <a:off x="793790" y="2759154"/>
            <a:ext cx="13042821" cy="3944541"/>
          </a:xfrm>
          <a:prstGeom prst="roundRect">
            <a:avLst>
              <a:gd name="adj" fmla="val 2415"/>
            </a:avLst>
          </a:prstGeom>
          <a:solidFill>
            <a:srgbClr val="E0D7F4"/>
          </a:solidFill>
          <a:ln w="7620">
            <a:solidFill>
              <a:srgbClr val="C6BDDA"/>
            </a:solidFill>
            <a:prstDash val="solid"/>
          </a:ln>
        </p:spPr>
      </p:sp>
      <p:sp>
        <p:nvSpPr>
          <p:cNvPr id="4" name="Shape 2"/>
          <p:cNvSpPr/>
          <p:nvPr/>
        </p:nvSpPr>
        <p:spPr>
          <a:xfrm>
            <a:off x="801410" y="2766774"/>
            <a:ext cx="6513790" cy="1783199"/>
          </a:xfrm>
          <a:prstGeom prst="roundRect">
            <a:avLst>
              <a:gd name="adj" fmla="val 5343"/>
            </a:avLst>
          </a:prstGeom>
          <a:solidFill>
            <a:srgbClr val="6237C8"/>
          </a:solidFill>
          <a:ln/>
        </p:spPr>
      </p:sp>
      <p:sp>
        <p:nvSpPr>
          <p:cNvPr id="5" name="Text 3"/>
          <p:cNvSpPr/>
          <p:nvPr/>
        </p:nvSpPr>
        <p:spPr>
          <a:xfrm>
            <a:off x="1028224" y="2993588"/>
            <a:ext cx="4740593" cy="467678"/>
          </a:xfrm>
          <a:prstGeom prst="rect">
            <a:avLst/>
          </a:prstGeom>
          <a:noFill/>
          <a:ln/>
        </p:spPr>
        <p:txBody>
          <a:bodyPr wrap="none" lIns="0" tIns="0" rIns="0" bIns="0" rtlCol="0" anchor="t"/>
          <a:lstStyle/>
          <a:p>
            <a:pPr algn="l" indent="0" marL="0">
              <a:lnSpc>
                <a:spcPts val="3650"/>
              </a:lnSpc>
              <a:buNone/>
            </a:pPr>
            <a:r>
              <a:rPr lang="en-US" sz="2900" b="1" dirty="0">
                <a:solidFill>
                  <a:srgbClr val="FFFFFF"/>
                </a:solidFill>
                <a:latin typeface="Petrona Bold" pitchFamily="34" charset="0"/>
                <a:ea typeface="Petrona Bold" pitchFamily="34" charset="-122"/>
                <a:cs typeface="Petrona Bold" pitchFamily="34" charset="-120"/>
              </a:rPr>
              <a:t>Risk Decreases with Epochs</a:t>
            </a:r>
            <a:endParaRPr lang="en-US" sz="2900" dirty="0"/>
          </a:p>
        </p:txBody>
      </p:sp>
      <p:sp>
        <p:nvSpPr>
          <p:cNvPr id="6" name="Text 4"/>
          <p:cNvSpPr/>
          <p:nvPr/>
        </p:nvSpPr>
        <p:spPr>
          <a:xfrm>
            <a:off x="1028224" y="3597354"/>
            <a:ext cx="6060162" cy="725805"/>
          </a:xfrm>
          <a:prstGeom prst="rect">
            <a:avLst/>
          </a:prstGeom>
          <a:noFill/>
          <a:ln/>
        </p:spPr>
        <p:txBody>
          <a:bodyPr wrap="square" lIns="0" tIns="0" rIns="0" bIns="0" rtlCol="0" anchor="t"/>
          <a:lstStyle/>
          <a:p>
            <a:pPr algn="l" indent="0" marL="0">
              <a:lnSpc>
                <a:spcPts val="2850"/>
              </a:lnSpc>
              <a:buNone/>
            </a:pPr>
            <a:r>
              <a:rPr lang="en-US" sz="1750" b="1" dirty="0">
                <a:solidFill>
                  <a:srgbClr val="FFFFFF"/>
                </a:solidFill>
                <a:latin typeface="Inter" pitchFamily="34" charset="0"/>
                <a:ea typeface="Inter" pitchFamily="34" charset="-122"/>
                <a:cs typeface="Inter" pitchFamily="34" charset="-120"/>
              </a:rPr>
              <a:t>Paper:</a:t>
            </a:r>
            <a:pPr algn="l" indent="0" marL="0">
              <a:lnSpc>
                <a:spcPts val="2850"/>
              </a:lnSpc>
              <a:buNone/>
            </a:pPr>
            <a:r>
              <a:rPr lang="en-US" sz="1750" dirty="0">
                <a:solidFill>
                  <a:srgbClr val="FFFFFF"/>
                </a:solidFill>
                <a:latin typeface="Inter" pitchFamily="34" charset="0"/>
                <a:ea typeface="Inter" pitchFamily="34" charset="-122"/>
                <a:cs typeface="Inter" pitchFamily="34" charset="-120"/>
              </a:rPr>
              <a:t> Entropic </a:t>
            </a:r>
            <a:pPr algn="l" indent="0" marL="0">
              <a:lnSpc>
                <a:spcPts val="2850"/>
              </a:lnSpc>
              <a:buNone/>
            </a:pPr>
            <a:r>
              <a:rPr lang="en-US" sz="1750" i="1" dirty="0">
                <a:solidFill>
                  <a:srgbClr val="FFFFFF"/>
                </a:solidFill>
                <a:latin typeface="Inter" pitchFamily="34" charset="0"/>
                <a:ea typeface="Inter" pitchFamily="34" charset="-122"/>
                <a:cs typeface="Inter" pitchFamily="34" charset="-120"/>
              </a:rPr>
              <a:t>\rho</a:t>
            </a:r>
            <a:pPr algn="l" indent="0" marL="0">
              <a:lnSpc>
                <a:spcPts val="2850"/>
              </a:lnSpc>
              <a:buNone/>
            </a:pPr>
            <a:r>
              <a:rPr lang="en-US" sz="1750" dirty="0">
                <a:solidFill>
                  <a:srgbClr val="FFFFFF"/>
                </a:solidFill>
                <a:latin typeface="Inter" pitchFamily="34" charset="0"/>
                <a:ea typeface="Inter" pitchFamily="34" charset="-122"/>
                <a:cs typeface="Inter" pitchFamily="34" charset="-120"/>
              </a:rPr>
              <a:t> showed convergence.</a:t>
            </a:r>
            <a:pPr algn="l" indent="0" marL="0">
              <a:lnSpc>
                <a:spcPts val="2850"/>
              </a:lnSpc>
              <a:buNone/>
            </a:pPr>
            <a:r>
              <a:rPr lang="en-US" sz="1750" b="1" dirty="0">
                <a:solidFill>
                  <a:srgbClr val="FFFFFF"/>
                </a:solidFill>
                <a:latin typeface="Inter" pitchFamily="34" charset="0"/>
                <a:ea typeface="Inter" pitchFamily="34" charset="-122"/>
                <a:cs typeface="Inter" pitchFamily="34" charset="-120"/>
              </a:rPr>
              <a:t>Demo:</a:t>
            </a:r>
            <a:pPr algn="l" indent="0" marL="0">
              <a:lnSpc>
                <a:spcPts val="2850"/>
              </a:lnSpc>
              <a:buNone/>
            </a:pPr>
            <a:r>
              <a:rPr lang="en-US" sz="1750" dirty="0">
                <a:solidFill>
                  <a:srgbClr val="FFFFFF"/>
                </a:solidFill>
                <a:latin typeface="Inter" pitchFamily="34" charset="0"/>
                <a:ea typeface="Inter" pitchFamily="34" charset="-122"/>
                <a:cs typeface="Inter" pitchFamily="34" charset="-120"/>
              </a:rPr>
              <a:t> Replicated curve (122 </a:t>
            </a:r>
            <a:pPr algn="l" indent="0" marL="0">
              <a:lnSpc>
                <a:spcPts val="2850"/>
              </a:lnSpc>
              <a:buNone/>
            </a:pPr>
            <a:r>
              <a:rPr lang="en-US" sz="1750" i="1" dirty="0">
                <a:solidFill>
                  <a:srgbClr val="FFFFFF"/>
                </a:solidFill>
                <a:latin typeface="Inter" pitchFamily="34" charset="0"/>
                <a:ea typeface="Inter" pitchFamily="34" charset="-122"/>
                <a:cs typeface="Inter" pitchFamily="34" charset="-120"/>
              </a:rPr>
              <a:t>\rightarrow</a:t>
            </a:r>
            <a:pPr algn="l" indent="0" marL="0">
              <a:lnSpc>
                <a:spcPts val="2850"/>
              </a:lnSpc>
              <a:buNone/>
            </a:pPr>
            <a:r>
              <a:rPr lang="en-US" sz="1750" dirty="0">
                <a:solidFill>
                  <a:srgbClr val="FFFFFF"/>
                </a:solidFill>
                <a:latin typeface="Inter" pitchFamily="34" charset="0"/>
                <a:ea typeface="Inter" pitchFamily="34" charset="-122"/>
                <a:cs typeface="Inter" pitchFamily="34" charset="-120"/>
              </a:rPr>
              <a:t> 8).</a:t>
            </a:r>
            <a:endParaRPr lang="en-US" sz="1750" dirty="0"/>
          </a:p>
        </p:txBody>
      </p:sp>
      <p:sp>
        <p:nvSpPr>
          <p:cNvPr id="7" name="Shape 5"/>
          <p:cNvSpPr/>
          <p:nvPr/>
        </p:nvSpPr>
        <p:spPr>
          <a:xfrm>
            <a:off x="7315200" y="2766774"/>
            <a:ext cx="6513790" cy="1783199"/>
          </a:xfrm>
          <a:prstGeom prst="rect">
            <a:avLst/>
          </a:prstGeom>
          <a:solidFill>
            <a:srgbClr val="6237C8"/>
          </a:solidFill>
          <a:ln/>
        </p:spPr>
      </p:sp>
      <p:sp>
        <p:nvSpPr>
          <p:cNvPr id="8" name="Shape 6"/>
          <p:cNvSpPr/>
          <p:nvPr/>
        </p:nvSpPr>
        <p:spPr>
          <a:xfrm>
            <a:off x="7315200" y="2766774"/>
            <a:ext cx="30480" cy="1783199"/>
          </a:xfrm>
          <a:prstGeom prst="roundRect">
            <a:avLst>
              <a:gd name="adj" fmla="val 312558"/>
            </a:avLst>
          </a:prstGeom>
          <a:solidFill>
            <a:srgbClr val="7B50E1"/>
          </a:solidFill>
          <a:ln/>
        </p:spPr>
      </p:sp>
      <p:sp>
        <p:nvSpPr>
          <p:cNvPr id="9" name="Text 7"/>
          <p:cNvSpPr/>
          <p:nvPr/>
        </p:nvSpPr>
        <p:spPr>
          <a:xfrm>
            <a:off x="7542014" y="2993588"/>
            <a:ext cx="4638080" cy="467678"/>
          </a:xfrm>
          <a:prstGeom prst="rect">
            <a:avLst/>
          </a:prstGeom>
          <a:noFill/>
          <a:ln/>
        </p:spPr>
        <p:txBody>
          <a:bodyPr wrap="none" lIns="0" tIns="0" rIns="0" bIns="0" rtlCol="0" anchor="t"/>
          <a:lstStyle/>
          <a:p>
            <a:pPr algn="l" indent="0" marL="0">
              <a:lnSpc>
                <a:spcPts val="3650"/>
              </a:lnSpc>
              <a:buNone/>
            </a:pPr>
            <a:r>
              <a:rPr lang="en-US" sz="2900" b="1" dirty="0">
                <a:solidFill>
                  <a:srgbClr val="FFFFFF"/>
                </a:solidFill>
                <a:latin typeface="Petrona Bold" pitchFamily="34" charset="0"/>
                <a:ea typeface="Petrona Bold" pitchFamily="34" charset="-122"/>
                <a:cs typeface="Petrona Bold" pitchFamily="34" charset="-120"/>
              </a:rPr>
              <a:t>Tail Loss Reduction (CVaR)</a:t>
            </a:r>
            <a:endParaRPr lang="en-US" sz="2900" dirty="0"/>
          </a:p>
        </p:txBody>
      </p:sp>
      <p:sp>
        <p:nvSpPr>
          <p:cNvPr id="10" name="Text 8"/>
          <p:cNvSpPr/>
          <p:nvPr/>
        </p:nvSpPr>
        <p:spPr>
          <a:xfrm>
            <a:off x="7542014" y="3597354"/>
            <a:ext cx="6060162" cy="725805"/>
          </a:xfrm>
          <a:prstGeom prst="rect">
            <a:avLst/>
          </a:prstGeom>
          <a:noFill/>
          <a:ln/>
        </p:spPr>
        <p:txBody>
          <a:bodyPr wrap="square" lIns="0" tIns="0" rIns="0" bIns="0" rtlCol="0" anchor="t"/>
          <a:lstStyle/>
          <a:p>
            <a:pPr algn="l" indent="0" marL="0">
              <a:lnSpc>
                <a:spcPts val="2850"/>
              </a:lnSpc>
              <a:buNone/>
            </a:pPr>
            <a:r>
              <a:rPr lang="en-US" sz="1750" b="1" dirty="0">
                <a:solidFill>
                  <a:srgbClr val="FFFFFF"/>
                </a:solidFill>
                <a:latin typeface="Inter" pitchFamily="34" charset="0"/>
                <a:ea typeface="Inter" pitchFamily="34" charset="-122"/>
                <a:cs typeface="Inter" pitchFamily="34" charset="-120"/>
              </a:rPr>
              <a:t>Paper:</a:t>
            </a:r>
            <a:pPr algn="l" indent="0" marL="0">
              <a:lnSpc>
                <a:spcPts val="2850"/>
              </a:lnSpc>
              <a:buNone/>
            </a:pPr>
            <a:r>
              <a:rPr lang="en-US" sz="1750" dirty="0">
                <a:solidFill>
                  <a:srgbClr val="FFFFFF"/>
                </a:solidFill>
                <a:latin typeface="Inter" pitchFamily="34" charset="0"/>
                <a:ea typeface="Inter" pitchFamily="34" charset="-122"/>
                <a:cs typeface="Inter" pitchFamily="34" charset="-120"/>
              </a:rPr>
              <a:t> NN CVaR &lt; BS </a:t>
            </a:r>
            <a:pPr algn="l" indent="0" marL="0">
              <a:lnSpc>
                <a:spcPts val="2850"/>
              </a:lnSpc>
              <a:buNone/>
            </a:pPr>
            <a:r>
              <a:rPr lang="en-US" sz="1750" i="1" dirty="0">
                <a:solidFill>
                  <a:srgbClr val="FFFFFF"/>
                </a:solidFill>
                <a:latin typeface="Inter" pitchFamily="34" charset="0"/>
                <a:ea typeface="Inter" pitchFamily="34" charset="-122"/>
                <a:cs typeface="Inter" pitchFamily="34" charset="-120"/>
              </a:rPr>
              <a:t>\Delta</a:t>
            </a:r>
            <a:pPr algn="l" indent="0" marL="0">
              <a:lnSpc>
                <a:spcPts val="2850"/>
              </a:lnSpc>
              <a:buNone/>
            </a:pPr>
            <a:r>
              <a:rPr lang="en-US" sz="1750" dirty="0">
                <a:solidFill>
                  <a:srgbClr val="FFFFFF"/>
                </a:solidFill>
                <a:latin typeface="Inter" pitchFamily="34" charset="0"/>
                <a:ea typeface="Inter" pitchFamily="34" charset="-122"/>
                <a:cs typeface="Inter" pitchFamily="34" charset="-120"/>
              </a:rPr>
              <a:t> CVaR.</a:t>
            </a:r>
            <a:pPr algn="l" indent="0" marL="0">
              <a:lnSpc>
                <a:spcPts val="2850"/>
              </a:lnSpc>
              <a:buNone/>
            </a:pPr>
            <a:r>
              <a:rPr lang="en-US" sz="1750" b="1" dirty="0">
                <a:solidFill>
                  <a:srgbClr val="FFFFFF"/>
                </a:solidFill>
                <a:latin typeface="Inter" pitchFamily="34" charset="0"/>
                <a:ea typeface="Inter" pitchFamily="34" charset="-122"/>
                <a:cs typeface="Inter" pitchFamily="34" charset="-120"/>
              </a:rPr>
              <a:t>Demo:</a:t>
            </a:r>
            <a:pPr algn="l" indent="0" marL="0">
              <a:lnSpc>
                <a:spcPts val="2850"/>
              </a:lnSpc>
              <a:buNone/>
            </a:pPr>
            <a:r>
              <a:rPr lang="en-US" sz="1750" dirty="0">
                <a:solidFill>
                  <a:srgbClr val="FFFFFF"/>
                </a:solidFill>
                <a:latin typeface="Inter" pitchFamily="34" charset="0"/>
                <a:ea typeface="Inter" pitchFamily="34" charset="-122"/>
                <a:cs typeface="Inter" pitchFamily="34" charset="-120"/>
              </a:rPr>
              <a:t> 8.68 &lt; 12.99 (Significant difference).</a:t>
            </a:r>
            <a:endParaRPr lang="en-US" sz="1750" dirty="0"/>
          </a:p>
        </p:txBody>
      </p:sp>
      <p:sp>
        <p:nvSpPr>
          <p:cNvPr id="11" name="Shape 9"/>
          <p:cNvSpPr/>
          <p:nvPr/>
        </p:nvSpPr>
        <p:spPr>
          <a:xfrm>
            <a:off x="801410" y="4549973"/>
            <a:ext cx="6513790" cy="2146102"/>
          </a:xfrm>
          <a:prstGeom prst="rect">
            <a:avLst/>
          </a:prstGeom>
          <a:solidFill>
            <a:srgbClr val="6237C8"/>
          </a:solidFill>
          <a:ln/>
        </p:spPr>
      </p:sp>
      <p:sp>
        <p:nvSpPr>
          <p:cNvPr id="12" name="Shape 10"/>
          <p:cNvSpPr/>
          <p:nvPr/>
        </p:nvSpPr>
        <p:spPr>
          <a:xfrm>
            <a:off x="801410" y="4549973"/>
            <a:ext cx="6513790" cy="30480"/>
          </a:xfrm>
          <a:prstGeom prst="roundRect">
            <a:avLst>
              <a:gd name="adj" fmla="val 312558"/>
            </a:avLst>
          </a:prstGeom>
          <a:solidFill>
            <a:srgbClr val="7B50E1"/>
          </a:solidFill>
          <a:ln/>
        </p:spPr>
      </p:sp>
      <p:sp>
        <p:nvSpPr>
          <p:cNvPr id="13" name="Text 11"/>
          <p:cNvSpPr/>
          <p:nvPr/>
        </p:nvSpPr>
        <p:spPr>
          <a:xfrm>
            <a:off x="1028224" y="4776788"/>
            <a:ext cx="4366379" cy="467678"/>
          </a:xfrm>
          <a:prstGeom prst="rect">
            <a:avLst/>
          </a:prstGeom>
          <a:noFill/>
          <a:ln/>
        </p:spPr>
        <p:txBody>
          <a:bodyPr wrap="none" lIns="0" tIns="0" rIns="0" bIns="0" rtlCol="0" anchor="t"/>
          <a:lstStyle/>
          <a:p>
            <a:pPr algn="l" indent="0" marL="0">
              <a:lnSpc>
                <a:spcPts val="3650"/>
              </a:lnSpc>
              <a:buNone/>
            </a:pPr>
            <a:r>
              <a:rPr lang="en-US" sz="2900" b="1" dirty="0">
                <a:solidFill>
                  <a:srgbClr val="FFFFFF"/>
                </a:solidFill>
                <a:latin typeface="Petrona Bold" pitchFamily="34" charset="0"/>
                <a:ea typeface="Petrona Bold" pitchFamily="34" charset="-122"/>
                <a:cs typeface="Petrona Bold" pitchFamily="34" charset="-120"/>
              </a:rPr>
              <a:t>Lower Trading Frequency</a:t>
            </a:r>
            <a:endParaRPr lang="en-US" sz="2900" dirty="0"/>
          </a:p>
        </p:txBody>
      </p:sp>
      <p:sp>
        <p:nvSpPr>
          <p:cNvPr id="14" name="Text 12"/>
          <p:cNvSpPr/>
          <p:nvPr/>
        </p:nvSpPr>
        <p:spPr>
          <a:xfrm>
            <a:off x="1028224" y="5380553"/>
            <a:ext cx="6060162" cy="725805"/>
          </a:xfrm>
          <a:prstGeom prst="rect">
            <a:avLst/>
          </a:prstGeom>
          <a:noFill/>
          <a:ln/>
        </p:spPr>
        <p:txBody>
          <a:bodyPr wrap="square" lIns="0" tIns="0" rIns="0" bIns="0" rtlCol="0" anchor="t"/>
          <a:lstStyle/>
          <a:p>
            <a:pPr algn="l" indent="0" marL="0">
              <a:lnSpc>
                <a:spcPts val="2850"/>
              </a:lnSpc>
              <a:buNone/>
            </a:pPr>
            <a:r>
              <a:rPr lang="en-US" sz="1750" b="1" dirty="0">
                <a:solidFill>
                  <a:srgbClr val="FFFFFF"/>
                </a:solidFill>
                <a:latin typeface="Inter" pitchFamily="34" charset="0"/>
                <a:ea typeface="Inter" pitchFamily="34" charset="-122"/>
                <a:cs typeface="Inter" pitchFamily="34" charset="-120"/>
              </a:rPr>
              <a:t>Paper:</a:t>
            </a:r>
            <a:pPr algn="l" indent="0" marL="0">
              <a:lnSpc>
                <a:spcPts val="2850"/>
              </a:lnSpc>
              <a:buNone/>
            </a:pPr>
            <a:r>
              <a:rPr lang="en-US" sz="1750" dirty="0">
                <a:solidFill>
                  <a:srgbClr val="FFFFFF"/>
                </a:solidFill>
                <a:latin typeface="Inter" pitchFamily="34" charset="0"/>
                <a:ea typeface="Inter" pitchFamily="34" charset="-122"/>
                <a:cs typeface="Inter" pitchFamily="34" charset="-120"/>
              </a:rPr>
              <a:t> Network self-regularizes.</a:t>
            </a:r>
            <a:pPr algn="l" indent="0" marL="0">
              <a:lnSpc>
                <a:spcPts val="2850"/>
              </a:lnSpc>
              <a:buNone/>
            </a:pPr>
            <a:r>
              <a:rPr lang="en-US" sz="1750" b="1" dirty="0">
                <a:solidFill>
                  <a:srgbClr val="FFFFFF"/>
                </a:solidFill>
                <a:latin typeface="Inter" pitchFamily="34" charset="0"/>
                <a:ea typeface="Inter" pitchFamily="34" charset="-122"/>
                <a:cs typeface="Inter" pitchFamily="34" charset="-120"/>
              </a:rPr>
              <a:t>Demo:</a:t>
            </a:r>
            <a:pPr algn="l" indent="0" marL="0">
              <a:lnSpc>
                <a:spcPts val="2850"/>
              </a:lnSpc>
              <a:buNone/>
            </a:pPr>
            <a:r>
              <a:rPr lang="en-US" sz="1750" dirty="0">
                <a:solidFill>
                  <a:srgbClr val="FFFFFF"/>
                </a:solidFill>
                <a:latin typeface="Inter" pitchFamily="34" charset="0"/>
                <a:ea typeface="Inter" pitchFamily="34" charset="-122"/>
                <a:cs typeface="Inter" pitchFamily="34" charset="-120"/>
              </a:rPr>
              <a:t> Smoothed and less frequent </a:t>
            </a:r>
            <a:pPr algn="l" indent="0" marL="0">
              <a:lnSpc>
                <a:spcPts val="2850"/>
              </a:lnSpc>
              <a:buNone/>
            </a:pPr>
            <a:r>
              <a:rPr lang="en-US" sz="1750" i="1" dirty="0">
                <a:solidFill>
                  <a:srgbClr val="FFFFFF"/>
                </a:solidFill>
                <a:latin typeface="Inter" pitchFamily="34" charset="0"/>
                <a:ea typeface="Inter" pitchFamily="34" charset="-122"/>
                <a:cs typeface="Inter" pitchFamily="34" charset="-120"/>
              </a:rPr>
              <a:t>\delta_t</a:t>
            </a:r>
            <a:pPr algn="l" indent="0" marL="0">
              <a:lnSpc>
                <a:spcPts val="2850"/>
              </a:lnSpc>
              <a:buNone/>
            </a:pPr>
            <a:r>
              <a:rPr lang="en-US" sz="1750" dirty="0">
                <a:solidFill>
                  <a:srgbClr val="FFFFFF"/>
                </a:solidFill>
                <a:latin typeface="Inter" pitchFamily="34" charset="0"/>
                <a:ea typeface="Inter" pitchFamily="34" charset="-122"/>
                <a:cs typeface="Inter" pitchFamily="34" charset="-120"/>
              </a:rPr>
              <a:t> adjustments.</a:t>
            </a:r>
            <a:endParaRPr lang="en-US" sz="1750" dirty="0"/>
          </a:p>
        </p:txBody>
      </p:sp>
      <p:sp>
        <p:nvSpPr>
          <p:cNvPr id="15" name="Shape 13"/>
          <p:cNvSpPr/>
          <p:nvPr/>
        </p:nvSpPr>
        <p:spPr>
          <a:xfrm>
            <a:off x="7315200" y="4549973"/>
            <a:ext cx="6513790" cy="2146102"/>
          </a:xfrm>
          <a:prstGeom prst="rect">
            <a:avLst/>
          </a:prstGeom>
          <a:solidFill>
            <a:srgbClr val="6237C8"/>
          </a:solidFill>
          <a:ln/>
        </p:spPr>
      </p:sp>
      <p:sp>
        <p:nvSpPr>
          <p:cNvPr id="16" name="Shape 14"/>
          <p:cNvSpPr/>
          <p:nvPr/>
        </p:nvSpPr>
        <p:spPr>
          <a:xfrm>
            <a:off x="7315200" y="4549973"/>
            <a:ext cx="30480" cy="2146102"/>
          </a:xfrm>
          <a:prstGeom prst="roundRect">
            <a:avLst>
              <a:gd name="adj" fmla="val 312558"/>
            </a:avLst>
          </a:prstGeom>
          <a:solidFill>
            <a:srgbClr val="7B50E1"/>
          </a:solidFill>
          <a:ln/>
        </p:spPr>
      </p:sp>
      <p:sp>
        <p:nvSpPr>
          <p:cNvPr id="17" name="Shape 15"/>
          <p:cNvSpPr/>
          <p:nvPr/>
        </p:nvSpPr>
        <p:spPr>
          <a:xfrm>
            <a:off x="7315200" y="4549973"/>
            <a:ext cx="6513790" cy="30480"/>
          </a:xfrm>
          <a:prstGeom prst="roundRect">
            <a:avLst>
              <a:gd name="adj" fmla="val 312558"/>
            </a:avLst>
          </a:prstGeom>
          <a:solidFill>
            <a:srgbClr val="7B50E1"/>
          </a:solidFill>
          <a:ln/>
        </p:spPr>
      </p:sp>
      <p:sp>
        <p:nvSpPr>
          <p:cNvPr id="18" name="Text 16"/>
          <p:cNvSpPr/>
          <p:nvPr/>
        </p:nvSpPr>
        <p:spPr>
          <a:xfrm>
            <a:off x="7542014" y="4776788"/>
            <a:ext cx="3742611" cy="467678"/>
          </a:xfrm>
          <a:prstGeom prst="rect">
            <a:avLst/>
          </a:prstGeom>
          <a:noFill/>
          <a:ln/>
        </p:spPr>
        <p:txBody>
          <a:bodyPr wrap="none" lIns="0" tIns="0" rIns="0" bIns="0" rtlCol="0" anchor="t"/>
          <a:lstStyle/>
          <a:p>
            <a:pPr algn="l" indent="0" marL="0">
              <a:lnSpc>
                <a:spcPts val="3650"/>
              </a:lnSpc>
              <a:buNone/>
            </a:pPr>
            <a:r>
              <a:rPr lang="en-US" sz="2900" b="1" dirty="0">
                <a:solidFill>
                  <a:srgbClr val="FFFFFF"/>
                </a:solidFill>
                <a:latin typeface="Petrona Bold" pitchFamily="34" charset="0"/>
                <a:ea typeface="Petrona Bold" pitchFamily="34" charset="-122"/>
                <a:cs typeface="Petrona Bold" pitchFamily="34" charset="-120"/>
              </a:rPr>
              <a:t>Portfolio Extension</a:t>
            </a:r>
            <a:endParaRPr lang="en-US" sz="2900" dirty="0"/>
          </a:p>
        </p:txBody>
      </p:sp>
      <p:sp>
        <p:nvSpPr>
          <p:cNvPr id="19" name="Text 17"/>
          <p:cNvSpPr/>
          <p:nvPr/>
        </p:nvSpPr>
        <p:spPr>
          <a:xfrm>
            <a:off x="7542014" y="5380553"/>
            <a:ext cx="6060162" cy="1088708"/>
          </a:xfrm>
          <a:prstGeom prst="rect">
            <a:avLst/>
          </a:prstGeom>
          <a:noFill/>
          <a:ln/>
        </p:spPr>
        <p:txBody>
          <a:bodyPr wrap="square" lIns="0" tIns="0" rIns="0" bIns="0" rtlCol="0" anchor="t"/>
          <a:lstStyle/>
          <a:p>
            <a:pPr algn="l" indent="0" marL="0">
              <a:lnSpc>
                <a:spcPts val="2850"/>
              </a:lnSpc>
              <a:buNone/>
            </a:pPr>
            <a:r>
              <a:rPr lang="en-US" sz="1750" b="1" dirty="0">
                <a:solidFill>
                  <a:srgbClr val="FFFFFF"/>
                </a:solidFill>
                <a:latin typeface="Inter" pitchFamily="34" charset="0"/>
                <a:ea typeface="Inter" pitchFamily="34" charset="-122"/>
                <a:cs typeface="Inter" pitchFamily="34" charset="-120"/>
              </a:rPr>
              <a:t>Paper:</a:t>
            </a:r>
            <a:pPr algn="l" indent="0" marL="0">
              <a:lnSpc>
                <a:spcPts val="2850"/>
              </a:lnSpc>
              <a:buNone/>
            </a:pPr>
            <a:r>
              <a:rPr lang="en-US" sz="1750" dirty="0">
                <a:solidFill>
                  <a:srgbClr val="FFFFFF"/>
                </a:solidFill>
                <a:latin typeface="Inter" pitchFamily="34" charset="0"/>
                <a:ea typeface="Inter" pitchFamily="34" charset="-122"/>
                <a:cs typeface="Inter" pitchFamily="34" charset="-120"/>
              </a:rPr>
              <a:t> Multi-asset scalability.</a:t>
            </a:r>
            <a:pPr algn="l" indent="0" marL="0">
              <a:lnSpc>
                <a:spcPts val="2850"/>
              </a:lnSpc>
              <a:buNone/>
            </a:pPr>
            <a:r>
              <a:rPr lang="en-US" sz="1750" b="1" dirty="0">
                <a:solidFill>
                  <a:srgbClr val="FFFFFF"/>
                </a:solidFill>
                <a:latin typeface="Inter" pitchFamily="34" charset="0"/>
                <a:ea typeface="Inter" pitchFamily="34" charset="-122"/>
                <a:cs typeface="Inter" pitchFamily="34" charset="-120"/>
              </a:rPr>
              <a:t>Demo:</a:t>
            </a:r>
            <a:pPr algn="l" indent="0" marL="0">
              <a:lnSpc>
                <a:spcPts val="2850"/>
              </a:lnSpc>
              <a:buNone/>
            </a:pPr>
            <a:r>
              <a:rPr lang="en-US" sz="1750" dirty="0">
                <a:solidFill>
                  <a:srgbClr val="FFFFFF"/>
                </a:solidFill>
                <a:latin typeface="Inter" pitchFamily="34" charset="0"/>
                <a:ea typeface="Inter" pitchFamily="34" charset="-122"/>
                <a:cs typeface="Inter" pitchFamily="34" charset="-120"/>
              </a:rPr>
              <a:t> Successfully hedged Stock + Call option portfolio.</a:t>
            </a:r>
            <a:endParaRPr lang="en-US" sz="17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4630400" cy="1130975"/>
          </a:xfrm>
          <a:prstGeom prst="rect">
            <a:avLst/>
          </a:prstGeom>
          <a:solidFill>
            <a:srgbClr val="DFDFE0"/>
          </a:solidFill>
          <a:ln/>
        </p:spPr>
      </p:sp>
      <p:pic>
        <p:nvPicPr>
          <p:cNvPr id="3" name="Image 0" descr="preencoded.png">    </p:cNvPr>
          <p:cNvPicPr>
            <a:picLocks noChangeAspect="1"/>
          </p:cNvPicPr>
          <p:nvPr/>
        </p:nvPicPr>
        <p:blipFill>
          <a:blip r:embed="R48ff8f5fd0814765"/>
          <a:stretch>
            <a:fillRect/>
          </a:stretch>
        </p:blipFill>
        <p:spPr>
          <a:xfrm>
            <a:off x="0" y="0"/>
            <a:ext cx="14630400" cy="1130975"/>
          </a:xfrm>
          <a:prstGeom prst="rect">
            <a:avLst/>
          </a:prstGeom>
        </p:spPr>
      </p:pic>
      <p:sp>
        <p:nvSpPr>
          <p:cNvPr id="4" name="Text 1"/>
          <p:cNvSpPr/>
          <p:nvPr/>
        </p:nvSpPr>
        <p:spPr>
          <a:xfrm>
            <a:off x="791647" y="1753553"/>
            <a:ext cx="8779550" cy="622102"/>
          </a:xfrm>
          <a:prstGeom prst="rect">
            <a:avLst/>
          </a:prstGeom>
          <a:noFill/>
          <a:ln/>
        </p:spPr>
        <p:txBody>
          <a:bodyPr wrap="none" lIns="0" tIns="0" rIns="0" bIns="0" rtlCol="0" anchor="t"/>
          <a:lstStyle/>
          <a:p>
            <a:pPr algn="l" indent="0" marL="0">
              <a:lnSpc>
                <a:spcPts val="4850"/>
              </a:lnSpc>
              <a:buNone/>
            </a:pPr>
            <a:r>
              <a:rPr lang="en-US" sz="3900" b="1" dirty="0">
                <a:solidFill>
                  <a:srgbClr val="F95F88"/>
                </a:solidFill>
                <a:latin typeface="Petrona Bold" pitchFamily="34" charset="0"/>
                <a:ea typeface="Petrona Bold" pitchFamily="34" charset="-122"/>
                <a:cs typeface="Petrona Bold" pitchFamily="34" charset="-120"/>
              </a:rPr>
              <a:t>Integration into Our AI Quant Pipeline</a:t>
            </a:r>
            <a:endParaRPr lang="en-US" sz="3900" dirty="0"/>
          </a:p>
        </p:txBody>
      </p:sp>
      <p:sp>
        <p:nvSpPr>
          <p:cNvPr id="5" name="Text 2"/>
          <p:cNvSpPr/>
          <p:nvPr/>
        </p:nvSpPr>
        <p:spPr>
          <a:xfrm>
            <a:off x="791647" y="2646998"/>
            <a:ext cx="13047107" cy="289560"/>
          </a:xfrm>
          <a:prstGeom prst="rect">
            <a:avLst/>
          </a:prstGeom>
          <a:noFill/>
          <a:ln/>
        </p:spPr>
        <p:txBody>
          <a:bodyPr wrap="none" lIns="0" tIns="0" rIns="0" bIns="0" rtlCol="0" anchor="t"/>
          <a:lstStyle/>
          <a:p>
            <a:pPr algn="l" indent="0" marL="0">
              <a:lnSpc>
                <a:spcPts val="2250"/>
              </a:lnSpc>
              <a:buNone/>
            </a:pPr>
            <a:r>
              <a:rPr lang="en-US" sz="1400" dirty="0">
                <a:solidFill>
                  <a:srgbClr val="272525"/>
                </a:solidFill>
                <a:latin typeface="Inter" pitchFamily="34" charset="0"/>
                <a:ea typeface="Inter" pitchFamily="34" charset="-122"/>
                <a:cs typeface="Inter" pitchFamily="34" charset="-120"/>
              </a:rPr>
              <a:t>Applying the Deep Hedging model as the core "risk minimization brain" in our system.</a:t>
            </a:r>
            <a:endParaRPr lang="en-US" sz="1400" dirty="0"/>
          </a:p>
        </p:txBody>
      </p:sp>
      <p:sp>
        <p:nvSpPr>
          <p:cNvPr id="6" name="Shape 3"/>
          <p:cNvSpPr/>
          <p:nvPr/>
        </p:nvSpPr>
        <p:spPr>
          <a:xfrm>
            <a:off x="7303770" y="3140035"/>
            <a:ext cx="22860" cy="4466987"/>
          </a:xfrm>
          <a:prstGeom prst="roundRect">
            <a:avLst>
              <a:gd name="adj" fmla="val 332472"/>
            </a:avLst>
          </a:prstGeom>
          <a:solidFill>
            <a:srgbClr val="C6BDDA"/>
          </a:solidFill>
          <a:ln/>
        </p:spPr>
      </p:sp>
      <p:sp>
        <p:nvSpPr>
          <p:cNvPr id="7" name="Shape 4"/>
          <p:cNvSpPr/>
          <p:nvPr/>
        </p:nvSpPr>
        <p:spPr>
          <a:xfrm>
            <a:off x="6591717" y="3332083"/>
            <a:ext cx="542806" cy="22860"/>
          </a:xfrm>
          <a:prstGeom prst="roundRect">
            <a:avLst>
              <a:gd name="adj" fmla="val 332472"/>
            </a:avLst>
          </a:prstGeom>
          <a:solidFill>
            <a:srgbClr val="C6BDDA"/>
          </a:solidFill>
          <a:ln/>
        </p:spPr>
      </p:sp>
      <p:sp>
        <p:nvSpPr>
          <p:cNvPr id="8" name="Shape 5"/>
          <p:cNvSpPr/>
          <p:nvPr/>
        </p:nvSpPr>
        <p:spPr>
          <a:xfrm>
            <a:off x="7111663" y="3140035"/>
            <a:ext cx="407075" cy="407075"/>
          </a:xfrm>
          <a:prstGeom prst="roundRect">
            <a:avLst>
              <a:gd name="adj" fmla="val 18671"/>
            </a:avLst>
          </a:prstGeom>
          <a:solidFill>
            <a:srgbClr val="E0D7F4"/>
          </a:solidFill>
          <a:ln w="7620">
            <a:solidFill>
              <a:srgbClr val="C6BDDA"/>
            </a:solidFill>
            <a:prstDash val="solid"/>
          </a:ln>
        </p:spPr>
      </p:sp>
      <p:sp>
        <p:nvSpPr>
          <p:cNvPr id="9" name="Text 6"/>
          <p:cNvSpPr/>
          <p:nvPr/>
        </p:nvSpPr>
        <p:spPr>
          <a:xfrm>
            <a:off x="7165896" y="3156942"/>
            <a:ext cx="298490" cy="373142"/>
          </a:xfrm>
          <a:prstGeom prst="rect">
            <a:avLst/>
          </a:prstGeom>
          <a:noFill/>
          <a:ln/>
        </p:spPr>
        <p:txBody>
          <a:bodyPr wrap="none" lIns="0" tIns="0" rIns="0" bIns="0" rtlCol="0" anchor="t"/>
          <a:lstStyle/>
          <a:p>
            <a:pPr algn="ctr" indent="0" marL="0">
              <a:lnSpc>
                <a:spcPts val="2350"/>
              </a:lnSpc>
              <a:buNone/>
            </a:pPr>
            <a:r>
              <a:rPr lang="en-US" sz="2350" b="1" dirty="0">
                <a:solidFill>
                  <a:srgbClr val="272525"/>
                </a:solidFill>
                <a:latin typeface="Petrona Bold" pitchFamily="34" charset="0"/>
                <a:ea typeface="Petrona Bold" pitchFamily="34" charset="-122"/>
                <a:cs typeface="Petrona Bold" pitchFamily="34" charset="-120"/>
              </a:rPr>
              <a:t>1</a:t>
            </a:r>
            <a:endParaRPr lang="en-US" sz="2350" dirty="0"/>
          </a:p>
        </p:txBody>
      </p:sp>
      <p:sp>
        <p:nvSpPr>
          <p:cNvPr id="10" name="Text 7"/>
          <p:cNvSpPr/>
          <p:nvPr/>
        </p:nvSpPr>
        <p:spPr>
          <a:xfrm>
            <a:off x="3922276" y="3202186"/>
            <a:ext cx="2488168" cy="310991"/>
          </a:xfrm>
          <a:prstGeom prst="rect">
            <a:avLst/>
          </a:prstGeom>
          <a:noFill/>
          <a:ln/>
        </p:spPr>
        <p:txBody>
          <a:bodyPr wrap="none" lIns="0" tIns="0" rIns="0" bIns="0" rtlCol="0" anchor="t"/>
          <a:lstStyle/>
          <a:p>
            <a:pPr algn="r" indent="0" marL="0">
              <a:lnSpc>
                <a:spcPts val="2400"/>
              </a:lnSpc>
              <a:buNone/>
            </a:pPr>
            <a:r>
              <a:rPr lang="en-US" sz="1950" b="1" dirty="0">
                <a:solidFill>
                  <a:srgbClr val="272525"/>
                </a:solidFill>
                <a:latin typeface="Petrona Bold" pitchFamily="34" charset="0"/>
                <a:ea typeface="Petrona Bold" pitchFamily="34" charset="-122"/>
                <a:cs typeface="Petrona Bold" pitchFamily="34" charset="-120"/>
              </a:rPr>
              <a:t>ETL / Data Layer</a:t>
            </a:r>
            <a:endParaRPr lang="en-US" sz="1950" dirty="0"/>
          </a:p>
        </p:txBody>
      </p:sp>
      <p:sp>
        <p:nvSpPr>
          <p:cNvPr id="11" name="Text 8"/>
          <p:cNvSpPr/>
          <p:nvPr/>
        </p:nvSpPr>
        <p:spPr>
          <a:xfrm>
            <a:off x="791647" y="3621643"/>
            <a:ext cx="5618798" cy="579120"/>
          </a:xfrm>
          <a:prstGeom prst="rect">
            <a:avLst/>
          </a:prstGeom>
          <a:noFill/>
          <a:ln/>
        </p:spPr>
        <p:txBody>
          <a:bodyPr wrap="square" lIns="0" tIns="0" rIns="0" bIns="0" rtlCol="0" anchor="t"/>
          <a:lstStyle/>
          <a:p>
            <a:pPr algn="r" indent="0" marL="0">
              <a:lnSpc>
                <a:spcPts val="2250"/>
              </a:lnSpc>
              <a:buNone/>
            </a:pPr>
            <a:r>
              <a:rPr lang="en-US" sz="1400" dirty="0">
                <a:solidFill>
                  <a:srgbClr val="272525"/>
                </a:solidFill>
                <a:latin typeface="Inter" pitchFamily="34" charset="0"/>
                <a:ea typeface="Inter" pitchFamily="34" charset="-122"/>
                <a:cs typeface="Inter" pitchFamily="34" charset="-120"/>
              </a:rPr>
              <a:t>Load daily options chain data (Yahoo / Polygon) into Snowflake (RAW </a:t>
            </a:r>
            <a:pPr algn="r" indent="0" marL="0">
              <a:lnSpc>
                <a:spcPts val="2250"/>
              </a:lnSpc>
              <a:buNone/>
            </a:pPr>
            <a:r>
              <a:rPr lang="en-US" sz="1400" i="1" dirty="0">
                <a:solidFill>
                  <a:srgbClr val="272525"/>
                </a:solidFill>
                <a:latin typeface="Inter" pitchFamily="34" charset="0"/>
                <a:ea typeface="Inter" pitchFamily="34" charset="-122"/>
                <a:cs typeface="Inter" pitchFamily="34" charset="-120"/>
              </a:rPr>
              <a:t>\rightarrow</a:t>
            </a:r>
            <a:pPr algn="r" indent="0" marL="0">
              <a:lnSpc>
                <a:spcPts val="2250"/>
              </a:lnSpc>
              <a:buNone/>
            </a:pPr>
            <a:r>
              <a:rPr lang="en-US" sz="1400" dirty="0">
                <a:solidFill>
                  <a:srgbClr val="272525"/>
                </a:solidFill>
                <a:latin typeface="Inter" pitchFamily="34" charset="0"/>
                <a:ea typeface="Inter" pitchFamily="34" charset="-122"/>
                <a:cs typeface="Inter" pitchFamily="34" charset="-120"/>
              </a:rPr>
              <a:t> CURATED).</a:t>
            </a:r>
            <a:endParaRPr lang="en-US" sz="1400" dirty="0"/>
          </a:p>
        </p:txBody>
      </p:sp>
      <p:sp>
        <p:nvSpPr>
          <p:cNvPr id="12" name="Shape 9"/>
          <p:cNvSpPr/>
          <p:nvPr/>
        </p:nvSpPr>
        <p:spPr>
          <a:xfrm>
            <a:off x="7495877" y="4417695"/>
            <a:ext cx="542806" cy="22860"/>
          </a:xfrm>
          <a:prstGeom prst="roundRect">
            <a:avLst>
              <a:gd name="adj" fmla="val 332472"/>
            </a:avLst>
          </a:prstGeom>
          <a:solidFill>
            <a:srgbClr val="C6BDDA"/>
          </a:solidFill>
          <a:ln/>
        </p:spPr>
      </p:sp>
      <p:sp>
        <p:nvSpPr>
          <p:cNvPr id="13" name="Shape 10"/>
          <p:cNvSpPr/>
          <p:nvPr/>
        </p:nvSpPr>
        <p:spPr>
          <a:xfrm>
            <a:off x="7111663" y="4225647"/>
            <a:ext cx="407075" cy="407075"/>
          </a:xfrm>
          <a:prstGeom prst="roundRect">
            <a:avLst>
              <a:gd name="adj" fmla="val 18671"/>
            </a:avLst>
          </a:prstGeom>
          <a:solidFill>
            <a:srgbClr val="E0D7F4"/>
          </a:solidFill>
          <a:ln w="7620">
            <a:solidFill>
              <a:srgbClr val="C6BDDA"/>
            </a:solidFill>
            <a:prstDash val="solid"/>
          </a:ln>
        </p:spPr>
      </p:sp>
      <p:sp>
        <p:nvSpPr>
          <p:cNvPr id="14" name="Text 11"/>
          <p:cNvSpPr/>
          <p:nvPr/>
        </p:nvSpPr>
        <p:spPr>
          <a:xfrm>
            <a:off x="7165896" y="4242554"/>
            <a:ext cx="298490" cy="373142"/>
          </a:xfrm>
          <a:prstGeom prst="rect">
            <a:avLst/>
          </a:prstGeom>
          <a:noFill/>
          <a:ln/>
        </p:spPr>
        <p:txBody>
          <a:bodyPr wrap="none" lIns="0" tIns="0" rIns="0" bIns="0" rtlCol="0" anchor="t"/>
          <a:lstStyle/>
          <a:p>
            <a:pPr algn="ctr" indent="0" marL="0">
              <a:lnSpc>
                <a:spcPts val="2350"/>
              </a:lnSpc>
              <a:buNone/>
            </a:pPr>
            <a:r>
              <a:rPr lang="en-US" sz="2350" b="1" dirty="0">
                <a:solidFill>
                  <a:srgbClr val="272525"/>
                </a:solidFill>
                <a:latin typeface="Petrona Bold" pitchFamily="34" charset="0"/>
                <a:ea typeface="Petrona Bold" pitchFamily="34" charset="-122"/>
                <a:cs typeface="Petrona Bold" pitchFamily="34" charset="-120"/>
              </a:rPr>
              <a:t>2</a:t>
            </a:r>
            <a:endParaRPr lang="en-US" sz="2350" dirty="0"/>
          </a:p>
        </p:txBody>
      </p:sp>
      <p:sp>
        <p:nvSpPr>
          <p:cNvPr id="15" name="Text 12"/>
          <p:cNvSpPr/>
          <p:nvPr/>
        </p:nvSpPr>
        <p:spPr>
          <a:xfrm>
            <a:off x="8219956" y="4287798"/>
            <a:ext cx="2488168" cy="310991"/>
          </a:xfrm>
          <a:prstGeom prst="rect">
            <a:avLst/>
          </a:prstGeom>
          <a:noFill/>
          <a:ln/>
        </p:spPr>
        <p:txBody>
          <a:bodyPr wrap="none" lIns="0" tIns="0" rIns="0" bIns="0" rtlCol="0" anchor="t"/>
          <a:lstStyle/>
          <a:p>
            <a:pPr algn="l" indent="0" marL="0">
              <a:lnSpc>
                <a:spcPts val="2400"/>
              </a:lnSpc>
              <a:buNone/>
            </a:pPr>
            <a:r>
              <a:rPr lang="en-US" sz="1950" b="1" dirty="0">
                <a:solidFill>
                  <a:srgbClr val="272525"/>
                </a:solidFill>
                <a:latin typeface="Petrona Bold" pitchFamily="34" charset="0"/>
                <a:ea typeface="Petrona Bold" pitchFamily="34" charset="-122"/>
                <a:cs typeface="Petrona Bold" pitchFamily="34" charset="-120"/>
              </a:rPr>
              <a:t>Feature Engineering</a:t>
            </a:r>
            <a:endParaRPr lang="en-US" sz="1950" dirty="0"/>
          </a:p>
        </p:txBody>
      </p:sp>
      <p:sp>
        <p:nvSpPr>
          <p:cNvPr id="16" name="Text 13"/>
          <p:cNvSpPr/>
          <p:nvPr/>
        </p:nvSpPr>
        <p:spPr>
          <a:xfrm>
            <a:off x="8219956" y="4707255"/>
            <a:ext cx="5618798" cy="579120"/>
          </a:xfrm>
          <a:prstGeom prst="rect">
            <a:avLst/>
          </a:prstGeom>
          <a:noFill/>
          <a:ln/>
        </p:spPr>
        <p:txBody>
          <a:bodyPr wrap="square" lIns="0" tIns="0" rIns="0" bIns="0" rtlCol="0" anchor="t"/>
          <a:lstStyle/>
          <a:p>
            <a:pPr algn="l" indent="0" marL="0">
              <a:lnSpc>
                <a:spcPts val="2250"/>
              </a:lnSpc>
              <a:buNone/>
            </a:pPr>
            <a:r>
              <a:rPr lang="en-US" sz="1400" dirty="0">
                <a:solidFill>
                  <a:srgbClr val="272525"/>
                </a:solidFill>
                <a:latin typeface="Inter" pitchFamily="34" charset="0"/>
                <a:ea typeface="Inter" pitchFamily="34" charset="-122"/>
                <a:cs typeface="Inter" pitchFamily="34" charset="-120"/>
              </a:rPr>
              <a:t>Compute Greeks (</a:t>
            </a:r>
            <a:pPr algn="l" indent="0" marL="0">
              <a:lnSpc>
                <a:spcPts val="2250"/>
              </a:lnSpc>
              <a:buNone/>
            </a:pPr>
            <a:r>
              <a:rPr lang="en-US" sz="1400" i="1" dirty="0">
                <a:solidFill>
                  <a:srgbClr val="272525"/>
                </a:solidFill>
                <a:latin typeface="Inter" pitchFamily="34" charset="0"/>
                <a:ea typeface="Inter" pitchFamily="34" charset="-122"/>
                <a:cs typeface="Inter" pitchFamily="34" charset="-120"/>
              </a:rPr>
              <a:t>\Delta</a:t>
            </a:r>
            <a:pPr algn="l" indent="0" marL="0">
              <a:lnSpc>
                <a:spcPts val="2250"/>
              </a:lnSpc>
              <a:buNone/>
            </a:pPr>
            <a:r>
              <a:rPr lang="en-US" sz="1400" dirty="0">
                <a:solidFill>
                  <a:srgbClr val="272525"/>
                </a:solidFill>
                <a:latin typeface="Inter" pitchFamily="34" charset="0"/>
                <a:ea typeface="Inter" pitchFamily="34" charset="-122"/>
                <a:cs typeface="Inter" pitchFamily="34" charset="-120"/>
              </a:rPr>
              <a:t>, </a:t>
            </a:r>
            <a:pPr algn="l" indent="0" marL="0">
              <a:lnSpc>
                <a:spcPts val="2250"/>
              </a:lnSpc>
              <a:buNone/>
            </a:pPr>
            <a:r>
              <a:rPr lang="en-US" sz="1400" i="1" dirty="0">
                <a:solidFill>
                  <a:srgbClr val="272525"/>
                </a:solidFill>
                <a:latin typeface="Inter" pitchFamily="34" charset="0"/>
                <a:ea typeface="Inter" pitchFamily="34" charset="-122"/>
                <a:cs typeface="Inter" pitchFamily="34" charset="-120"/>
              </a:rPr>
              <a:t>\Gamma</a:t>
            </a:r>
            <a:pPr algn="l" indent="0" marL="0">
              <a:lnSpc>
                <a:spcPts val="2250"/>
              </a:lnSpc>
              <a:buNone/>
            </a:pPr>
            <a:r>
              <a:rPr lang="en-US" sz="1400" dirty="0">
                <a:solidFill>
                  <a:srgbClr val="272525"/>
                </a:solidFill>
                <a:latin typeface="Inter" pitchFamily="34" charset="0"/>
                <a:ea typeface="Inter" pitchFamily="34" charset="-122"/>
                <a:cs typeface="Inter" pitchFamily="34" charset="-120"/>
              </a:rPr>
              <a:t>, </a:t>
            </a:r>
            <a:pPr algn="l" indent="0" marL="0">
              <a:lnSpc>
                <a:spcPts val="2250"/>
              </a:lnSpc>
              <a:buNone/>
            </a:pPr>
            <a:r>
              <a:rPr lang="en-US" sz="1400" i="1" dirty="0">
                <a:solidFill>
                  <a:srgbClr val="272525"/>
                </a:solidFill>
                <a:latin typeface="Inter" pitchFamily="34" charset="0"/>
                <a:ea typeface="Inter" pitchFamily="34" charset="-122"/>
                <a:cs typeface="Inter" pitchFamily="34" charset="-120"/>
              </a:rPr>
              <a:t>\Theta</a:t>
            </a:r>
            <a:pPr algn="l" indent="0" marL="0">
              <a:lnSpc>
                <a:spcPts val="2250"/>
              </a:lnSpc>
              <a:buNone/>
            </a:pPr>
            <a:r>
              <a:rPr lang="en-US" sz="1400" dirty="0">
                <a:solidFill>
                  <a:srgbClr val="272525"/>
                </a:solidFill>
                <a:latin typeface="Inter" pitchFamily="34" charset="0"/>
                <a:ea typeface="Inter" pitchFamily="34" charset="-122"/>
                <a:cs typeface="Inter" pitchFamily="34" charset="-120"/>
              </a:rPr>
              <a:t>, </a:t>
            </a:r>
            <a:pPr algn="l" indent="0" marL="0">
              <a:lnSpc>
                <a:spcPts val="2250"/>
              </a:lnSpc>
              <a:buNone/>
            </a:pPr>
            <a:r>
              <a:rPr lang="en-US" sz="1400" i="1" dirty="0">
                <a:solidFill>
                  <a:srgbClr val="272525"/>
                </a:solidFill>
                <a:latin typeface="Inter" pitchFamily="34" charset="0"/>
                <a:ea typeface="Inter" pitchFamily="34" charset="-122"/>
                <a:cs typeface="Inter" pitchFamily="34" charset="-120"/>
              </a:rPr>
              <a:t>\nu</a:t>
            </a:r>
            <a:pPr algn="l" indent="0" marL="0">
              <a:lnSpc>
                <a:spcPts val="2250"/>
              </a:lnSpc>
              <a:buNone/>
            </a:pPr>
            <a:r>
              <a:rPr lang="en-US" sz="1400" dirty="0">
                <a:solidFill>
                  <a:srgbClr val="272525"/>
                </a:solidFill>
                <a:latin typeface="Inter" pitchFamily="34" charset="0"/>
                <a:ea typeface="Inter" pitchFamily="34" charset="-122"/>
                <a:cs typeface="Inter" pitchFamily="34" charset="-120"/>
              </a:rPr>
              <a:t>), time-to-expiry, IV trend, and liquidity metrics.</a:t>
            </a:r>
            <a:endParaRPr lang="en-US" sz="1400" dirty="0"/>
          </a:p>
        </p:txBody>
      </p:sp>
      <p:sp>
        <p:nvSpPr>
          <p:cNvPr id="17" name="Shape 14"/>
          <p:cNvSpPr/>
          <p:nvPr/>
        </p:nvSpPr>
        <p:spPr>
          <a:xfrm>
            <a:off x="6591717" y="5353407"/>
            <a:ext cx="542806" cy="22860"/>
          </a:xfrm>
          <a:prstGeom prst="roundRect">
            <a:avLst>
              <a:gd name="adj" fmla="val 332472"/>
            </a:avLst>
          </a:prstGeom>
          <a:solidFill>
            <a:srgbClr val="C6BDDA"/>
          </a:solidFill>
          <a:ln/>
        </p:spPr>
      </p:sp>
      <p:sp>
        <p:nvSpPr>
          <p:cNvPr id="18" name="Shape 15"/>
          <p:cNvSpPr/>
          <p:nvPr/>
        </p:nvSpPr>
        <p:spPr>
          <a:xfrm>
            <a:off x="7111663" y="5161359"/>
            <a:ext cx="407075" cy="407075"/>
          </a:xfrm>
          <a:prstGeom prst="roundRect">
            <a:avLst>
              <a:gd name="adj" fmla="val 18671"/>
            </a:avLst>
          </a:prstGeom>
          <a:solidFill>
            <a:srgbClr val="E0D7F4"/>
          </a:solidFill>
          <a:ln w="7620">
            <a:solidFill>
              <a:srgbClr val="C6BDDA"/>
            </a:solidFill>
            <a:prstDash val="solid"/>
          </a:ln>
        </p:spPr>
      </p:sp>
      <p:sp>
        <p:nvSpPr>
          <p:cNvPr id="19" name="Text 16"/>
          <p:cNvSpPr/>
          <p:nvPr/>
        </p:nvSpPr>
        <p:spPr>
          <a:xfrm>
            <a:off x="7165896" y="5178266"/>
            <a:ext cx="298490" cy="373142"/>
          </a:xfrm>
          <a:prstGeom prst="rect">
            <a:avLst/>
          </a:prstGeom>
          <a:noFill/>
          <a:ln/>
        </p:spPr>
        <p:txBody>
          <a:bodyPr wrap="none" lIns="0" tIns="0" rIns="0" bIns="0" rtlCol="0" anchor="t"/>
          <a:lstStyle/>
          <a:p>
            <a:pPr algn="ctr" indent="0" marL="0">
              <a:lnSpc>
                <a:spcPts val="2350"/>
              </a:lnSpc>
              <a:buNone/>
            </a:pPr>
            <a:r>
              <a:rPr lang="en-US" sz="2350" b="1" dirty="0">
                <a:solidFill>
                  <a:srgbClr val="272525"/>
                </a:solidFill>
                <a:latin typeface="Petrona Bold" pitchFamily="34" charset="0"/>
                <a:ea typeface="Petrona Bold" pitchFamily="34" charset="-122"/>
                <a:cs typeface="Petrona Bold" pitchFamily="34" charset="-120"/>
              </a:rPr>
              <a:t>3</a:t>
            </a:r>
            <a:endParaRPr lang="en-US" sz="2350" dirty="0"/>
          </a:p>
        </p:txBody>
      </p:sp>
      <p:sp>
        <p:nvSpPr>
          <p:cNvPr id="20" name="Text 17"/>
          <p:cNvSpPr/>
          <p:nvPr/>
        </p:nvSpPr>
        <p:spPr>
          <a:xfrm>
            <a:off x="3047881" y="5223510"/>
            <a:ext cx="3362563" cy="310991"/>
          </a:xfrm>
          <a:prstGeom prst="rect">
            <a:avLst/>
          </a:prstGeom>
          <a:noFill/>
          <a:ln/>
        </p:spPr>
        <p:txBody>
          <a:bodyPr wrap="none" lIns="0" tIns="0" rIns="0" bIns="0" rtlCol="0" anchor="t"/>
          <a:lstStyle/>
          <a:p>
            <a:pPr algn="r" indent="0" marL="0">
              <a:lnSpc>
                <a:spcPts val="2400"/>
              </a:lnSpc>
              <a:buNone/>
            </a:pPr>
            <a:r>
              <a:rPr lang="en-US" sz="1950" b="1" dirty="0">
                <a:solidFill>
                  <a:srgbClr val="272525"/>
                </a:solidFill>
                <a:latin typeface="Petrona Bold" pitchFamily="34" charset="0"/>
                <a:ea typeface="Petrona Bold" pitchFamily="34" charset="-122"/>
                <a:cs typeface="Petrona Bold" pitchFamily="34" charset="-120"/>
              </a:rPr>
              <a:t>Agentic Layer (Deep Hedging)</a:t>
            </a:r>
            <a:endParaRPr lang="en-US" sz="1950" dirty="0"/>
          </a:p>
        </p:txBody>
      </p:sp>
      <p:sp>
        <p:nvSpPr>
          <p:cNvPr id="21" name="Text 18"/>
          <p:cNvSpPr/>
          <p:nvPr/>
        </p:nvSpPr>
        <p:spPr>
          <a:xfrm>
            <a:off x="791647" y="5642967"/>
            <a:ext cx="5618798" cy="579120"/>
          </a:xfrm>
          <a:prstGeom prst="rect">
            <a:avLst/>
          </a:prstGeom>
          <a:noFill/>
          <a:ln/>
        </p:spPr>
        <p:txBody>
          <a:bodyPr wrap="square" lIns="0" tIns="0" rIns="0" bIns="0" rtlCol="0" anchor="t"/>
          <a:lstStyle/>
          <a:p>
            <a:pPr algn="r" indent="0" marL="0">
              <a:lnSpc>
                <a:spcPts val="2250"/>
              </a:lnSpc>
              <a:buNone/>
            </a:pPr>
            <a:r>
              <a:rPr lang="en-US" sz="1400" dirty="0">
                <a:solidFill>
                  <a:srgbClr val="272525"/>
                </a:solidFill>
                <a:latin typeface="Inter" pitchFamily="34" charset="0"/>
                <a:ea typeface="Inter" pitchFamily="34" charset="-122"/>
                <a:cs typeface="Inter" pitchFamily="34" charset="-120"/>
              </a:rPr>
              <a:t>GRU model trained on simulated scenarios or historical data to learn optimal hedging policy.</a:t>
            </a:r>
            <a:endParaRPr lang="en-US" sz="1400" dirty="0"/>
          </a:p>
        </p:txBody>
      </p:sp>
      <p:sp>
        <p:nvSpPr>
          <p:cNvPr id="22" name="Shape 19"/>
          <p:cNvSpPr/>
          <p:nvPr/>
        </p:nvSpPr>
        <p:spPr>
          <a:xfrm>
            <a:off x="7495877" y="6289238"/>
            <a:ext cx="542806" cy="22860"/>
          </a:xfrm>
          <a:prstGeom prst="roundRect">
            <a:avLst>
              <a:gd name="adj" fmla="val 332472"/>
            </a:avLst>
          </a:prstGeom>
          <a:solidFill>
            <a:srgbClr val="C6BDDA"/>
          </a:solidFill>
          <a:ln/>
        </p:spPr>
      </p:sp>
      <p:sp>
        <p:nvSpPr>
          <p:cNvPr id="23" name="Shape 20"/>
          <p:cNvSpPr/>
          <p:nvPr/>
        </p:nvSpPr>
        <p:spPr>
          <a:xfrm>
            <a:off x="7111663" y="6097191"/>
            <a:ext cx="407075" cy="407075"/>
          </a:xfrm>
          <a:prstGeom prst="roundRect">
            <a:avLst>
              <a:gd name="adj" fmla="val 18671"/>
            </a:avLst>
          </a:prstGeom>
          <a:solidFill>
            <a:srgbClr val="E0D7F4"/>
          </a:solidFill>
          <a:ln w="7620">
            <a:solidFill>
              <a:srgbClr val="C6BDDA"/>
            </a:solidFill>
            <a:prstDash val="solid"/>
          </a:ln>
        </p:spPr>
      </p:sp>
      <p:sp>
        <p:nvSpPr>
          <p:cNvPr id="24" name="Text 21"/>
          <p:cNvSpPr/>
          <p:nvPr/>
        </p:nvSpPr>
        <p:spPr>
          <a:xfrm>
            <a:off x="7165896" y="6114098"/>
            <a:ext cx="298490" cy="373142"/>
          </a:xfrm>
          <a:prstGeom prst="rect">
            <a:avLst/>
          </a:prstGeom>
          <a:noFill/>
          <a:ln/>
        </p:spPr>
        <p:txBody>
          <a:bodyPr wrap="none" lIns="0" tIns="0" rIns="0" bIns="0" rtlCol="0" anchor="t"/>
          <a:lstStyle/>
          <a:p>
            <a:pPr algn="ctr" indent="0" marL="0">
              <a:lnSpc>
                <a:spcPts val="2350"/>
              </a:lnSpc>
              <a:buNone/>
            </a:pPr>
            <a:r>
              <a:rPr lang="en-US" sz="2350" b="1" dirty="0">
                <a:solidFill>
                  <a:srgbClr val="272525"/>
                </a:solidFill>
                <a:latin typeface="Petrona Bold" pitchFamily="34" charset="0"/>
                <a:ea typeface="Petrona Bold" pitchFamily="34" charset="-122"/>
                <a:cs typeface="Petrona Bold" pitchFamily="34" charset="-120"/>
              </a:rPr>
              <a:t>4</a:t>
            </a:r>
            <a:endParaRPr lang="en-US" sz="2350" dirty="0"/>
          </a:p>
        </p:txBody>
      </p:sp>
      <p:sp>
        <p:nvSpPr>
          <p:cNvPr id="25" name="Text 22"/>
          <p:cNvSpPr/>
          <p:nvPr/>
        </p:nvSpPr>
        <p:spPr>
          <a:xfrm>
            <a:off x="8219956" y="6159341"/>
            <a:ext cx="3154799" cy="310991"/>
          </a:xfrm>
          <a:prstGeom prst="rect">
            <a:avLst/>
          </a:prstGeom>
          <a:noFill/>
          <a:ln/>
        </p:spPr>
        <p:txBody>
          <a:bodyPr wrap="none" lIns="0" tIns="0" rIns="0" bIns="0" rtlCol="0" anchor="t"/>
          <a:lstStyle/>
          <a:p>
            <a:pPr algn="l" indent="0" marL="0">
              <a:lnSpc>
                <a:spcPts val="2400"/>
              </a:lnSpc>
              <a:buNone/>
            </a:pPr>
            <a:r>
              <a:rPr lang="en-US" sz="1950" b="1" dirty="0">
                <a:solidFill>
                  <a:srgbClr val="272525"/>
                </a:solidFill>
                <a:latin typeface="Petrona Bold" pitchFamily="34" charset="0"/>
                <a:ea typeface="Petrona Bold" pitchFamily="34" charset="-122"/>
                <a:cs typeface="Petrona Bold" pitchFamily="34" charset="-120"/>
              </a:rPr>
              <a:t>Output &amp; Risk Management</a:t>
            </a:r>
            <a:endParaRPr lang="en-US" sz="1950" dirty="0"/>
          </a:p>
        </p:txBody>
      </p:sp>
      <p:sp>
        <p:nvSpPr>
          <p:cNvPr id="26" name="Text 23"/>
          <p:cNvSpPr/>
          <p:nvPr/>
        </p:nvSpPr>
        <p:spPr>
          <a:xfrm>
            <a:off x="8219956" y="6578798"/>
            <a:ext cx="5618798" cy="579120"/>
          </a:xfrm>
          <a:prstGeom prst="rect">
            <a:avLst/>
          </a:prstGeom>
          <a:noFill/>
          <a:ln/>
        </p:spPr>
        <p:txBody>
          <a:bodyPr wrap="square" lIns="0" tIns="0" rIns="0" bIns="0" rtlCol="0" anchor="t"/>
          <a:lstStyle/>
          <a:p>
            <a:pPr algn="l" indent="0" marL="0">
              <a:lnSpc>
                <a:spcPts val="2250"/>
              </a:lnSpc>
              <a:buNone/>
            </a:pPr>
            <a:r>
              <a:rPr lang="en-US" sz="1400" dirty="0">
                <a:solidFill>
                  <a:srgbClr val="272525"/>
                </a:solidFill>
                <a:latin typeface="Inter" pitchFamily="34" charset="0"/>
                <a:ea typeface="Inter" pitchFamily="34" charset="-122"/>
                <a:cs typeface="Inter" pitchFamily="34" charset="-120"/>
              </a:rPr>
              <a:t>Real-time risk alerts (CVaR, Expected Shortfall) and executable hedge recommendations.</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4a8a650af33a4c34"/>
          <a:stretch>
            <a:fillRect/>
          </a:stretch>
        </p:blipFill>
        <p:spPr>
          <a:xfrm>
            <a:off x="9144000" y="0"/>
            <a:ext cx="5486400" cy="8229600"/>
          </a:xfrm>
          <a:prstGeom prst="rect">
            <a:avLst/>
          </a:prstGeom>
        </p:spPr>
      </p:pic>
      <p:sp>
        <p:nvSpPr>
          <p:cNvPr id="3" name="Text 0"/>
          <p:cNvSpPr/>
          <p:nvPr/>
        </p:nvSpPr>
        <p:spPr>
          <a:xfrm>
            <a:off x="633651" y="591741"/>
            <a:ext cx="4945142" cy="404455"/>
          </a:xfrm>
          <a:prstGeom prst="rect">
            <a:avLst/>
          </a:prstGeom>
          <a:noFill/>
          <a:ln/>
        </p:spPr>
        <p:txBody>
          <a:bodyPr wrap="none" lIns="0" tIns="0" rIns="0" bIns="0" rtlCol="0" anchor="t"/>
          <a:lstStyle/>
          <a:p>
            <a:pPr algn="l" indent="0" marL="0">
              <a:lnSpc>
                <a:spcPts val="3150"/>
              </a:lnSpc>
              <a:buNone/>
            </a:pPr>
            <a:r>
              <a:rPr lang="en-US" sz="2500" b="1" dirty="0">
                <a:solidFill>
                  <a:srgbClr val="F95F88"/>
                </a:solidFill>
                <a:latin typeface="Petrona Bold" pitchFamily="34" charset="0"/>
                <a:ea typeface="Petrona Bold" pitchFamily="34" charset="-122"/>
                <a:cs typeface="Petrona Bold" pitchFamily="34" charset="-120"/>
              </a:rPr>
              <a:t>Summary of Comparative Results</a:t>
            </a:r>
            <a:endParaRPr lang="en-US" sz="2500" dirty="0"/>
          </a:p>
        </p:txBody>
      </p:sp>
      <p:sp>
        <p:nvSpPr>
          <p:cNvPr id="4" name="Text 1"/>
          <p:cNvSpPr/>
          <p:nvPr/>
        </p:nvSpPr>
        <p:spPr>
          <a:xfrm>
            <a:off x="1842254" y="1937504"/>
            <a:ext cx="1447443" cy="294203"/>
          </a:xfrm>
          <a:prstGeom prst="rect">
            <a:avLst/>
          </a:prstGeom>
          <a:noFill/>
          <a:ln/>
        </p:spPr>
        <p:txBody>
          <a:bodyPr wrap="none" lIns="0" tIns="0" rIns="0" bIns="0" rtlCol="0" anchor="t"/>
          <a:lstStyle/>
          <a:p>
            <a:pPr algn="ctr" indent="0" marL="0">
              <a:lnSpc>
                <a:spcPts val="2300"/>
              </a:lnSpc>
              <a:buNone/>
            </a:pPr>
            <a:r>
              <a:rPr lang="en-US" sz="2300" b="1" dirty="0">
                <a:solidFill>
                  <a:srgbClr val="272525"/>
                </a:solidFill>
                <a:latin typeface="Petrona Bold" pitchFamily="34" charset="0"/>
                <a:ea typeface="Petrona Bold" pitchFamily="34" charset="-122"/>
                <a:cs typeface="Petrona Bold" pitchFamily="34" charset="-120"/>
              </a:rPr>
              <a:t>0.79</a:t>
            </a:r>
            <a:endParaRPr lang="en-US" sz="2300" dirty="0"/>
          </a:p>
        </p:txBody>
      </p:sp>
      <p:pic>
        <p:nvPicPr>
          <p:cNvPr id="5" name="Image 1" descr="preencoded.png">    </p:cNvPr>
          <p:cNvPicPr>
            <a:picLocks noChangeAspect="1"/>
          </p:cNvPicPr>
          <p:nvPr/>
        </p:nvPicPr>
        <p:blipFill>
          <a:blip r:embed="Rd5ee196dc2bd42ca"/>
          <a:stretch>
            <a:fillRect/>
          </a:stretch>
        </p:blipFill>
        <p:spPr>
          <a:xfrm>
            <a:off x="1683425" y="1202055"/>
            <a:ext cx="1765221" cy="1765221"/>
          </a:xfrm>
          <a:prstGeom prst="rect">
            <a:avLst/>
          </a:prstGeom>
        </p:spPr>
      </p:pic>
      <p:sp>
        <p:nvSpPr>
          <p:cNvPr id="6" name="Text 2"/>
          <p:cNvSpPr/>
          <p:nvPr/>
        </p:nvSpPr>
        <p:spPr>
          <a:xfrm>
            <a:off x="1670090" y="3114318"/>
            <a:ext cx="1791891" cy="202168"/>
          </a:xfrm>
          <a:prstGeom prst="rect">
            <a:avLst/>
          </a:prstGeom>
          <a:noFill/>
          <a:ln/>
        </p:spPr>
        <p:txBody>
          <a:bodyPr wrap="none" lIns="0" tIns="0" rIns="0" bIns="0" rtlCol="0" anchor="t"/>
          <a:lstStyle/>
          <a:p>
            <a:pPr algn="ctr" indent="0" marL="0">
              <a:lnSpc>
                <a:spcPts val="1550"/>
              </a:lnSpc>
              <a:buNone/>
            </a:pPr>
            <a:r>
              <a:rPr lang="en-US" sz="1250" b="1" dirty="0">
                <a:solidFill>
                  <a:srgbClr val="272525"/>
                </a:solidFill>
                <a:latin typeface="Petrona Bold" pitchFamily="34" charset="0"/>
                <a:ea typeface="Petrona Bold" pitchFamily="34" charset="-122"/>
                <a:cs typeface="Petrona Bold" pitchFamily="34" charset="-120"/>
              </a:rPr>
              <a:t>P&amp;L Standard Deviation</a:t>
            </a:r>
            <a:endParaRPr lang="en-US" sz="1250" dirty="0"/>
          </a:p>
        </p:txBody>
      </p:sp>
      <p:sp>
        <p:nvSpPr>
          <p:cNvPr id="7" name="Text 3"/>
          <p:cNvSpPr/>
          <p:nvPr/>
        </p:nvSpPr>
        <p:spPr>
          <a:xfrm>
            <a:off x="633651" y="3387090"/>
            <a:ext cx="3864769" cy="188119"/>
          </a:xfrm>
          <a:prstGeom prst="rect">
            <a:avLst/>
          </a:prstGeom>
          <a:noFill/>
          <a:ln/>
        </p:spPr>
        <p:txBody>
          <a:bodyPr wrap="none" lIns="0" tIns="0" rIns="0" bIns="0" rtlCol="0" anchor="t"/>
          <a:lstStyle/>
          <a:p>
            <a:pPr algn="ctr" indent="0" marL="0">
              <a:lnSpc>
                <a:spcPts val="1450"/>
              </a:lnSpc>
              <a:buNone/>
            </a:pPr>
            <a:r>
              <a:rPr lang="en-US" sz="900" dirty="0">
                <a:solidFill>
                  <a:srgbClr val="272525"/>
                </a:solidFill>
                <a:latin typeface="Inter" pitchFamily="34" charset="0"/>
                <a:ea typeface="Inter" pitchFamily="34" charset="-122"/>
                <a:cs typeface="Inter" pitchFamily="34" charset="-120"/>
              </a:rPr>
              <a:t>NN: 0.79 vs. BS </a:t>
            </a:r>
            <a:pPr algn="ctr" indent="0" marL="0">
              <a:lnSpc>
                <a:spcPts val="1450"/>
              </a:lnSpc>
              <a:buNone/>
            </a:pPr>
            <a:r>
              <a:rPr lang="en-US" sz="900" i="1" dirty="0">
                <a:solidFill>
                  <a:srgbClr val="272525"/>
                </a:solidFill>
                <a:latin typeface="Inter" pitchFamily="34" charset="0"/>
                <a:ea typeface="Inter" pitchFamily="34" charset="-122"/>
                <a:cs typeface="Inter" pitchFamily="34" charset="-120"/>
              </a:rPr>
              <a:t>\Delta</a:t>
            </a:r>
            <a:pPr algn="ctr" indent="0" marL="0">
              <a:lnSpc>
                <a:spcPts val="1450"/>
              </a:lnSpc>
              <a:buNone/>
            </a:pPr>
            <a:r>
              <a:rPr lang="en-US" sz="900" dirty="0">
                <a:solidFill>
                  <a:srgbClr val="272525"/>
                </a:solidFill>
                <a:latin typeface="Inter" pitchFamily="34" charset="0"/>
                <a:ea typeface="Inter" pitchFamily="34" charset="-122"/>
                <a:cs typeface="Inter" pitchFamily="34" charset="-120"/>
              </a:rPr>
              <a:t>: 2.19. Significant reduction in outcome variance.</a:t>
            </a:r>
            <a:endParaRPr lang="en-US" sz="900" dirty="0"/>
          </a:p>
        </p:txBody>
      </p:sp>
      <p:sp>
        <p:nvSpPr>
          <p:cNvPr id="8" name="Text 4"/>
          <p:cNvSpPr/>
          <p:nvPr/>
        </p:nvSpPr>
        <p:spPr>
          <a:xfrm>
            <a:off x="5854065" y="1937504"/>
            <a:ext cx="1447443" cy="294203"/>
          </a:xfrm>
          <a:prstGeom prst="rect">
            <a:avLst/>
          </a:prstGeom>
          <a:noFill/>
          <a:ln/>
        </p:spPr>
        <p:txBody>
          <a:bodyPr wrap="none" lIns="0" tIns="0" rIns="0" bIns="0" rtlCol="0" anchor="t"/>
          <a:lstStyle/>
          <a:p>
            <a:pPr algn="ctr" indent="0" marL="0">
              <a:lnSpc>
                <a:spcPts val="2300"/>
              </a:lnSpc>
              <a:buNone/>
            </a:pPr>
            <a:r>
              <a:rPr lang="en-US" sz="2300" b="1" dirty="0">
                <a:solidFill>
                  <a:srgbClr val="272525"/>
                </a:solidFill>
                <a:latin typeface="Petrona Bold" pitchFamily="34" charset="0"/>
                <a:ea typeface="Petrona Bold" pitchFamily="34" charset="-122"/>
                <a:cs typeface="Petrona Bold" pitchFamily="34" charset="-120"/>
              </a:rPr>
              <a:t>8.68</a:t>
            </a:r>
            <a:endParaRPr lang="en-US" sz="2300" dirty="0"/>
          </a:p>
        </p:txBody>
      </p:sp>
      <p:pic>
        <p:nvPicPr>
          <p:cNvPr id="9" name="Image 2" descr="preencoded.png">    </p:cNvPr>
          <p:cNvPicPr>
            <a:picLocks noChangeAspect="1"/>
          </p:cNvPicPr>
          <p:nvPr/>
        </p:nvPicPr>
        <p:blipFill>
          <a:blip r:embed="R408c58f92b5846b0"/>
          <a:stretch>
            <a:fillRect/>
          </a:stretch>
        </p:blipFill>
        <p:spPr>
          <a:xfrm>
            <a:off x="5695236" y="1202055"/>
            <a:ext cx="1765221" cy="1765221"/>
          </a:xfrm>
          <a:prstGeom prst="rect">
            <a:avLst/>
          </a:prstGeom>
        </p:spPr>
      </p:pic>
      <p:sp>
        <p:nvSpPr>
          <p:cNvPr id="10" name="Text 5"/>
          <p:cNvSpPr/>
          <p:nvPr/>
        </p:nvSpPr>
        <p:spPr>
          <a:xfrm>
            <a:off x="5768816" y="3114318"/>
            <a:ext cx="1618178" cy="202168"/>
          </a:xfrm>
          <a:prstGeom prst="rect">
            <a:avLst/>
          </a:prstGeom>
          <a:noFill/>
          <a:ln/>
        </p:spPr>
        <p:txBody>
          <a:bodyPr wrap="none" lIns="0" tIns="0" rIns="0" bIns="0" rtlCol="0" anchor="t"/>
          <a:lstStyle/>
          <a:p>
            <a:pPr algn="ctr" indent="0" marL="0">
              <a:lnSpc>
                <a:spcPts val="1550"/>
              </a:lnSpc>
              <a:buNone/>
            </a:pPr>
            <a:r>
              <a:rPr lang="en-US" sz="1250" b="1" dirty="0">
                <a:solidFill>
                  <a:srgbClr val="272525"/>
                </a:solidFill>
                <a:latin typeface="Petrona Bold" pitchFamily="34" charset="0"/>
                <a:ea typeface="Petrona Bold" pitchFamily="34" charset="-122"/>
                <a:cs typeface="Petrona Bold" pitchFamily="34" charset="-120"/>
              </a:rPr>
              <a:t>5% CVaR (Tail Risk)</a:t>
            </a:r>
            <a:endParaRPr lang="en-US" sz="1250" dirty="0"/>
          </a:p>
        </p:txBody>
      </p:sp>
      <p:sp>
        <p:nvSpPr>
          <p:cNvPr id="11" name="Text 6"/>
          <p:cNvSpPr/>
          <p:nvPr/>
        </p:nvSpPr>
        <p:spPr>
          <a:xfrm>
            <a:off x="4645462" y="3387090"/>
            <a:ext cx="3864888" cy="188119"/>
          </a:xfrm>
          <a:prstGeom prst="rect">
            <a:avLst/>
          </a:prstGeom>
          <a:noFill/>
          <a:ln/>
        </p:spPr>
        <p:txBody>
          <a:bodyPr wrap="none" lIns="0" tIns="0" rIns="0" bIns="0" rtlCol="0" anchor="t"/>
          <a:lstStyle/>
          <a:p>
            <a:pPr algn="ctr" indent="0" marL="0">
              <a:lnSpc>
                <a:spcPts val="1450"/>
              </a:lnSpc>
              <a:buNone/>
            </a:pPr>
            <a:r>
              <a:rPr lang="en-US" sz="900" dirty="0">
                <a:solidFill>
                  <a:srgbClr val="272525"/>
                </a:solidFill>
                <a:latin typeface="Inter" pitchFamily="34" charset="0"/>
                <a:ea typeface="Inter" pitchFamily="34" charset="-122"/>
                <a:cs typeface="Inter" pitchFamily="34" charset="-120"/>
              </a:rPr>
              <a:t>NN: 8.68 vs. BS </a:t>
            </a:r>
            <a:pPr algn="ctr" indent="0" marL="0">
              <a:lnSpc>
                <a:spcPts val="1450"/>
              </a:lnSpc>
              <a:buNone/>
            </a:pPr>
            <a:r>
              <a:rPr lang="en-US" sz="900" i="1" dirty="0">
                <a:solidFill>
                  <a:srgbClr val="272525"/>
                </a:solidFill>
                <a:latin typeface="Inter" pitchFamily="34" charset="0"/>
                <a:ea typeface="Inter" pitchFamily="34" charset="-122"/>
                <a:cs typeface="Inter" pitchFamily="34" charset="-120"/>
              </a:rPr>
              <a:t>\Delta</a:t>
            </a:r>
            <a:pPr algn="ctr" indent="0" marL="0">
              <a:lnSpc>
                <a:spcPts val="1450"/>
              </a:lnSpc>
              <a:buNone/>
            </a:pPr>
            <a:r>
              <a:rPr lang="en-US" sz="900" dirty="0">
                <a:solidFill>
                  <a:srgbClr val="272525"/>
                </a:solidFill>
                <a:latin typeface="Inter" pitchFamily="34" charset="0"/>
                <a:ea typeface="Inter" pitchFamily="34" charset="-122"/>
                <a:cs typeface="Inter" pitchFamily="34" charset="-120"/>
              </a:rPr>
              <a:t>: 12.99. </a:t>
            </a:r>
            <a:pPr algn="ctr" indent="0" marL="0">
              <a:lnSpc>
                <a:spcPts val="1450"/>
              </a:lnSpc>
              <a:buNone/>
            </a:pPr>
            <a:r>
              <a:rPr lang="en-US" sz="900" b="1" dirty="0">
                <a:solidFill>
                  <a:srgbClr val="272525"/>
                </a:solidFill>
                <a:latin typeface="Inter" pitchFamily="34" charset="0"/>
                <a:ea typeface="Inter" pitchFamily="34" charset="-122"/>
                <a:cs typeface="Inter" pitchFamily="34" charset="-120"/>
              </a:rPr>
              <a:t>Tail losses reduced by ~33%</a:t>
            </a:r>
            <a:pPr algn="ctr" indent="0" marL="0">
              <a:lnSpc>
                <a:spcPts val="1450"/>
              </a:lnSpc>
              <a:buNone/>
            </a:pPr>
            <a:r>
              <a:rPr lang="en-US" sz="900" dirty="0">
                <a:solidFill>
                  <a:srgbClr val="272525"/>
                </a:solidFill>
                <a:latin typeface="Inter" pitchFamily="34" charset="0"/>
                <a:ea typeface="Inter" pitchFamily="34" charset="-122"/>
                <a:cs typeface="Inter" pitchFamily="34" charset="-120"/>
              </a:rPr>
              <a:t>.</a:t>
            </a:r>
            <a:endParaRPr lang="en-US" sz="900" dirty="0"/>
          </a:p>
        </p:txBody>
      </p:sp>
      <p:sp>
        <p:nvSpPr>
          <p:cNvPr id="12" name="Text 7"/>
          <p:cNvSpPr/>
          <p:nvPr/>
        </p:nvSpPr>
        <p:spPr>
          <a:xfrm>
            <a:off x="3848100" y="4575334"/>
            <a:ext cx="1447443" cy="294203"/>
          </a:xfrm>
          <a:prstGeom prst="rect">
            <a:avLst/>
          </a:prstGeom>
          <a:noFill/>
          <a:ln/>
        </p:spPr>
        <p:txBody>
          <a:bodyPr wrap="none" lIns="0" tIns="0" rIns="0" bIns="0" rtlCol="0" anchor="t"/>
          <a:lstStyle/>
          <a:p>
            <a:pPr algn="ctr" indent="0" marL="0">
              <a:lnSpc>
                <a:spcPts val="2300"/>
              </a:lnSpc>
              <a:buNone/>
            </a:pPr>
            <a:r>
              <a:rPr lang="en-US" sz="2300" b="1" dirty="0">
                <a:solidFill>
                  <a:srgbClr val="272525"/>
                </a:solidFill>
                <a:latin typeface="Petrona Bold" pitchFamily="34" charset="0"/>
                <a:ea typeface="Petrona Bold" pitchFamily="34" charset="-122"/>
                <a:cs typeface="Petrona Bold" pitchFamily="34" charset="-120"/>
              </a:rPr>
              <a:t>-8.02</a:t>
            </a:r>
            <a:endParaRPr lang="en-US" sz="2300" dirty="0"/>
          </a:p>
        </p:txBody>
      </p:sp>
      <p:pic>
        <p:nvPicPr>
          <p:cNvPr id="13" name="Image 3" descr="preencoded.png">    </p:cNvPr>
          <p:cNvPicPr>
            <a:picLocks noChangeAspect="1"/>
          </p:cNvPicPr>
          <p:nvPr/>
        </p:nvPicPr>
        <p:blipFill>
          <a:blip r:embed="Rf6a78c42fdd04abf"/>
          <a:stretch>
            <a:fillRect/>
          </a:stretch>
        </p:blipFill>
        <p:spPr>
          <a:xfrm>
            <a:off x="3689271" y="3839885"/>
            <a:ext cx="1765221" cy="1765221"/>
          </a:xfrm>
          <a:prstGeom prst="rect">
            <a:avLst/>
          </a:prstGeom>
        </p:spPr>
      </p:pic>
      <p:sp>
        <p:nvSpPr>
          <p:cNvPr id="14" name="Text 8"/>
          <p:cNvSpPr/>
          <p:nvPr/>
        </p:nvSpPr>
        <p:spPr>
          <a:xfrm>
            <a:off x="3762851" y="5752147"/>
            <a:ext cx="1618178" cy="202168"/>
          </a:xfrm>
          <a:prstGeom prst="rect">
            <a:avLst/>
          </a:prstGeom>
          <a:noFill/>
          <a:ln/>
        </p:spPr>
        <p:txBody>
          <a:bodyPr wrap="none" lIns="0" tIns="0" rIns="0" bIns="0" rtlCol="0" anchor="t"/>
          <a:lstStyle/>
          <a:p>
            <a:pPr algn="ctr" indent="0" marL="0">
              <a:lnSpc>
                <a:spcPts val="1550"/>
              </a:lnSpc>
              <a:buNone/>
            </a:pPr>
            <a:r>
              <a:rPr lang="en-US" sz="1250" b="1" dirty="0">
                <a:solidFill>
                  <a:srgbClr val="272525"/>
                </a:solidFill>
                <a:latin typeface="Petrona Bold" pitchFamily="34" charset="0"/>
                <a:ea typeface="Petrona Bold" pitchFamily="34" charset="-122"/>
                <a:cs typeface="Petrona Bold" pitchFamily="34" charset="-120"/>
              </a:rPr>
              <a:t>Mean P&amp;L</a:t>
            </a:r>
            <a:endParaRPr lang="en-US" sz="1250" dirty="0"/>
          </a:p>
        </p:txBody>
      </p:sp>
      <p:sp>
        <p:nvSpPr>
          <p:cNvPr id="15" name="Text 9"/>
          <p:cNvSpPr/>
          <p:nvPr/>
        </p:nvSpPr>
        <p:spPr>
          <a:xfrm>
            <a:off x="2639497" y="6024920"/>
            <a:ext cx="3864888" cy="376238"/>
          </a:xfrm>
          <a:prstGeom prst="rect">
            <a:avLst/>
          </a:prstGeom>
          <a:noFill/>
          <a:ln/>
        </p:spPr>
        <p:txBody>
          <a:bodyPr wrap="square" lIns="0" tIns="0" rIns="0" bIns="0" rtlCol="0" anchor="t"/>
          <a:lstStyle/>
          <a:p>
            <a:pPr algn="ctr" indent="0" marL="0">
              <a:lnSpc>
                <a:spcPts val="1450"/>
              </a:lnSpc>
              <a:buNone/>
            </a:pPr>
            <a:r>
              <a:rPr lang="en-US" sz="900" dirty="0">
                <a:solidFill>
                  <a:srgbClr val="272525"/>
                </a:solidFill>
                <a:latin typeface="Inter" pitchFamily="34" charset="0"/>
                <a:ea typeface="Inter" pitchFamily="34" charset="-122"/>
                <a:cs typeface="Inter" pitchFamily="34" charset="-120"/>
              </a:rPr>
              <a:t>NN: -8.02 vs. BS </a:t>
            </a:r>
            <a:pPr algn="ctr" indent="0" marL="0">
              <a:lnSpc>
                <a:spcPts val="1450"/>
              </a:lnSpc>
              <a:buNone/>
            </a:pPr>
            <a:r>
              <a:rPr lang="en-US" sz="900" i="1" dirty="0">
                <a:solidFill>
                  <a:srgbClr val="272525"/>
                </a:solidFill>
                <a:latin typeface="Inter" pitchFamily="34" charset="0"/>
                <a:ea typeface="Inter" pitchFamily="34" charset="-122"/>
                <a:cs typeface="Inter" pitchFamily="34" charset="-120"/>
              </a:rPr>
              <a:t>\Delta</a:t>
            </a:r>
            <a:pPr algn="ctr" indent="0" marL="0">
              <a:lnSpc>
                <a:spcPts val="1450"/>
              </a:lnSpc>
              <a:buNone/>
            </a:pPr>
            <a:r>
              <a:rPr lang="en-US" sz="900" dirty="0">
                <a:solidFill>
                  <a:srgbClr val="272525"/>
                </a:solidFill>
                <a:latin typeface="Inter" pitchFamily="34" charset="0"/>
                <a:ea typeface="Inter" pitchFamily="34" charset="-122"/>
                <a:cs typeface="Inter" pitchFamily="34" charset="-120"/>
              </a:rPr>
              <a:t>: -7.81. Minimal mean reduction—the price of stability.</a:t>
            </a:r>
            <a:endParaRPr lang="en-US" sz="900" dirty="0"/>
          </a:p>
        </p:txBody>
      </p:sp>
      <p:sp>
        <p:nvSpPr>
          <p:cNvPr id="16" name="Text 10"/>
          <p:cNvSpPr/>
          <p:nvPr/>
        </p:nvSpPr>
        <p:spPr>
          <a:xfrm>
            <a:off x="810101" y="6710005"/>
            <a:ext cx="1941790" cy="242649"/>
          </a:xfrm>
          <a:prstGeom prst="rect">
            <a:avLst/>
          </a:prstGeom>
          <a:noFill/>
          <a:ln/>
        </p:spPr>
        <p:txBody>
          <a:bodyPr wrap="none" lIns="0" tIns="0" rIns="0" bIns="0" rtlCol="0" anchor="t"/>
          <a:lstStyle/>
          <a:p>
            <a:pPr algn="l" indent="0" marL="0">
              <a:lnSpc>
                <a:spcPts val="1900"/>
              </a:lnSpc>
              <a:buNone/>
            </a:pPr>
            <a:r>
              <a:rPr lang="en-US" sz="1500" b="1" dirty="0">
                <a:solidFill>
                  <a:srgbClr val="F95F88"/>
                </a:solidFill>
                <a:latin typeface="Petrona Bold" pitchFamily="34" charset="0"/>
                <a:ea typeface="Petrona Bold" pitchFamily="34" charset="-122"/>
                <a:cs typeface="Petrona Bold" pitchFamily="34" charset="-120"/>
              </a:rPr>
              <a:t>Interpretation</a:t>
            </a:r>
            <a:endParaRPr lang="en-US" sz="1500" dirty="0"/>
          </a:p>
        </p:txBody>
      </p:sp>
      <p:sp>
        <p:nvSpPr>
          <p:cNvPr id="17" name="Text 11"/>
          <p:cNvSpPr/>
          <p:nvPr/>
        </p:nvSpPr>
        <p:spPr>
          <a:xfrm>
            <a:off x="810101" y="7129105"/>
            <a:ext cx="7700248" cy="376238"/>
          </a:xfrm>
          <a:prstGeom prst="rect">
            <a:avLst/>
          </a:prstGeom>
          <a:noFill/>
          <a:ln/>
        </p:spPr>
        <p:txBody>
          <a:bodyPr wrap="square" lIns="0" tIns="0" rIns="0" bIns="0" rtlCol="0" anchor="t"/>
          <a:lstStyle/>
          <a:p>
            <a:pPr algn="l" indent="0" marL="0">
              <a:lnSpc>
                <a:spcPts val="1450"/>
              </a:lnSpc>
              <a:buNone/>
            </a:pPr>
            <a:r>
              <a:rPr lang="en-US" sz="900" dirty="0">
                <a:solidFill>
                  <a:srgbClr val="272525"/>
                </a:solidFill>
                <a:latin typeface="Inter" pitchFamily="34" charset="0"/>
                <a:ea typeface="Inter" pitchFamily="34" charset="-122"/>
                <a:cs typeface="Inter" pitchFamily="34" charset="-120"/>
              </a:rPr>
              <a:t>The Deep Hedging policy is inherently risk-aware and cost-sensitive, delivering stability and predictability by minimizing tail risk and trading friction.</a:t>
            </a:r>
            <a:endParaRPr lang="en-US" sz="900" dirty="0"/>
          </a:p>
        </p:txBody>
      </p:sp>
      <p:sp>
        <p:nvSpPr>
          <p:cNvPr id="18" name="Shape 12"/>
          <p:cNvSpPr/>
          <p:nvPr/>
        </p:nvSpPr>
        <p:spPr>
          <a:xfrm>
            <a:off x="633651" y="6533555"/>
            <a:ext cx="15240" cy="1104186"/>
          </a:xfrm>
          <a:prstGeom prst="rect">
            <a:avLst/>
          </a:prstGeom>
          <a:solidFill>
            <a:srgbClr val="6237C8"/>
          </a:solidFill>
          <a:ln/>
        </p:spPr>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692706"/>
            <a:ext cx="10931604" cy="779621"/>
          </a:xfrm>
          <a:prstGeom prst="rect">
            <a:avLst/>
          </a:prstGeom>
          <a:noFill/>
          <a:ln/>
        </p:spPr>
        <p:txBody>
          <a:bodyPr wrap="none" lIns="0" tIns="0" rIns="0" bIns="0" rtlCol="0" anchor="t"/>
          <a:lstStyle/>
          <a:p>
            <a:pPr algn="l" indent="0" marL="0">
              <a:lnSpc>
                <a:spcPts val="6100"/>
              </a:lnSpc>
              <a:buNone/>
            </a:pPr>
            <a:r>
              <a:rPr lang="en-US" sz="4900" b="1" dirty="0">
                <a:solidFill>
                  <a:srgbClr val="F95F88"/>
                </a:solidFill>
                <a:latin typeface="Petrona Bold" pitchFamily="34" charset="0"/>
                <a:ea typeface="Petrona Bold" pitchFamily="34" charset="-122"/>
                <a:cs typeface="Petrona Bold" pitchFamily="34" charset="-120"/>
              </a:rPr>
              <a:t>Concepts Validated and Key Learnings</a:t>
            </a:r>
            <a:endParaRPr lang="en-US" sz="4900" dirty="0"/>
          </a:p>
        </p:txBody>
      </p:sp>
      <p:pic>
        <p:nvPicPr>
          <p:cNvPr id="3" name="Image 0" descr="preencoded.png">    </p:cNvPr>
          <p:cNvPicPr>
            <a:picLocks noChangeAspect="1"/>
          </p:cNvPicPr>
          <p:nvPr/>
        </p:nvPicPr>
        <p:blipFill>
          <a:blip r:embed="Rf3070a263a344422">
            <a:extLst>
              <a:ext uri="{96DAC541-7B7A-43D3-8B79-37D633B846F1}">
                <asvg:svgBlip xmlns:asvg="http://schemas.microsoft.com/office/drawing/2016/SVG/main" r:embed="R13f61c7c23004602"/>
              </a:ext>
            </a:extLst>
          </a:blip>
          <a:stretch>
            <a:fillRect/>
          </a:stretch>
        </p:blipFill>
        <p:spPr>
          <a:xfrm>
            <a:off x="793790" y="1925955"/>
            <a:ext cx="680442" cy="680442"/>
          </a:xfrm>
          <a:prstGeom prst="rect">
            <a:avLst/>
          </a:prstGeom>
        </p:spPr>
      </p:pic>
      <p:sp>
        <p:nvSpPr>
          <p:cNvPr id="4" name="Text 1"/>
          <p:cNvSpPr/>
          <p:nvPr/>
        </p:nvSpPr>
        <p:spPr>
          <a:xfrm>
            <a:off x="793790" y="2889885"/>
            <a:ext cx="3375303" cy="389930"/>
          </a:xfrm>
          <a:prstGeom prst="rect">
            <a:avLst/>
          </a:prstGeom>
          <a:noFill/>
          <a:ln/>
        </p:spPr>
        <p:txBody>
          <a:bodyPr wrap="none" lIns="0" tIns="0" rIns="0" bIns="0" rtlCol="0" anchor="t"/>
          <a:lstStyle/>
          <a:p>
            <a:pPr algn="l" indent="0" marL="0">
              <a:lnSpc>
                <a:spcPts val="3050"/>
              </a:lnSpc>
              <a:buNone/>
            </a:pPr>
            <a:r>
              <a:rPr lang="en-US" sz="2450" b="1" dirty="0">
                <a:solidFill>
                  <a:srgbClr val="272525"/>
                </a:solidFill>
                <a:latin typeface="Petrona Bold" pitchFamily="34" charset="0"/>
                <a:ea typeface="Petrona Bold" pitchFamily="34" charset="-122"/>
                <a:cs typeface="Petrona Bold" pitchFamily="34" charset="-120"/>
              </a:rPr>
              <a:t>Neural Approximations</a:t>
            </a:r>
            <a:endParaRPr lang="en-US" sz="2450" dirty="0"/>
          </a:p>
        </p:txBody>
      </p:sp>
      <p:sp>
        <p:nvSpPr>
          <p:cNvPr id="5" name="Text 2"/>
          <p:cNvSpPr/>
          <p:nvPr/>
        </p:nvSpPr>
        <p:spPr>
          <a:xfrm>
            <a:off x="793790" y="3415903"/>
            <a:ext cx="4158615" cy="725805"/>
          </a:xfrm>
          <a:prstGeom prst="rect">
            <a:avLst/>
          </a:prstGeom>
          <a:noFill/>
          <a:ln/>
        </p:spPr>
        <p:txBody>
          <a:bodyPr wrap="square" lIns="0" tIns="0" rIns="0" bIns="0" rtlCol="0" anchor="t"/>
          <a:lstStyle/>
          <a:p>
            <a:pPr algn="l" indent="0" marL="0">
              <a:lnSpc>
                <a:spcPts val="2850"/>
              </a:lnSpc>
              <a:buNone/>
            </a:pPr>
            <a:r>
              <a:rPr lang="en-US" sz="1750" dirty="0">
                <a:solidFill>
                  <a:srgbClr val="272525"/>
                </a:solidFill>
                <a:latin typeface="Inter" pitchFamily="34" charset="0"/>
                <a:ea typeface="Inter" pitchFamily="34" charset="-122"/>
                <a:cs typeface="Inter" pitchFamily="34" charset="-120"/>
              </a:rPr>
              <a:t>Replaced rigid analytical hedges with flexible, data-driven NN policies.</a:t>
            </a:r>
            <a:endParaRPr lang="en-US" sz="1750" dirty="0"/>
          </a:p>
        </p:txBody>
      </p:sp>
      <p:pic>
        <p:nvPicPr>
          <p:cNvPr id="6" name="Image 1" descr="preencoded.png">    </p:cNvPr>
          <p:cNvPicPr>
            <a:picLocks noChangeAspect="1"/>
          </p:cNvPicPr>
          <p:nvPr/>
        </p:nvPicPr>
        <p:blipFill>
          <a:blip r:embed="Rf3070a263a344422">
            <a:extLst>
              <a:ext uri="{96DAC541-7B7A-43D3-8B79-37D633B846F1}">
                <asvg:svgBlip xmlns:asvg="http://schemas.microsoft.com/office/drawing/2016/SVG/main" r:embed="Rda7d666546d745d2"/>
              </a:ext>
            </a:extLst>
          </a:blip>
          <a:stretch>
            <a:fillRect/>
          </a:stretch>
        </p:blipFill>
        <p:spPr>
          <a:xfrm>
            <a:off x="5235893" y="1925955"/>
            <a:ext cx="680442" cy="680442"/>
          </a:xfrm>
          <a:prstGeom prst="rect">
            <a:avLst/>
          </a:prstGeom>
        </p:spPr>
      </p:pic>
      <p:sp>
        <p:nvSpPr>
          <p:cNvPr id="7" name="Text 3"/>
          <p:cNvSpPr/>
          <p:nvPr/>
        </p:nvSpPr>
        <p:spPr>
          <a:xfrm>
            <a:off x="5235893" y="2889885"/>
            <a:ext cx="3196828" cy="389930"/>
          </a:xfrm>
          <a:prstGeom prst="rect">
            <a:avLst/>
          </a:prstGeom>
          <a:noFill/>
          <a:ln/>
        </p:spPr>
        <p:txBody>
          <a:bodyPr wrap="none" lIns="0" tIns="0" rIns="0" bIns="0" rtlCol="0" anchor="t"/>
          <a:lstStyle/>
          <a:p>
            <a:pPr algn="l" indent="0" marL="0">
              <a:lnSpc>
                <a:spcPts val="3050"/>
              </a:lnSpc>
              <a:buNone/>
            </a:pPr>
            <a:r>
              <a:rPr lang="en-US" sz="2450" b="1" dirty="0">
                <a:solidFill>
                  <a:srgbClr val="272525"/>
                </a:solidFill>
                <a:latin typeface="Petrona Bold" pitchFamily="34" charset="0"/>
                <a:ea typeface="Petrona Bold" pitchFamily="34" charset="-122"/>
                <a:cs typeface="Petrona Bold" pitchFamily="34" charset="-120"/>
              </a:rPr>
              <a:t>Convex Risk Measures</a:t>
            </a:r>
            <a:endParaRPr lang="en-US" sz="2450" dirty="0"/>
          </a:p>
        </p:txBody>
      </p:sp>
      <p:sp>
        <p:nvSpPr>
          <p:cNvPr id="8" name="Text 4"/>
          <p:cNvSpPr/>
          <p:nvPr/>
        </p:nvSpPr>
        <p:spPr>
          <a:xfrm>
            <a:off x="5235893" y="3415903"/>
            <a:ext cx="4158615" cy="1088708"/>
          </a:xfrm>
          <a:prstGeom prst="rect">
            <a:avLst/>
          </a:prstGeom>
          <a:noFill/>
          <a:ln/>
        </p:spPr>
        <p:txBody>
          <a:bodyPr wrap="square" lIns="0" tIns="0" rIns="0" bIns="0" rtlCol="0" anchor="t"/>
          <a:lstStyle/>
          <a:p>
            <a:pPr algn="l" indent="0" marL="0">
              <a:lnSpc>
                <a:spcPts val="2850"/>
              </a:lnSpc>
              <a:buNone/>
            </a:pPr>
            <a:r>
              <a:rPr lang="en-US" sz="1750" dirty="0">
                <a:solidFill>
                  <a:srgbClr val="272525"/>
                </a:solidFill>
                <a:latin typeface="Inter" pitchFamily="34" charset="0"/>
                <a:ea typeface="Inter" pitchFamily="34" charset="-122"/>
                <a:cs typeface="Inter" pitchFamily="34" charset="-120"/>
              </a:rPr>
              <a:t>Applied sophisticated risk metrics (CVaR, Entropic </a:t>
            </a:r>
            <a:pPr algn="l" indent="0" marL="0">
              <a:lnSpc>
                <a:spcPts val="2850"/>
              </a:lnSpc>
              <a:buNone/>
            </a:pPr>
            <a:r>
              <a:rPr lang="en-US" sz="1750" i="1" dirty="0">
                <a:solidFill>
                  <a:srgbClr val="272525"/>
                </a:solidFill>
                <a:latin typeface="Inter" pitchFamily="34" charset="0"/>
                <a:ea typeface="Inter" pitchFamily="34" charset="-122"/>
                <a:cs typeface="Inter" pitchFamily="34" charset="-120"/>
              </a:rPr>
              <a:t>\rho</a:t>
            </a:r>
            <a:pPr algn="l" indent="0" marL="0">
              <a:lnSpc>
                <a:spcPts val="2850"/>
              </a:lnSpc>
              <a:buNone/>
            </a:pPr>
            <a:r>
              <a:rPr lang="en-US" sz="1750" dirty="0">
                <a:solidFill>
                  <a:srgbClr val="272525"/>
                </a:solidFill>
                <a:latin typeface="Inter" pitchFamily="34" charset="0"/>
                <a:ea typeface="Inter" pitchFamily="34" charset="-122"/>
                <a:cs typeface="Inter" pitchFamily="34" charset="-120"/>
              </a:rPr>
              <a:t>) for training objective.</a:t>
            </a:r>
            <a:endParaRPr lang="en-US" sz="1750" dirty="0"/>
          </a:p>
        </p:txBody>
      </p:sp>
      <p:pic>
        <p:nvPicPr>
          <p:cNvPr id="9" name="Image 2" descr="preencoded.png">    </p:cNvPr>
          <p:cNvPicPr>
            <a:picLocks noChangeAspect="1"/>
          </p:cNvPicPr>
          <p:nvPr/>
        </p:nvPicPr>
        <p:blipFill>
          <a:blip r:embed="Rf3070a263a344422">
            <a:extLst>
              <a:ext uri="{96DAC541-7B7A-43D3-8B79-37D633B846F1}">
                <asvg:svgBlip xmlns:asvg="http://schemas.microsoft.com/office/drawing/2016/SVG/main" r:embed="Rdf5d3f4a0477474e"/>
              </a:ext>
            </a:extLst>
          </a:blip>
          <a:stretch>
            <a:fillRect/>
          </a:stretch>
        </p:blipFill>
        <p:spPr>
          <a:xfrm>
            <a:off x="9677995" y="1925955"/>
            <a:ext cx="680442" cy="680442"/>
          </a:xfrm>
          <a:prstGeom prst="rect">
            <a:avLst/>
          </a:prstGeom>
        </p:spPr>
      </p:pic>
      <p:sp>
        <p:nvSpPr>
          <p:cNvPr id="10" name="Text 5"/>
          <p:cNvSpPr/>
          <p:nvPr/>
        </p:nvSpPr>
        <p:spPr>
          <a:xfrm>
            <a:off x="9677995" y="2889885"/>
            <a:ext cx="3130510" cy="389930"/>
          </a:xfrm>
          <a:prstGeom prst="rect">
            <a:avLst/>
          </a:prstGeom>
          <a:noFill/>
          <a:ln/>
        </p:spPr>
        <p:txBody>
          <a:bodyPr wrap="none" lIns="0" tIns="0" rIns="0" bIns="0" rtlCol="0" anchor="t"/>
          <a:lstStyle/>
          <a:p>
            <a:pPr algn="l" indent="0" marL="0">
              <a:lnSpc>
                <a:spcPts val="3050"/>
              </a:lnSpc>
              <a:buNone/>
            </a:pPr>
            <a:r>
              <a:rPr lang="en-US" sz="2450" b="1" dirty="0">
                <a:solidFill>
                  <a:srgbClr val="272525"/>
                </a:solidFill>
                <a:latin typeface="Petrona Bold" pitchFamily="34" charset="0"/>
                <a:ea typeface="Petrona Bold" pitchFamily="34" charset="-122"/>
                <a:cs typeface="Petrona Bold" pitchFamily="34" charset="-120"/>
              </a:rPr>
              <a:t>Monte-Carlo Training</a:t>
            </a:r>
            <a:endParaRPr lang="en-US" sz="2450" dirty="0"/>
          </a:p>
        </p:txBody>
      </p:sp>
      <p:sp>
        <p:nvSpPr>
          <p:cNvPr id="11" name="Text 6"/>
          <p:cNvSpPr/>
          <p:nvPr/>
        </p:nvSpPr>
        <p:spPr>
          <a:xfrm>
            <a:off x="9677995" y="3415903"/>
            <a:ext cx="4158615" cy="1088708"/>
          </a:xfrm>
          <a:prstGeom prst="rect">
            <a:avLst/>
          </a:prstGeom>
          <a:noFill/>
          <a:ln/>
        </p:spPr>
        <p:txBody>
          <a:bodyPr wrap="square" lIns="0" tIns="0" rIns="0" bIns="0" rtlCol="0" anchor="t"/>
          <a:lstStyle/>
          <a:p>
            <a:pPr algn="l" indent="0" marL="0">
              <a:lnSpc>
                <a:spcPts val="2850"/>
              </a:lnSpc>
              <a:buNone/>
            </a:pPr>
            <a:r>
              <a:rPr lang="en-US" sz="1750" dirty="0">
                <a:solidFill>
                  <a:srgbClr val="272525"/>
                </a:solidFill>
                <a:latin typeface="Inter" pitchFamily="34" charset="0"/>
                <a:ea typeface="Inter" pitchFamily="34" charset="-122"/>
                <a:cs typeface="Inter" pitchFamily="34" charset="-120"/>
              </a:rPr>
              <a:t>Successfully implemented scenario-based training for the hedging policy network.</a:t>
            </a:r>
            <a:endParaRPr lang="en-US" sz="1750" dirty="0"/>
          </a:p>
        </p:txBody>
      </p:sp>
      <p:pic>
        <p:nvPicPr>
          <p:cNvPr id="12" name="Image 3" descr="preencoded.png">    </p:cNvPr>
          <p:cNvPicPr>
            <a:picLocks noChangeAspect="1"/>
          </p:cNvPicPr>
          <p:nvPr/>
        </p:nvPicPr>
        <p:blipFill>
          <a:blip r:embed="Rf3070a263a344422">
            <a:extLst>
              <a:ext uri="{96DAC541-7B7A-43D3-8B79-37D633B846F1}">
                <asvg:svgBlip xmlns:asvg="http://schemas.microsoft.com/office/drawing/2016/SVG/main" r:embed="Rf392313bbaa44541"/>
              </a:ext>
            </a:extLst>
          </a:blip>
          <a:stretch>
            <a:fillRect/>
          </a:stretch>
        </p:blipFill>
        <p:spPr>
          <a:xfrm>
            <a:off x="793790" y="4958239"/>
            <a:ext cx="680442" cy="680442"/>
          </a:xfrm>
          <a:prstGeom prst="rect">
            <a:avLst/>
          </a:prstGeom>
        </p:spPr>
      </p:pic>
      <p:sp>
        <p:nvSpPr>
          <p:cNvPr id="13" name="Text 7"/>
          <p:cNvSpPr/>
          <p:nvPr/>
        </p:nvSpPr>
        <p:spPr>
          <a:xfrm>
            <a:off x="793790" y="5922169"/>
            <a:ext cx="3669268" cy="389930"/>
          </a:xfrm>
          <a:prstGeom prst="rect">
            <a:avLst/>
          </a:prstGeom>
          <a:noFill/>
          <a:ln/>
        </p:spPr>
        <p:txBody>
          <a:bodyPr wrap="none" lIns="0" tIns="0" rIns="0" bIns="0" rtlCol="0" anchor="t"/>
          <a:lstStyle/>
          <a:p>
            <a:pPr algn="l" indent="0" marL="0">
              <a:lnSpc>
                <a:spcPts val="3050"/>
              </a:lnSpc>
              <a:buNone/>
            </a:pPr>
            <a:r>
              <a:rPr lang="en-US" sz="2450" b="1" dirty="0">
                <a:solidFill>
                  <a:srgbClr val="272525"/>
                </a:solidFill>
                <a:latin typeface="Petrona Bold" pitchFamily="34" charset="0"/>
                <a:ea typeface="Petrona Bold" pitchFamily="34" charset="-122"/>
                <a:cs typeface="Petrona Bold" pitchFamily="34" charset="-120"/>
              </a:rPr>
              <a:t>Out-of-Sample Validation</a:t>
            </a:r>
            <a:endParaRPr lang="en-US" sz="2450" dirty="0"/>
          </a:p>
        </p:txBody>
      </p:sp>
      <p:sp>
        <p:nvSpPr>
          <p:cNvPr id="14" name="Text 8"/>
          <p:cNvSpPr/>
          <p:nvPr/>
        </p:nvSpPr>
        <p:spPr>
          <a:xfrm>
            <a:off x="793790" y="6448187"/>
            <a:ext cx="4158615" cy="725805"/>
          </a:xfrm>
          <a:prstGeom prst="rect">
            <a:avLst/>
          </a:prstGeom>
          <a:noFill/>
          <a:ln/>
        </p:spPr>
        <p:txBody>
          <a:bodyPr wrap="square" lIns="0" tIns="0" rIns="0" bIns="0" rtlCol="0" anchor="t"/>
          <a:lstStyle/>
          <a:p>
            <a:pPr algn="l" indent="0" marL="0">
              <a:lnSpc>
                <a:spcPts val="2850"/>
              </a:lnSpc>
              <a:buNone/>
            </a:pPr>
            <a:r>
              <a:rPr lang="en-US" sz="1750" dirty="0">
                <a:solidFill>
                  <a:srgbClr val="272525"/>
                </a:solidFill>
                <a:latin typeface="Inter" pitchFamily="34" charset="0"/>
                <a:ea typeface="Inter" pitchFamily="34" charset="-122"/>
                <a:cs typeface="Inter" pitchFamily="34" charset="-120"/>
              </a:rPr>
              <a:t>Rigorous testing confirmed robustness and performance on unseen data.</a:t>
            </a:r>
            <a:endParaRPr lang="en-US" sz="1750" dirty="0"/>
          </a:p>
        </p:txBody>
      </p:sp>
      <p:pic>
        <p:nvPicPr>
          <p:cNvPr id="15" name="Image 4" descr="preencoded.png">    </p:cNvPr>
          <p:cNvPicPr>
            <a:picLocks noChangeAspect="1"/>
          </p:cNvPicPr>
          <p:nvPr/>
        </p:nvPicPr>
        <p:blipFill>
          <a:blip r:embed="Rf3070a263a344422">
            <a:extLst>
              <a:ext uri="{96DAC541-7B7A-43D3-8B79-37D633B846F1}">
                <asvg:svgBlip xmlns:asvg="http://schemas.microsoft.com/office/drawing/2016/SVG/main" r:embed="Rd7d63a5c1a114016"/>
              </a:ext>
            </a:extLst>
          </a:blip>
          <a:stretch>
            <a:fillRect/>
          </a:stretch>
        </p:blipFill>
        <p:spPr>
          <a:xfrm>
            <a:off x="5235893" y="4958239"/>
            <a:ext cx="680442" cy="680442"/>
          </a:xfrm>
          <a:prstGeom prst="rect">
            <a:avLst/>
          </a:prstGeom>
        </p:spPr>
      </p:pic>
      <p:sp>
        <p:nvSpPr>
          <p:cNvPr id="16" name="Text 9"/>
          <p:cNvSpPr/>
          <p:nvPr/>
        </p:nvSpPr>
        <p:spPr>
          <a:xfrm>
            <a:off x="5235893" y="5922169"/>
            <a:ext cx="3118842" cy="389930"/>
          </a:xfrm>
          <a:prstGeom prst="rect">
            <a:avLst/>
          </a:prstGeom>
          <a:noFill/>
          <a:ln/>
        </p:spPr>
        <p:txBody>
          <a:bodyPr wrap="none" lIns="0" tIns="0" rIns="0" bIns="0" rtlCol="0" anchor="t"/>
          <a:lstStyle/>
          <a:p>
            <a:pPr algn="l" indent="0" marL="0">
              <a:lnSpc>
                <a:spcPts val="3050"/>
              </a:lnSpc>
              <a:buNone/>
            </a:pPr>
            <a:r>
              <a:rPr lang="en-US" sz="2450" b="1" dirty="0">
                <a:solidFill>
                  <a:srgbClr val="272525"/>
                </a:solidFill>
                <a:latin typeface="Petrona Bold" pitchFamily="34" charset="0"/>
                <a:ea typeface="Petrona Bold" pitchFamily="34" charset="-122"/>
                <a:cs typeface="Petrona Bold" pitchFamily="34" charset="-120"/>
              </a:rPr>
              <a:t>AI Risk Pipeline</a:t>
            </a:r>
            <a:endParaRPr lang="en-US" sz="2450" dirty="0"/>
          </a:p>
        </p:txBody>
      </p:sp>
      <p:sp>
        <p:nvSpPr>
          <p:cNvPr id="17" name="Text 10"/>
          <p:cNvSpPr/>
          <p:nvPr/>
        </p:nvSpPr>
        <p:spPr>
          <a:xfrm>
            <a:off x="5235893" y="6448187"/>
            <a:ext cx="4158615" cy="1088708"/>
          </a:xfrm>
          <a:prstGeom prst="rect">
            <a:avLst/>
          </a:prstGeom>
          <a:noFill/>
          <a:ln/>
        </p:spPr>
        <p:txBody>
          <a:bodyPr wrap="square" lIns="0" tIns="0" rIns="0" bIns="0" rtlCol="0" anchor="t"/>
          <a:lstStyle/>
          <a:p>
            <a:pPr algn="l" indent="0" marL="0">
              <a:lnSpc>
                <a:spcPts val="2850"/>
              </a:lnSpc>
              <a:buNone/>
            </a:pPr>
            <a:r>
              <a:rPr lang="en-US" sz="1750" dirty="0">
                <a:solidFill>
                  <a:srgbClr val="272525"/>
                </a:solidFill>
                <a:latin typeface="Inter" pitchFamily="34" charset="0"/>
                <a:ea typeface="Inter" pitchFamily="34" charset="-122"/>
                <a:cs typeface="Inter" pitchFamily="34" charset="-120"/>
              </a:rPr>
              <a:t>Demonstrated practical integration into a modern AI risk management framework.</a:t>
            </a:r>
            <a:endParaRPr lang="en-US" sz="17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60690" y="972383"/>
            <a:ext cx="12784693" cy="747236"/>
          </a:xfrm>
          <a:prstGeom prst="rect">
            <a:avLst/>
          </a:prstGeom>
          <a:noFill/>
          <a:ln/>
        </p:spPr>
        <p:txBody>
          <a:bodyPr wrap="none" lIns="0" tIns="0" rIns="0" bIns="0" rtlCol="0" anchor="t"/>
          <a:lstStyle/>
          <a:p>
            <a:pPr algn="l" indent="0" marL="0">
              <a:lnSpc>
                <a:spcPts val="5850"/>
              </a:lnSpc>
              <a:buNone/>
            </a:pPr>
            <a:r>
              <a:rPr lang="en-US" sz="4700" b="1" dirty="0">
                <a:solidFill>
                  <a:srgbClr val="F95F88"/>
                </a:solidFill>
                <a:latin typeface="Petrona Bold" pitchFamily="34" charset="0"/>
                <a:ea typeface="Petrona Bold" pitchFamily="34" charset="-122"/>
                <a:cs typeface="Petrona Bold" pitchFamily="34" charset="-120"/>
              </a:rPr>
              <a:t>Conclusion: Deep Hedging for Modern Finance</a:t>
            </a:r>
            <a:endParaRPr lang="en-US" sz="4700" dirty="0"/>
          </a:p>
        </p:txBody>
      </p:sp>
      <p:sp>
        <p:nvSpPr>
          <p:cNvPr id="3" name="Shape 1"/>
          <p:cNvSpPr/>
          <p:nvPr/>
        </p:nvSpPr>
        <p:spPr>
          <a:xfrm>
            <a:off x="760690" y="2154317"/>
            <a:ext cx="2184797" cy="1286232"/>
          </a:xfrm>
          <a:prstGeom prst="roundRect">
            <a:avLst>
              <a:gd name="adj" fmla="val 7098"/>
            </a:avLst>
          </a:prstGeom>
          <a:solidFill>
            <a:srgbClr val="E0D7F4"/>
          </a:solidFill>
          <a:ln w="7620">
            <a:solidFill>
              <a:srgbClr val="C6BDDA"/>
            </a:solidFill>
            <a:prstDash val="solid"/>
          </a:ln>
        </p:spPr>
      </p:sp>
      <p:pic>
        <p:nvPicPr>
          <p:cNvPr id="4" name="Image 0" descr="preencoded.png">    </p:cNvPr>
          <p:cNvPicPr>
            <a:picLocks noChangeAspect="1"/>
          </p:cNvPicPr>
          <p:nvPr/>
        </p:nvPicPr>
        <p:blipFill>
          <a:blip r:embed="Rc401e671b22849b3">
            <a:extLst>
              <a:ext uri="{96DAC541-7B7A-43D3-8B79-37D633B846F1}">
                <asvg:svgBlip xmlns:asvg="http://schemas.microsoft.com/office/drawing/2016/SVG/main" r:embed="R1c8291ca533c47b4"/>
              </a:ext>
            </a:extLst>
          </a:blip>
          <a:stretch>
            <a:fillRect/>
          </a:stretch>
        </p:blipFill>
        <p:spPr>
          <a:xfrm>
            <a:off x="1700213" y="2644616"/>
            <a:ext cx="305633" cy="305633"/>
          </a:xfrm>
          <a:prstGeom prst="rect">
            <a:avLst/>
          </a:prstGeom>
        </p:spPr>
      </p:pic>
      <p:sp>
        <p:nvSpPr>
          <p:cNvPr id="5" name="Text 2"/>
          <p:cNvSpPr/>
          <p:nvPr/>
        </p:nvSpPr>
        <p:spPr>
          <a:xfrm>
            <a:off x="3162776" y="2371606"/>
            <a:ext cx="2988707" cy="373499"/>
          </a:xfrm>
          <a:prstGeom prst="rect">
            <a:avLst/>
          </a:prstGeom>
          <a:noFill/>
          <a:ln/>
        </p:spPr>
        <p:txBody>
          <a:bodyPr wrap="none" lIns="0" tIns="0" rIns="0" bIns="0" rtlCol="0" anchor="t"/>
          <a:lstStyle/>
          <a:p>
            <a:pPr algn="l" indent="0" marL="0">
              <a:lnSpc>
                <a:spcPts val="2900"/>
              </a:lnSpc>
              <a:buNone/>
            </a:pPr>
            <a:r>
              <a:rPr lang="en-US" sz="2350" b="1" dirty="0">
                <a:solidFill>
                  <a:srgbClr val="272525"/>
                </a:solidFill>
                <a:latin typeface="Petrona Bold" pitchFamily="34" charset="0"/>
                <a:ea typeface="Petrona Bold" pitchFamily="34" charset="-122"/>
                <a:cs typeface="Petrona Bold" pitchFamily="34" charset="-120"/>
              </a:rPr>
              <a:t>Scalability</a:t>
            </a:r>
            <a:endParaRPr lang="en-US" sz="2350" dirty="0"/>
          </a:p>
        </p:txBody>
      </p:sp>
      <p:sp>
        <p:nvSpPr>
          <p:cNvPr id="6" name="Text 3"/>
          <p:cNvSpPr/>
          <p:nvPr/>
        </p:nvSpPr>
        <p:spPr>
          <a:xfrm>
            <a:off x="3162776" y="2875478"/>
            <a:ext cx="6583561" cy="347782"/>
          </a:xfrm>
          <a:prstGeom prst="rect">
            <a:avLst/>
          </a:prstGeom>
          <a:noFill/>
          <a:ln/>
        </p:spPr>
        <p:txBody>
          <a:bodyPr wrap="none" lIns="0" tIns="0" rIns="0" bIns="0" rtlCol="0" anchor="t"/>
          <a:lstStyle/>
          <a:p>
            <a:pPr algn="l" indent="0" marL="0">
              <a:lnSpc>
                <a:spcPts val="2700"/>
              </a:lnSpc>
              <a:buNone/>
            </a:pPr>
            <a:r>
              <a:rPr lang="en-US" sz="1700" dirty="0">
                <a:solidFill>
                  <a:srgbClr val="272525"/>
                </a:solidFill>
                <a:latin typeface="Inter" pitchFamily="34" charset="0"/>
                <a:ea typeface="Inter" pitchFamily="34" charset="-122"/>
                <a:cs typeface="Inter" pitchFamily="34" charset="-120"/>
              </a:rPr>
              <a:t>Applicable to multi-asset portfolios and complex risk definitions.</a:t>
            </a:r>
            <a:endParaRPr lang="en-US" sz="1700" dirty="0"/>
          </a:p>
        </p:txBody>
      </p:sp>
      <p:sp>
        <p:nvSpPr>
          <p:cNvPr id="7" name="Shape 4"/>
          <p:cNvSpPr/>
          <p:nvPr/>
        </p:nvSpPr>
        <p:spPr>
          <a:xfrm>
            <a:off x="3054072" y="3425309"/>
            <a:ext cx="10707053" cy="15240"/>
          </a:xfrm>
          <a:prstGeom prst="roundRect">
            <a:avLst>
              <a:gd name="adj" fmla="val 599047"/>
            </a:avLst>
          </a:prstGeom>
          <a:solidFill>
            <a:srgbClr val="C6BDDA"/>
          </a:solidFill>
          <a:ln/>
        </p:spPr>
      </p:sp>
      <p:sp>
        <p:nvSpPr>
          <p:cNvPr id="8" name="Shape 5"/>
          <p:cNvSpPr/>
          <p:nvPr/>
        </p:nvSpPr>
        <p:spPr>
          <a:xfrm>
            <a:off x="760690" y="3549134"/>
            <a:ext cx="4369594" cy="1286232"/>
          </a:xfrm>
          <a:prstGeom prst="roundRect">
            <a:avLst>
              <a:gd name="adj" fmla="val 7098"/>
            </a:avLst>
          </a:prstGeom>
          <a:solidFill>
            <a:srgbClr val="E0D7F4"/>
          </a:solidFill>
          <a:ln w="7620">
            <a:solidFill>
              <a:srgbClr val="C6BDDA"/>
            </a:solidFill>
            <a:prstDash val="solid"/>
          </a:ln>
        </p:spPr>
      </p:sp>
      <p:pic>
        <p:nvPicPr>
          <p:cNvPr id="9" name="Image 1" descr="preencoded.png">    </p:cNvPr>
          <p:cNvPicPr>
            <a:picLocks noChangeAspect="1"/>
          </p:cNvPicPr>
          <p:nvPr/>
        </p:nvPicPr>
        <p:blipFill>
          <a:blip r:embed="Rc401e671b22849b3">
            <a:extLst>
              <a:ext uri="{96DAC541-7B7A-43D3-8B79-37D633B846F1}">
                <asvg:svgBlip xmlns:asvg="http://schemas.microsoft.com/office/drawing/2016/SVG/main" r:embed="R6d511f3e2ae64cb0"/>
              </a:ext>
            </a:extLst>
          </a:blip>
          <a:stretch>
            <a:fillRect/>
          </a:stretch>
        </p:blipFill>
        <p:spPr>
          <a:xfrm>
            <a:off x="2792611" y="4039433"/>
            <a:ext cx="305633" cy="305633"/>
          </a:xfrm>
          <a:prstGeom prst="rect">
            <a:avLst/>
          </a:prstGeom>
        </p:spPr>
      </p:pic>
      <p:sp>
        <p:nvSpPr>
          <p:cNvPr id="10" name="Text 6"/>
          <p:cNvSpPr/>
          <p:nvPr/>
        </p:nvSpPr>
        <p:spPr>
          <a:xfrm>
            <a:off x="5347573" y="3766423"/>
            <a:ext cx="2988707" cy="373499"/>
          </a:xfrm>
          <a:prstGeom prst="rect">
            <a:avLst/>
          </a:prstGeom>
          <a:noFill/>
          <a:ln/>
        </p:spPr>
        <p:txBody>
          <a:bodyPr wrap="none" lIns="0" tIns="0" rIns="0" bIns="0" rtlCol="0" anchor="t"/>
          <a:lstStyle/>
          <a:p>
            <a:pPr algn="l" indent="0" marL="0">
              <a:lnSpc>
                <a:spcPts val="2900"/>
              </a:lnSpc>
              <a:buNone/>
            </a:pPr>
            <a:r>
              <a:rPr lang="en-US" sz="2350" b="1" dirty="0">
                <a:solidFill>
                  <a:srgbClr val="272525"/>
                </a:solidFill>
                <a:latin typeface="Petrona Bold" pitchFamily="34" charset="0"/>
                <a:ea typeface="Petrona Bold" pitchFamily="34" charset="-122"/>
                <a:cs typeface="Petrona Bold" pitchFamily="34" charset="-120"/>
              </a:rPr>
              <a:t>Risk-Averse Learning</a:t>
            </a:r>
            <a:endParaRPr lang="en-US" sz="2350" dirty="0"/>
          </a:p>
        </p:txBody>
      </p:sp>
      <p:sp>
        <p:nvSpPr>
          <p:cNvPr id="11" name="Text 7"/>
          <p:cNvSpPr/>
          <p:nvPr/>
        </p:nvSpPr>
        <p:spPr>
          <a:xfrm>
            <a:off x="5347573" y="4270296"/>
            <a:ext cx="7739301" cy="347782"/>
          </a:xfrm>
          <a:prstGeom prst="rect">
            <a:avLst/>
          </a:prstGeom>
          <a:noFill/>
          <a:ln/>
        </p:spPr>
        <p:txBody>
          <a:bodyPr wrap="none" lIns="0" tIns="0" rIns="0" bIns="0" rtlCol="0" anchor="t"/>
          <a:lstStyle/>
          <a:p>
            <a:pPr algn="l" indent="0" marL="0">
              <a:lnSpc>
                <a:spcPts val="2700"/>
              </a:lnSpc>
              <a:buNone/>
            </a:pPr>
            <a:r>
              <a:rPr lang="en-US" sz="1700" dirty="0">
                <a:solidFill>
                  <a:srgbClr val="272525"/>
                </a:solidFill>
                <a:latin typeface="Inter" pitchFamily="34" charset="0"/>
                <a:ea typeface="Inter" pitchFamily="34" charset="-122"/>
                <a:cs typeface="Inter" pitchFamily="34" charset="-120"/>
              </a:rPr>
              <a:t>Learns optimal, cost-aware policy without relying on closed-form solutions.</a:t>
            </a:r>
            <a:endParaRPr lang="en-US" sz="1700" dirty="0"/>
          </a:p>
        </p:txBody>
      </p:sp>
      <p:sp>
        <p:nvSpPr>
          <p:cNvPr id="12" name="Shape 8"/>
          <p:cNvSpPr/>
          <p:nvPr/>
        </p:nvSpPr>
        <p:spPr>
          <a:xfrm>
            <a:off x="5238869" y="4820126"/>
            <a:ext cx="8522256" cy="15240"/>
          </a:xfrm>
          <a:prstGeom prst="roundRect">
            <a:avLst>
              <a:gd name="adj" fmla="val 599047"/>
            </a:avLst>
          </a:prstGeom>
          <a:solidFill>
            <a:srgbClr val="C6BDDA"/>
          </a:solidFill>
          <a:ln/>
        </p:spPr>
      </p:sp>
      <p:sp>
        <p:nvSpPr>
          <p:cNvPr id="13" name="Shape 9"/>
          <p:cNvSpPr/>
          <p:nvPr/>
        </p:nvSpPr>
        <p:spPr>
          <a:xfrm>
            <a:off x="760690" y="4943951"/>
            <a:ext cx="6554510" cy="1634014"/>
          </a:xfrm>
          <a:prstGeom prst="roundRect">
            <a:avLst>
              <a:gd name="adj" fmla="val 5587"/>
            </a:avLst>
          </a:prstGeom>
          <a:solidFill>
            <a:srgbClr val="E0D7F4"/>
          </a:solidFill>
          <a:ln w="7620">
            <a:solidFill>
              <a:srgbClr val="C6BDDA"/>
            </a:solidFill>
            <a:prstDash val="solid"/>
          </a:ln>
        </p:spPr>
      </p:sp>
      <p:pic>
        <p:nvPicPr>
          <p:cNvPr id="14" name="Image 2" descr="preencoded.png">    </p:cNvPr>
          <p:cNvPicPr>
            <a:picLocks noChangeAspect="1"/>
          </p:cNvPicPr>
          <p:nvPr/>
        </p:nvPicPr>
        <p:blipFill>
          <a:blip r:embed="Rc401e671b22849b3">
            <a:extLst>
              <a:ext uri="{96DAC541-7B7A-43D3-8B79-37D633B846F1}">
                <asvg:svgBlip xmlns:asvg="http://schemas.microsoft.com/office/drawing/2016/SVG/main" r:embed="R5984383f62b34c3b"/>
              </a:ext>
            </a:extLst>
          </a:blip>
          <a:stretch>
            <a:fillRect/>
          </a:stretch>
        </p:blipFill>
        <p:spPr>
          <a:xfrm>
            <a:off x="3885128" y="5608082"/>
            <a:ext cx="305633" cy="305633"/>
          </a:xfrm>
          <a:prstGeom prst="rect">
            <a:avLst/>
          </a:prstGeom>
        </p:spPr>
      </p:pic>
      <p:sp>
        <p:nvSpPr>
          <p:cNvPr id="15" name="Text 10"/>
          <p:cNvSpPr/>
          <p:nvPr/>
        </p:nvSpPr>
        <p:spPr>
          <a:xfrm>
            <a:off x="7532489" y="5161240"/>
            <a:ext cx="2988707" cy="373499"/>
          </a:xfrm>
          <a:prstGeom prst="rect">
            <a:avLst/>
          </a:prstGeom>
          <a:noFill/>
          <a:ln/>
        </p:spPr>
        <p:txBody>
          <a:bodyPr wrap="none" lIns="0" tIns="0" rIns="0" bIns="0" rtlCol="0" anchor="t"/>
          <a:lstStyle/>
          <a:p>
            <a:pPr algn="l" indent="0" marL="0">
              <a:lnSpc>
                <a:spcPts val="2900"/>
              </a:lnSpc>
              <a:buNone/>
            </a:pPr>
            <a:r>
              <a:rPr lang="en-US" sz="2350" b="1" dirty="0">
                <a:solidFill>
                  <a:srgbClr val="272525"/>
                </a:solidFill>
                <a:latin typeface="Petrona Bold" pitchFamily="34" charset="0"/>
                <a:ea typeface="Petrona Bold" pitchFamily="34" charset="-122"/>
                <a:cs typeface="Petrona Bold" pitchFamily="34" charset="-120"/>
              </a:rPr>
              <a:t>AI in Quant Finance</a:t>
            </a:r>
            <a:endParaRPr lang="en-US" sz="2350" dirty="0"/>
          </a:p>
        </p:txBody>
      </p:sp>
      <p:sp>
        <p:nvSpPr>
          <p:cNvPr id="16" name="Text 11"/>
          <p:cNvSpPr/>
          <p:nvPr/>
        </p:nvSpPr>
        <p:spPr>
          <a:xfrm>
            <a:off x="7532489" y="5665113"/>
            <a:ext cx="6119932" cy="695563"/>
          </a:xfrm>
          <a:prstGeom prst="rect">
            <a:avLst/>
          </a:prstGeom>
          <a:noFill/>
          <a:ln/>
        </p:spPr>
        <p:txBody>
          <a:bodyPr wrap="square" lIns="0" tIns="0" rIns="0" bIns="0" rtlCol="0" anchor="t"/>
          <a:lstStyle/>
          <a:p>
            <a:pPr algn="l" indent="0" marL="0">
              <a:lnSpc>
                <a:spcPts val="2700"/>
              </a:lnSpc>
              <a:buNone/>
            </a:pPr>
            <a:r>
              <a:rPr lang="en-US" sz="1700" b="1" dirty="0">
                <a:solidFill>
                  <a:srgbClr val="272525"/>
                </a:solidFill>
                <a:latin typeface="Inter" pitchFamily="34" charset="0"/>
                <a:ea typeface="Inter" pitchFamily="34" charset="-122"/>
                <a:cs typeface="Inter" pitchFamily="34" charset="-120"/>
              </a:rPr>
              <a:t>Deep Hedging</a:t>
            </a:r>
            <a:pPr algn="l" indent="0" marL="0">
              <a:lnSpc>
                <a:spcPts val="2700"/>
              </a:lnSpc>
              <a:buNone/>
            </a:pPr>
            <a:r>
              <a:rPr lang="en-US" sz="1700" dirty="0">
                <a:solidFill>
                  <a:srgbClr val="272525"/>
                </a:solidFill>
                <a:latin typeface="Inter" pitchFamily="34" charset="0"/>
                <a:ea typeface="Inter" pitchFamily="34" charset="-122"/>
                <a:cs typeface="Inter" pitchFamily="34" charset="-120"/>
              </a:rPr>
              <a:t> is a powerful paradigm shift in derivatives risk management.</a:t>
            </a:r>
            <a:endParaRPr lang="en-US" sz="1700" dirty="0"/>
          </a:p>
        </p:txBody>
      </p:sp>
      <p:sp>
        <p:nvSpPr>
          <p:cNvPr id="17" name="Text 12"/>
          <p:cNvSpPr/>
          <p:nvPr/>
        </p:nvSpPr>
        <p:spPr>
          <a:xfrm>
            <a:off x="760690" y="6822400"/>
            <a:ext cx="13109019" cy="434697"/>
          </a:xfrm>
          <a:prstGeom prst="rect">
            <a:avLst/>
          </a:prstGeom>
          <a:noFill/>
          <a:ln/>
        </p:spPr>
        <p:txBody>
          <a:bodyPr wrap="none" lIns="0" tIns="0" rIns="0" bIns="0" rtlCol="0" anchor="t"/>
          <a:lstStyle/>
          <a:p>
            <a:pPr algn="l" indent="0" marL="0">
              <a:lnSpc>
                <a:spcPts val="3400"/>
              </a:lnSpc>
              <a:buNone/>
            </a:pPr>
            <a:r>
              <a:rPr lang="en-US" sz="2100" dirty="0">
                <a:solidFill>
                  <a:srgbClr val="272525"/>
                </a:solidFill>
                <a:latin typeface="Inter" pitchFamily="34" charset="0"/>
                <a:ea typeface="Inter" pitchFamily="34" charset="-122"/>
                <a:cs typeface="Inter" pitchFamily="34" charset="-120"/>
              </a:rPr>
              <a:t>Bridging academic theory with practical, agentic AI solutions in data engineering.</a:t>
            </a:r>
            <a:endParaRPr lang="en-US" sz="2100" dirty="0"/>
          </a:p>
        </p:txBody>
      </p:sp>
    </p:spTree>
  </p:cSld>
  <p:clrMapOvr>
    <a:masterClrMapping/>
  </p:clrMapOvr>
</p:sld>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
  <LinksUpToDate>false</LinksUpToDate>
  <SharedDoc>false</SharedDoc>
  <HyperlinksChanged>false</HyperlinksChanged>
  <AppVersion>16.0000</AppVersion>
</Properties>
</file>

<file path=docProps/core.xml><?xml version="1.0" encoding="utf-8"?>
<coreProperties xmlns:dc="http://purl.org/dc/elements/1.1/" xmlns:dcterms="http://purl.org/dc/terms/" xmlns:xsi="http://www.w3.org/2001/XMLSchema-instance" xmlns="http://schemas.openxmlformats.org/package/2006/metadata/core-properties">
  <dc:title/>
  <dc:subject/>
  <dc:creator/>
  <lastModifiedBy/>
  <revision>1</revision>
  <dcterms:created xsi:type="dcterms:W3CDTF">2025-11-11T02:06:20.0000000Z</dcterms:created>
  <dcterms:modified xsi:type="dcterms:W3CDTF">2025-11-11T02:09:34.7730000Z</dcterms:modified>
</coreProperties>
</file>